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7" r:id="rId3"/>
    <p:sldId id="260" r:id="rId4"/>
    <p:sldId id="283" r:id="rId5"/>
    <p:sldId id="289" r:id="rId6"/>
    <p:sldId id="287" r:id="rId7"/>
    <p:sldId id="288" r:id="rId8"/>
    <p:sldId id="286" r:id="rId9"/>
    <p:sldId id="281" r:id="rId10"/>
  </p:sldIdLst>
  <p:sldSz cx="12192000" cy="6858000"/>
  <p:notesSz cx="12192000" cy="6858000"/>
  <p:defaultTextStyle>
    <a:defPPr>
      <a:defRPr kern="0"/>
    </a:def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AF3EB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7998" autoAdjust="0"/>
    <p:restoredTop sz="94660"/>
  </p:normalViewPr>
  <p:slideViewPr>
    <p:cSldViewPr>
      <p:cViewPr varScale="1">
        <p:scale>
          <a:sx n="103" d="100"/>
          <a:sy n="103" d="100"/>
        </p:scale>
        <p:origin x="75" y="345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914400" y="2125980"/>
            <a:ext cx="10363200" cy="14401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400" b="0" i="0">
                <a:solidFill>
                  <a:schemeClr val="tx1"/>
                </a:solidFill>
                <a:latin typeface="Tahoma"/>
                <a:cs typeface="Tahoma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828800" y="3840480"/>
            <a:ext cx="8534400" cy="17145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700" b="0" i="0">
                <a:solidFill>
                  <a:schemeClr val="tx1"/>
                </a:solidFill>
                <a:latin typeface="Tahoma"/>
                <a:cs typeface="Tahoma"/>
              </a:defRPr>
            </a:lvl1pPr>
          </a:lstStyle>
          <a:p>
            <a:pPr marL="12700">
              <a:lnSpc>
                <a:spcPct val="100000"/>
              </a:lnSpc>
              <a:spcBef>
                <a:spcPts val="75"/>
              </a:spcBef>
            </a:pPr>
            <a:r>
              <a:rPr spc="10" dirty="0"/>
              <a:t>Confidential</a:t>
            </a:r>
            <a:r>
              <a:rPr spc="35" dirty="0"/>
              <a:t> </a:t>
            </a:r>
            <a:r>
              <a:rPr spc="10" dirty="0"/>
              <a:t>information:</a:t>
            </a:r>
            <a:r>
              <a:rPr spc="35" dirty="0"/>
              <a:t> </a:t>
            </a:r>
            <a:r>
              <a:rPr spc="10" dirty="0"/>
              <a:t>do</a:t>
            </a:r>
            <a:r>
              <a:rPr spc="40" dirty="0"/>
              <a:t> </a:t>
            </a:r>
            <a:r>
              <a:rPr spc="10" dirty="0"/>
              <a:t>not</a:t>
            </a:r>
            <a:r>
              <a:rPr spc="35" dirty="0"/>
              <a:t> </a:t>
            </a:r>
            <a:r>
              <a:rPr spc="10" dirty="0"/>
              <a:t>share</a:t>
            </a:r>
            <a:r>
              <a:rPr spc="40" dirty="0"/>
              <a:t> </a:t>
            </a:r>
            <a:r>
              <a:rPr spc="10" dirty="0"/>
              <a:t>without</a:t>
            </a:r>
            <a:r>
              <a:rPr spc="35" dirty="0"/>
              <a:t> </a:t>
            </a:r>
            <a:r>
              <a:rPr spc="10" dirty="0"/>
              <a:t>written</a:t>
            </a:r>
            <a:r>
              <a:rPr spc="40" dirty="0"/>
              <a:t> </a:t>
            </a:r>
            <a:r>
              <a:rPr spc="10" dirty="0"/>
              <a:t>permission</a:t>
            </a:r>
            <a:r>
              <a:rPr spc="35" dirty="0"/>
              <a:t> </a:t>
            </a:r>
            <a:r>
              <a:rPr spc="10" dirty="0"/>
              <a:t>from</a:t>
            </a:r>
            <a:r>
              <a:rPr spc="35" dirty="0"/>
              <a:t> </a:t>
            </a:r>
            <a:r>
              <a:rPr spc="10" dirty="0"/>
              <a:t>Owkin,</a:t>
            </a:r>
            <a:r>
              <a:rPr spc="40" dirty="0"/>
              <a:t> </a:t>
            </a:r>
            <a:r>
              <a:rPr spc="-20" dirty="0"/>
              <a:t>Inc.</a:t>
            </a:r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3/25/2025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800" b="0" i="0">
                <a:solidFill>
                  <a:schemeClr val="tx1"/>
                </a:solidFill>
                <a:latin typeface="Tahoma"/>
                <a:cs typeface="Tahoma"/>
              </a:defRPr>
            </a:lvl1pPr>
          </a:lstStyle>
          <a:p>
            <a:pPr marL="38100">
              <a:lnSpc>
                <a:spcPct val="100000"/>
              </a:lnSpc>
              <a:spcBef>
                <a:spcPts val="75"/>
              </a:spcBef>
            </a:pPr>
            <a:fld id="{81D60167-4931-47E6-BA6A-407CBD079E47}" type="slidenum">
              <a:rPr spc="-25" dirty="0"/>
              <a:t>‹#›</a:t>
            </a:fld>
            <a:endParaRPr spc="-25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and Conten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0" y="0"/>
            <a:ext cx="12193270" cy="6858000"/>
          </a:xfrm>
          <a:custGeom>
            <a:avLst/>
            <a:gdLst/>
            <a:ahLst/>
            <a:cxnLst/>
            <a:rect l="l" t="t" r="r" b="b"/>
            <a:pathLst>
              <a:path w="12193270" h="6858000">
                <a:moveTo>
                  <a:pt x="12193199" y="6857999"/>
                </a:moveTo>
                <a:lnTo>
                  <a:pt x="0" y="6857999"/>
                </a:lnTo>
                <a:lnTo>
                  <a:pt x="0" y="0"/>
                </a:lnTo>
                <a:lnTo>
                  <a:pt x="12193199" y="0"/>
                </a:lnTo>
                <a:lnTo>
                  <a:pt x="12193199" y="6857999"/>
                </a:lnTo>
                <a:close/>
              </a:path>
            </a:pathLst>
          </a:custGeom>
          <a:solidFill>
            <a:srgbClr val="FAF3EB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17" name="bg object 17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1648098" y="272519"/>
            <a:ext cx="245452" cy="242127"/>
          </a:xfrm>
          <a:prstGeom prst="rect">
            <a:avLst/>
          </a:prstGeom>
        </p:spPr>
      </p:pic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400" b="0" i="0">
                <a:solidFill>
                  <a:schemeClr val="tx1"/>
                </a:solidFill>
                <a:latin typeface="Tahoma"/>
                <a:cs typeface="Tahoma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700" b="0" i="0">
                <a:solidFill>
                  <a:schemeClr val="tx1"/>
                </a:solidFill>
                <a:latin typeface="Tahoma"/>
                <a:cs typeface="Tahoma"/>
              </a:defRPr>
            </a:lvl1pPr>
          </a:lstStyle>
          <a:p>
            <a:pPr marL="12700">
              <a:lnSpc>
                <a:spcPct val="100000"/>
              </a:lnSpc>
              <a:spcBef>
                <a:spcPts val="75"/>
              </a:spcBef>
            </a:pPr>
            <a:r>
              <a:rPr spc="10" dirty="0"/>
              <a:t>Confidential</a:t>
            </a:r>
            <a:r>
              <a:rPr spc="35" dirty="0"/>
              <a:t> </a:t>
            </a:r>
            <a:r>
              <a:rPr spc="10" dirty="0"/>
              <a:t>information:</a:t>
            </a:r>
            <a:r>
              <a:rPr spc="35" dirty="0"/>
              <a:t> </a:t>
            </a:r>
            <a:r>
              <a:rPr spc="10" dirty="0"/>
              <a:t>do</a:t>
            </a:r>
            <a:r>
              <a:rPr spc="40" dirty="0"/>
              <a:t> </a:t>
            </a:r>
            <a:r>
              <a:rPr spc="10" dirty="0"/>
              <a:t>not</a:t>
            </a:r>
            <a:r>
              <a:rPr spc="35" dirty="0"/>
              <a:t> </a:t>
            </a:r>
            <a:r>
              <a:rPr spc="10" dirty="0"/>
              <a:t>share</a:t>
            </a:r>
            <a:r>
              <a:rPr spc="40" dirty="0"/>
              <a:t> </a:t>
            </a:r>
            <a:r>
              <a:rPr spc="10" dirty="0"/>
              <a:t>without</a:t>
            </a:r>
            <a:r>
              <a:rPr spc="35" dirty="0"/>
              <a:t> </a:t>
            </a:r>
            <a:r>
              <a:rPr spc="10" dirty="0"/>
              <a:t>written</a:t>
            </a:r>
            <a:r>
              <a:rPr spc="40" dirty="0"/>
              <a:t> </a:t>
            </a:r>
            <a:r>
              <a:rPr spc="10" dirty="0"/>
              <a:t>permission</a:t>
            </a:r>
            <a:r>
              <a:rPr spc="35" dirty="0"/>
              <a:t> </a:t>
            </a:r>
            <a:r>
              <a:rPr spc="10" dirty="0"/>
              <a:t>from</a:t>
            </a:r>
            <a:r>
              <a:rPr spc="35" dirty="0"/>
              <a:t> </a:t>
            </a:r>
            <a:r>
              <a:rPr spc="10" dirty="0"/>
              <a:t>Owkin,</a:t>
            </a:r>
            <a:r>
              <a:rPr spc="40" dirty="0"/>
              <a:t> </a:t>
            </a:r>
            <a:r>
              <a:rPr spc="-20" dirty="0"/>
              <a:t>Inc.</a:t>
            </a:r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3/25/2025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800" b="0" i="0">
                <a:solidFill>
                  <a:schemeClr val="tx1"/>
                </a:solidFill>
                <a:latin typeface="Tahoma"/>
                <a:cs typeface="Tahoma"/>
              </a:defRPr>
            </a:lvl1pPr>
          </a:lstStyle>
          <a:p>
            <a:pPr marL="38100">
              <a:lnSpc>
                <a:spcPct val="100000"/>
              </a:lnSpc>
              <a:spcBef>
                <a:spcPts val="75"/>
              </a:spcBef>
            </a:pPr>
            <a:fld id="{81D60167-4931-47E6-BA6A-407CBD079E47}" type="slidenum">
              <a:rPr spc="-25" dirty="0"/>
              <a:t>‹#›</a:t>
            </a:fld>
            <a:endParaRPr spc="-25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wo Conten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63" y="0"/>
            <a:ext cx="4710430" cy="6858000"/>
          </a:xfrm>
          <a:custGeom>
            <a:avLst/>
            <a:gdLst/>
            <a:ahLst/>
            <a:cxnLst/>
            <a:rect l="l" t="t" r="r" b="b"/>
            <a:pathLst>
              <a:path w="4710430" h="6858000">
                <a:moveTo>
                  <a:pt x="4710000" y="6857999"/>
                </a:moveTo>
                <a:lnTo>
                  <a:pt x="0" y="6857999"/>
                </a:lnTo>
                <a:lnTo>
                  <a:pt x="0" y="0"/>
                </a:lnTo>
                <a:lnTo>
                  <a:pt x="4710000" y="0"/>
                </a:lnTo>
                <a:lnTo>
                  <a:pt x="4710000" y="6857999"/>
                </a:lnTo>
                <a:close/>
              </a:path>
            </a:pathLst>
          </a:custGeom>
          <a:solidFill>
            <a:srgbClr val="FAF3EB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17" name="bg object 17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1648098" y="272519"/>
            <a:ext cx="245452" cy="242127"/>
          </a:xfrm>
          <a:prstGeom prst="rect">
            <a:avLst/>
          </a:prstGeom>
        </p:spPr>
      </p:pic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400" b="0" i="0">
                <a:solidFill>
                  <a:schemeClr val="tx1"/>
                </a:solidFill>
                <a:latin typeface="Tahoma"/>
                <a:cs typeface="Tahoma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60960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627888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700" b="0" i="0">
                <a:solidFill>
                  <a:schemeClr val="tx1"/>
                </a:solidFill>
                <a:latin typeface="Tahoma"/>
                <a:cs typeface="Tahoma"/>
              </a:defRPr>
            </a:lvl1pPr>
          </a:lstStyle>
          <a:p>
            <a:pPr marL="12700">
              <a:lnSpc>
                <a:spcPct val="100000"/>
              </a:lnSpc>
              <a:spcBef>
                <a:spcPts val="75"/>
              </a:spcBef>
            </a:pPr>
            <a:r>
              <a:rPr spc="10" dirty="0"/>
              <a:t>Confidential</a:t>
            </a:r>
            <a:r>
              <a:rPr spc="35" dirty="0"/>
              <a:t> </a:t>
            </a:r>
            <a:r>
              <a:rPr spc="10" dirty="0"/>
              <a:t>information:</a:t>
            </a:r>
            <a:r>
              <a:rPr spc="35" dirty="0"/>
              <a:t> </a:t>
            </a:r>
            <a:r>
              <a:rPr spc="10" dirty="0"/>
              <a:t>do</a:t>
            </a:r>
            <a:r>
              <a:rPr spc="40" dirty="0"/>
              <a:t> </a:t>
            </a:r>
            <a:r>
              <a:rPr spc="10" dirty="0"/>
              <a:t>not</a:t>
            </a:r>
            <a:r>
              <a:rPr spc="35" dirty="0"/>
              <a:t> </a:t>
            </a:r>
            <a:r>
              <a:rPr spc="10" dirty="0"/>
              <a:t>share</a:t>
            </a:r>
            <a:r>
              <a:rPr spc="40" dirty="0"/>
              <a:t> </a:t>
            </a:r>
            <a:r>
              <a:rPr spc="10" dirty="0"/>
              <a:t>without</a:t>
            </a:r>
            <a:r>
              <a:rPr spc="35" dirty="0"/>
              <a:t> </a:t>
            </a:r>
            <a:r>
              <a:rPr spc="10" dirty="0"/>
              <a:t>written</a:t>
            </a:r>
            <a:r>
              <a:rPr spc="40" dirty="0"/>
              <a:t> </a:t>
            </a:r>
            <a:r>
              <a:rPr spc="10" dirty="0"/>
              <a:t>permission</a:t>
            </a:r>
            <a:r>
              <a:rPr spc="35" dirty="0"/>
              <a:t> </a:t>
            </a:r>
            <a:r>
              <a:rPr spc="10" dirty="0"/>
              <a:t>from</a:t>
            </a:r>
            <a:r>
              <a:rPr spc="35" dirty="0"/>
              <a:t> </a:t>
            </a:r>
            <a:r>
              <a:rPr spc="10" dirty="0"/>
              <a:t>Owkin,</a:t>
            </a:r>
            <a:r>
              <a:rPr spc="40" dirty="0"/>
              <a:t> </a:t>
            </a:r>
            <a:r>
              <a:rPr spc="-20" dirty="0"/>
              <a:t>Inc.</a:t>
            </a:r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3/25/2025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800" b="0" i="0">
                <a:solidFill>
                  <a:schemeClr val="tx1"/>
                </a:solidFill>
                <a:latin typeface="Tahoma"/>
                <a:cs typeface="Tahoma"/>
              </a:defRPr>
            </a:lvl1pPr>
          </a:lstStyle>
          <a:p>
            <a:pPr marL="38100">
              <a:lnSpc>
                <a:spcPct val="100000"/>
              </a:lnSpc>
              <a:spcBef>
                <a:spcPts val="75"/>
              </a:spcBef>
            </a:pPr>
            <a:fld id="{81D60167-4931-47E6-BA6A-407CBD079E47}" type="slidenum">
              <a:rPr spc="-25" dirty="0"/>
              <a:t>‹#›</a:t>
            </a:fld>
            <a:endParaRPr spc="-25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Only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0" y="0"/>
            <a:ext cx="12193270" cy="6858000"/>
          </a:xfrm>
          <a:custGeom>
            <a:avLst/>
            <a:gdLst/>
            <a:ahLst/>
            <a:cxnLst/>
            <a:rect l="l" t="t" r="r" b="b"/>
            <a:pathLst>
              <a:path w="12193270" h="6858000">
                <a:moveTo>
                  <a:pt x="12193199" y="6857999"/>
                </a:moveTo>
                <a:lnTo>
                  <a:pt x="0" y="6857999"/>
                </a:lnTo>
                <a:lnTo>
                  <a:pt x="0" y="0"/>
                </a:lnTo>
                <a:lnTo>
                  <a:pt x="12193199" y="0"/>
                </a:lnTo>
                <a:lnTo>
                  <a:pt x="12193199" y="6857999"/>
                </a:lnTo>
                <a:close/>
              </a:path>
            </a:pathLst>
          </a:custGeom>
          <a:solidFill>
            <a:srgbClr val="FAF3EB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17" name="bg object 17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1648099" y="272519"/>
            <a:ext cx="245452" cy="242127"/>
          </a:xfrm>
          <a:prstGeom prst="rect">
            <a:avLst/>
          </a:prstGeom>
        </p:spPr>
      </p:pic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400" b="0" i="0">
                <a:solidFill>
                  <a:schemeClr val="tx1"/>
                </a:solidFill>
                <a:latin typeface="Tahoma"/>
                <a:cs typeface="Tahoma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700" b="0" i="0">
                <a:solidFill>
                  <a:schemeClr val="tx1"/>
                </a:solidFill>
                <a:latin typeface="Tahoma"/>
                <a:cs typeface="Tahoma"/>
              </a:defRPr>
            </a:lvl1pPr>
          </a:lstStyle>
          <a:p>
            <a:pPr marL="12700">
              <a:lnSpc>
                <a:spcPct val="100000"/>
              </a:lnSpc>
              <a:spcBef>
                <a:spcPts val="75"/>
              </a:spcBef>
            </a:pPr>
            <a:r>
              <a:rPr spc="10" dirty="0"/>
              <a:t>Confidential</a:t>
            </a:r>
            <a:r>
              <a:rPr spc="35" dirty="0"/>
              <a:t> </a:t>
            </a:r>
            <a:r>
              <a:rPr spc="10" dirty="0"/>
              <a:t>information:</a:t>
            </a:r>
            <a:r>
              <a:rPr spc="35" dirty="0"/>
              <a:t> </a:t>
            </a:r>
            <a:r>
              <a:rPr spc="10" dirty="0"/>
              <a:t>do</a:t>
            </a:r>
            <a:r>
              <a:rPr spc="40" dirty="0"/>
              <a:t> </a:t>
            </a:r>
            <a:r>
              <a:rPr spc="10" dirty="0"/>
              <a:t>not</a:t>
            </a:r>
            <a:r>
              <a:rPr spc="35" dirty="0"/>
              <a:t> </a:t>
            </a:r>
            <a:r>
              <a:rPr spc="10" dirty="0"/>
              <a:t>share</a:t>
            </a:r>
            <a:r>
              <a:rPr spc="40" dirty="0"/>
              <a:t> </a:t>
            </a:r>
            <a:r>
              <a:rPr spc="10" dirty="0"/>
              <a:t>without</a:t>
            </a:r>
            <a:r>
              <a:rPr spc="35" dirty="0"/>
              <a:t> </a:t>
            </a:r>
            <a:r>
              <a:rPr spc="10" dirty="0"/>
              <a:t>written</a:t>
            </a:r>
            <a:r>
              <a:rPr spc="40" dirty="0"/>
              <a:t> </a:t>
            </a:r>
            <a:r>
              <a:rPr spc="10" dirty="0"/>
              <a:t>permission</a:t>
            </a:r>
            <a:r>
              <a:rPr spc="35" dirty="0"/>
              <a:t> </a:t>
            </a:r>
            <a:r>
              <a:rPr spc="10" dirty="0"/>
              <a:t>from</a:t>
            </a:r>
            <a:r>
              <a:rPr spc="35" dirty="0"/>
              <a:t> </a:t>
            </a:r>
            <a:r>
              <a:rPr spc="10" dirty="0"/>
              <a:t>Owkin,</a:t>
            </a:r>
            <a:r>
              <a:rPr spc="40" dirty="0"/>
              <a:t> </a:t>
            </a:r>
            <a:r>
              <a:rPr spc="-20" dirty="0"/>
              <a:t>Inc.</a:t>
            </a:r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3/25/2025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800" b="0" i="0">
                <a:solidFill>
                  <a:schemeClr val="tx1"/>
                </a:solidFill>
                <a:latin typeface="Tahoma"/>
                <a:cs typeface="Tahoma"/>
              </a:defRPr>
            </a:lvl1pPr>
          </a:lstStyle>
          <a:p>
            <a:pPr marL="38100">
              <a:lnSpc>
                <a:spcPct val="100000"/>
              </a:lnSpc>
              <a:spcBef>
                <a:spcPts val="75"/>
              </a:spcBef>
            </a:pPr>
            <a:fld id="{81D60167-4931-47E6-BA6A-407CBD079E47}" type="slidenum">
              <a:rPr spc="-25" dirty="0"/>
              <a:t>‹#›</a:t>
            </a:fld>
            <a:endParaRPr spc="-25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Blank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63" y="0"/>
            <a:ext cx="4710430" cy="6858000"/>
          </a:xfrm>
          <a:custGeom>
            <a:avLst/>
            <a:gdLst/>
            <a:ahLst/>
            <a:cxnLst/>
            <a:rect l="l" t="t" r="r" b="b"/>
            <a:pathLst>
              <a:path w="4710430" h="6858000">
                <a:moveTo>
                  <a:pt x="4710000" y="6857999"/>
                </a:moveTo>
                <a:lnTo>
                  <a:pt x="0" y="6857999"/>
                </a:lnTo>
                <a:lnTo>
                  <a:pt x="0" y="0"/>
                </a:lnTo>
                <a:lnTo>
                  <a:pt x="4710000" y="0"/>
                </a:lnTo>
                <a:lnTo>
                  <a:pt x="4710000" y="6857999"/>
                </a:lnTo>
                <a:close/>
              </a:path>
            </a:pathLst>
          </a:custGeom>
          <a:solidFill>
            <a:srgbClr val="FAF3EB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17" name="bg object 17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1648098" y="272519"/>
            <a:ext cx="245452" cy="242127"/>
          </a:xfrm>
          <a:prstGeom prst="rect">
            <a:avLst/>
          </a:prstGeom>
        </p:spPr>
      </p:pic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700" b="0" i="0">
                <a:solidFill>
                  <a:schemeClr val="tx1"/>
                </a:solidFill>
                <a:latin typeface="Tahoma"/>
                <a:cs typeface="Tahoma"/>
              </a:defRPr>
            </a:lvl1pPr>
          </a:lstStyle>
          <a:p>
            <a:pPr marL="12700">
              <a:lnSpc>
                <a:spcPct val="100000"/>
              </a:lnSpc>
              <a:spcBef>
                <a:spcPts val="75"/>
              </a:spcBef>
            </a:pPr>
            <a:r>
              <a:rPr spc="10" dirty="0"/>
              <a:t>Confidential</a:t>
            </a:r>
            <a:r>
              <a:rPr spc="35" dirty="0"/>
              <a:t> </a:t>
            </a:r>
            <a:r>
              <a:rPr spc="10" dirty="0"/>
              <a:t>information:</a:t>
            </a:r>
            <a:r>
              <a:rPr spc="35" dirty="0"/>
              <a:t> </a:t>
            </a:r>
            <a:r>
              <a:rPr spc="10" dirty="0"/>
              <a:t>do</a:t>
            </a:r>
            <a:r>
              <a:rPr spc="40" dirty="0"/>
              <a:t> </a:t>
            </a:r>
            <a:r>
              <a:rPr spc="10" dirty="0"/>
              <a:t>not</a:t>
            </a:r>
            <a:r>
              <a:rPr spc="35" dirty="0"/>
              <a:t> </a:t>
            </a:r>
            <a:r>
              <a:rPr spc="10" dirty="0"/>
              <a:t>share</a:t>
            </a:r>
            <a:r>
              <a:rPr spc="40" dirty="0"/>
              <a:t> </a:t>
            </a:r>
            <a:r>
              <a:rPr spc="10" dirty="0"/>
              <a:t>without</a:t>
            </a:r>
            <a:r>
              <a:rPr spc="35" dirty="0"/>
              <a:t> </a:t>
            </a:r>
            <a:r>
              <a:rPr spc="10" dirty="0"/>
              <a:t>written</a:t>
            </a:r>
            <a:r>
              <a:rPr spc="40" dirty="0"/>
              <a:t> </a:t>
            </a:r>
            <a:r>
              <a:rPr spc="10" dirty="0"/>
              <a:t>permission</a:t>
            </a:r>
            <a:r>
              <a:rPr spc="35" dirty="0"/>
              <a:t> </a:t>
            </a:r>
            <a:r>
              <a:rPr spc="10" dirty="0"/>
              <a:t>from</a:t>
            </a:r>
            <a:r>
              <a:rPr spc="35" dirty="0"/>
              <a:t> </a:t>
            </a:r>
            <a:r>
              <a:rPr spc="10" dirty="0"/>
              <a:t>Owkin,</a:t>
            </a:r>
            <a:r>
              <a:rPr spc="40" dirty="0"/>
              <a:t> </a:t>
            </a:r>
            <a:r>
              <a:rPr spc="-20" dirty="0"/>
              <a:t>Inc.</a:t>
            </a:r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3/25/2025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800" b="0" i="0">
                <a:solidFill>
                  <a:schemeClr val="tx1"/>
                </a:solidFill>
                <a:latin typeface="Tahoma"/>
                <a:cs typeface="Tahoma"/>
              </a:defRPr>
            </a:lvl1pPr>
          </a:lstStyle>
          <a:p>
            <a:pPr marL="38100">
              <a:lnSpc>
                <a:spcPct val="100000"/>
              </a:lnSpc>
              <a:spcBef>
                <a:spcPts val="75"/>
              </a:spcBef>
            </a:pPr>
            <a:fld id="{81D60167-4931-47E6-BA6A-407CBD079E47}" type="slidenum">
              <a:rPr spc="-25" dirty="0"/>
              <a:t>‹#›</a:t>
            </a:fld>
            <a:endParaRPr spc="-25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268324" y="592622"/>
            <a:ext cx="7155180" cy="39115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400" b="0" i="0">
                <a:solidFill>
                  <a:schemeClr val="tx1"/>
                </a:solidFill>
                <a:latin typeface="Tahoma"/>
                <a:cs typeface="Tahoma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609600" y="1577340"/>
            <a:ext cx="1097280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8442742" y="6417355"/>
            <a:ext cx="3458970" cy="133351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700" b="0" i="0">
                <a:solidFill>
                  <a:schemeClr val="tx1"/>
                </a:solidFill>
                <a:latin typeface="Tahoma"/>
                <a:cs typeface="Tahoma"/>
              </a:defRPr>
            </a:lvl1pPr>
          </a:lstStyle>
          <a:p>
            <a:pPr marL="12700">
              <a:lnSpc>
                <a:spcPct val="100000"/>
              </a:lnSpc>
              <a:spcBef>
                <a:spcPts val="75"/>
              </a:spcBef>
            </a:pPr>
            <a:r>
              <a:rPr spc="10" dirty="0"/>
              <a:t>Confidential</a:t>
            </a:r>
            <a:r>
              <a:rPr spc="35" dirty="0"/>
              <a:t> </a:t>
            </a:r>
            <a:r>
              <a:rPr spc="10" dirty="0"/>
              <a:t>information:</a:t>
            </a:r>
            <a:r>
              <a:rPr spc="35" dirty="0"/>
              <a:t> </a:t>
            </a:r>
            <a:r>
              <a:rPr spc="10" dirty="0"/>
              <a:t>do</a:t>
            </a:r>
            <a:r>
              <a:rPr spc="40" dirty="0"/>
              <a:t> </a:t>
            </a:r>
            <a:r>
              <a:rPr spc="10" dirty="0"/>
              <a:t>not</a:t>
            </a:r>
            <a:r>
              <a:rPr spc="35" dirty="0"/>
              <a:t> </a:t>
            </a:r>
            <a:r>
              <a:rPr spc="10" dirty="0"/>
              <a:t>share</a:t>
            </a:r>
            <a:r>
              <a:rPr spc="40" dirty="0"/>
              <a:t> </a:t>
            </a:r>
            <a:r>
              <a:rPr spc="10" dirty="0"/>
              <a:t>without</a:t>
            </a:r>
            <a:r>
              <a:rPr spc="35" dirty="0"/>
              <a:t> </a:t>
            </a:r>
            <a:r>
              <a:rPr spc="10" dirty="0"/>
              <a:t>written</a:t>
            </a:r>
            <a:r>
              <a:rPr spc="40" dirty="0"/>
              <a:t> </a:t>
            </a:r>
            <a:r>
              <a:rPr spc="10" dirty="0"/>
              <a:t>permission</a:t>
            </a:r>
            <a:r>
              <a:rPr spc="35" dirty="0"/>
              <a:t> </a:t>
            </a:r>
            <a:r>
              <a:rPr spc="10" dirty="0"/>
              <a:t>from</a:t>
            </a:r>
            <a:r>
              <a:rPr spc="35" dirty="0"/>
              <a:t> </a:t>
            </a:r>
            <a:r>
              <a:rPr spc="10" dirty="0"/>
              <a:t>Owkin,</a:t>
            </a:r>
            <a:r>
              <a:rPr spc="40" dirty="0"/>
              <a:t> </a:t>
            </a:r>
            <a:r>
              <a:rPr spc="-20" dirty="0"/>
              <a:t>Inc.</a:t>
            </a:r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609600" y="6377940"/>
            <a:ext cx="280416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3/25/2025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261548" y="6442016"/>
            <a:ext cx="193675" cy="14859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800" b="0" i="0">
                <a:solidFill>
                  <a:schemeClr val="tx1"/>
                </a:solidFill>
                <a:latin typeface="Tahoma"/>
                <a:cs typeface="Tahoma"/>
              </a:defRPr>
            </a:lvl1pPr>
          </a:lstStyle>
          <a:p>
            <a:pPr marL="38100">
              <a:lnSpc>
                <a:spcPct val="100000"/>
              </a:lnSpc>
              <a:spcBef>
                <a:spcPts val="75"/>
              </a:spcBef>
            </a:pPr>
            <a:fld id="{81D60167-4931-47E6-BA6A-407CBD079E47}" type="slidenum">
              <a:rPr spc="-25" dirty="0"/>
              <a:t>‹#›</a:t>
            </a:fld>
            <a:endParaRPr spc="-25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notion.so/6c3b123803b9001e44d10c904d10c904?pvs=21" TargetMode="External"/><Relationship Id="rId2" Type="http://schemas.openxmlformats.org/officeDocument/2006/relationships/hyperlink" Target="https://www.notion.so/owkin-1/Owkin-K-User-Guide-Structure-V1-1b59d6c3b123803b9001e44d10c904d" TargetMode="Externa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5.png"/><Relationship Id="rId4" Type="http://schemas.openxmlformats.org/officeDocument/2006/relationships/hyperlink" Target="https://owkin.slack.com/archives/C08GQ4Z60N7/p1741873802279969" TargetMode="Externa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rgbClr val="FAF3E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-76200" y="76200"/>
            <a:ext cx="12193270" cy="6858000"/>
          </a:xfrm>
          <a:custGeom>
            <a:avLst/>
            <a:gdLst/>
            <a:ahLst/>
            <a:cxnLst/>
            <a:rect l="l" t="t" r="r" b="b"/>
            <a:pathLst>
              <a:path w="12193270" h="6858000">
                <a:moveTo>
                  <a:pt x="12193199" y="6857999"/>
                </a:moveTo>
                <a:lnTo>
                  <a:pt x="0" y="6857999"/>
                </a:lnTo>
                <a:lnTo>
                  <a:pt x="0" y="0"/>
                </a:lnTo>
                <a:lnTo>
                  <a:pt x="12193199" y="0"/>
                </a:lnTo>
                <a:lnTo>
                  <a:pt x="12193199" y="6857999"/>
                </a:lnTo>
                <a:close/>
              </a:path>
            </a:pathLst>
          </a:custGeom>
          <a:solidFill>
            <a:srgbClr val="FAF3EB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99657" y="303639"/>
            <a:ext cx="1287268" cy="285514"/>
          </a:xfrm>
          <a:prstGeom prst="rect">
            <a:avLst/>
          </a:prstGeom>
        </p:spPr>
      </p:pic>
      <p:sp>
        <p:nvSpPr>
          <p:cNvPr id="4" name="object 4"/>
          <p:cNvSpPr/>
          <p:nvPr/>
        </p:nvSpPr>
        <p:spPr>
          <a:xfrm>
            <a:off x="10178867" y="306099"/>
            <a:ext cx="1714500" cy="320675"/>
          </a:xfrm>
          <a:custGeom>
            <a:avLst/>
            <a:gdLst/>
            <a:ahLst/>
            <a:cxnLst/>
            <a:rect l="l" t="t" r="r" b="b"/>
            <a:pathLst>
              <a:path w="1714500" h="320675">
                <a:moveTo>
                  <a:pt x="0" y="160049"/>
                </a:moveTo>
                <a:lnTo>
                  <a:pt x="8159" y="109461"/>
                </a:lnTo>
                <a:lnTo>
                  <a:pt x="30880" y="65526"/>
                </a:lnTo>
                <a:lnTo>
                  <a:pt x="65526" y="30880"/>
                </a:lnTo>
                <a:lnTo>
                  <a:pt x="109461" y="8159"/>
                </a:lnTo>
                <a:lnTo>
                  <a:pt x="160049" y="0"/>
                </a:lnTo>
                <a:lnTo>
                  <a:pt x="1554449" y="0"/>
                </a:lnTo>
                <a:lnTo>
                  <a:pt x="1615698" y="12183"/>
                </a:lnTo>
                <a:lnTo>
                  <a:pt x="1667621" y="46877"/>
                </a:lnTo>
                <a:lnTo>
                  <a:pt x="1702316" y="98801"/>
                </a:lnTo>
                <a:lnTo>
                  <a:pt x="1714499" y="160049"/>
                </a:lnTo>
                <a:lnTo>
                  <a:pt x="1706340" y="210638"/>
                </a:lnTo>
                <a:lnTo>
                  <a:pt x="1683619" y="254573"/>
                </a:lnTo>
                <a:lnTo>
                  <a:pt x="1648973" y="289219"/>
                </a:lnTo>
                <a:lnTo>
                  <a:pt x="1605038" y="311940"/>
                </a:lnTo>
                <a:lnTo>
                  <a:pt x="1554449" y="320099"/>
                </a:lnTo>
                <a:lnTo>
                  <a:pt x="160049" y="320099"/>
                </a:lnTo>
                <a:lnTo>
                  <a:pt x="109461" y="311940"/>
                </a:lnTo>
                <a:lnTo>
                  <a:pt x="65526" y="289219"/>
                </a:lnTo>
                <a:lnTo>
                  <a:pt x="30880" y="254573"/>
                </a:lnTo>
                <a:lnTo>
                  <a:pt x="8159" y="210638"/>
                </a:lnTo>
                <a:lnTo>
                  <a:pt x="0" y="160049"/>
                </a:lnTo>
                <a:close/>
              </a:path>
            </a:pathLst>
          </a:custGeom>
          <a:ln w="952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/>
          <p:nvPr/>
        </p:nvSpPr>
        <p:spPr>
          <a:xfrm>
            <a:off x="10513173" y="364042"/>
            <a:ext cx="1045844" cy="182101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US" sz="1100" dirty="0">
                <a:latin typeface="Tahoma"/>
                <a:cs typeface="Tahoma"/>
              </a:rPr>
              <a:t>Lazar Milicevic</a:t>
            </a:r>
            <a:endParaRPr sz="1100" dirty="0">
              <a:latin typeface="Tahoma"/>
              <a:cs typeface="Tahoma"/>
            </a:endParaRPr>
          </a:p>
        </p:txBody>
      </p:sp>
      <p:sp>
        <p:nvSpPr>
          <p:cNvPr id="6" name="object 6"/>
          <p:cNvSpPr txBox="1">
            <a:spLocks noGrp="1"/>
          </p:cNvSpPr>
          <p:nvPr>
            <p:ph type="title"/>
          </p:nvPr>
        </p:nvSpPr>
        <p:spPr>
          <a:xfrm>
            <a:off x="834801" y="2370841"/>
            <a:ext cx="4998085" cy="8026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US" sz="5100" spc="-114" dirty="0" err="1"/>
              <a:t>Abstra</a:t>
            </a:r>
            <a:endParaRPr sz="5100" dirty="0"/>
          </a:p>
        </p:txBody>
      </p:sp>
      <p:sp>
        <p:nvSpPr>
          <p:cNvPr id="7" name="object 7"/>
          <p:cNvSpPr txBox="1"/>
          <p:nvPr/>
        </p:nvSpPr>
        <p:spPr>
          <a:xfrm>
            <a:off x="834801" y="2995580"/>
            <a:ext cx="6139180" cy="7874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US" sz="5000" spc="-105" dirty="0">
                <a:latin typeface="Tahoma"/>
                <a:cs typeface="Tahoma"/>
              </a:rPr>
              <a:t>Weekly</a:t>
            </a:r>
            <a:r>
              <a:rPr sz="5000" spc="-405" dirty="0">
                <a:latin typeface="Tahoma"/>
                <a:cs typeface="Tahoma"/>
              </a:rPr>
              <a:t> </a:t>
            </a:r>
            <a:r>
              <a:rPr sz="5000" spc="-80" dirty="0">
                <a:latin typeface="Tahoma"/>
                <a:cs typeface="Tahoma"/>
              </a:rPr>
              <a:t>support</a:t>
            </a:r>
            <a:r>
              <a:rPr sz="5000" spc="-400" dirty="0">
                <a:latin typeface="Tahoma"/>
                <a:cs typeface="Tahoma"/>
              </a:rPr>
              <a:t> </a:t>
            </a:r>
            <a:r>
              <a:rPr sz="5000" spc="-75" dirty="0">
                <a:latin typeface="Tahoma"/>
                <a:cs typeface="Tahoma"/>
              </a:rPr>
              <a:t>report</a:t>
            </a:r>
            <a:endParaRPr sz="5000" dirty="0">
              <a:latin typeface="Tahoma"/>
              <a:cs typeface="Tahoma"/>
            </a:endParaRPr>
          </a:p>
        </p:txBody>
      </p:sp>
      <p:pic>
        <p:nvPicPr>
          <p:cNvPr id="8" name="object 8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7021469" y="1848768"/>
            <a:ext cx="4318648" cy="4318648"/>
          </a:xfrm>
          <a:prstGeom prst="rect">
            <a:avLst/>
          </a:prstGeom>
        </p:spPr>
      </p:pic>
      <p:sp>
        <p:nvSpPr>
          <p:cNvPr id="9" name="object 9"/>
          <p:cNvSpPr/>
          <p:nvPr/>
        </p:nvSpPr>
        <p:spPr>
          <a:xfrm>
            <a:off x="847493" y="3879412"/>
            <a:ext cx="424180" cy="578485"/>
          </a:xfrm>
          <a:custGeom>
            <a:avLst/>
            <a:gdLst/>
            <a:ahLst/>
            <a:cxnLst/>
            <a:rect l="l" t="t" r="r" b="b"/>
            <a:pathLst>
              <a:path w="424180" h="578485">
                <a:moveTo>
                  <a:pt x="0" y="0"/>
                </a:moveTo>
                <a:lnTo>
                  <a:pt x="0" y="469645"/>
                </a:lnTo>
                <a:lnTo>
                  <a:pt x="420094" y="469645"/>
                </a:lnTo>
              </a:path>
              <a:path w="424180" h="578485">
                <a:moveTo>
                  <a:pt x="318572" y="359947"/>
                </a:moveTo>
                <a:lnTo>
                  <a:pt x="424068" y="469133"/>
                </a:lnTo>
                <a:lnTo>
                  <a:pt x="318572" y="578318"/>
                </a:lnTo>
              </a:path>
            </a:pathLst>
          </a:custGeom>
          <a:ln w="1269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 txBox="1"/>
          <p:nvPr/>
        </p:nvSpPr>
        <p:spPr>
          <a:xfrm>
            <a:off x="1511424" y="4194185"/>
            <a:ext cx="4806315" cy="532197"/>
          </a:xfrm>
          <a:prstGeom prst="rect">
            <a:avLst/>
          </a:prstGeom>
        </p:spPr>
        <p:txBody>
          <a:bodyPr vert="horz" wrap="square" lIns="0" tIns="4445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350"/>
              </a:spcBef>
            </a:pPr>
            <a:r>
              <a:rPr lang="en-US" sz="1600" spc="70" dirty="0">
                <a:latin typeface="Tahoma"/>
                <a:cs typeface="Tahoma"/>
              </a:rPr>
              <a:t>Support, Challenges, </a:t>
            </a:r>
            <a:r>
              <a:rPr lang="en-US" sz="1600" spc="70" dirty="0" err="1">
                <a:latin typeface="Tahoma"/>
                <a:cs typeface="Tahoma"/>
              </a:rPr>
              <a:t>Sollutions</a:t>
            </a:r>
            <a:endParaRPr sz="1600" dirty="0">
              <a:latin typeface="Tahoma"/>
              <a:cs typeface="Tahoma"/>
            </a:endParaRPr>
          </a:p>
          <a:p>
            <a:pPr marL="12700">
              <a:lnSpc>
                <a:spcPct val="100000"/>
              </a:lnSpc>
              <a:spcBef>
                <a:spcPts val="204"/>
              </a:spcBef>
            </a:pPr>
            <a:r>
              <a:rPr lang="en-US" sz="1400" spc="10" dirty="0">
                <a:latin typeface="Tahoma"/>
                <a:cs typeface="Tahoma"/>
              </a:rPr>
              <a:t>18.03.2025</a:t>
            </a:r>
            <a:endParaRPr lang="en-US" sz="1300" dirty="0">
              <a:latin typeface="Tahoma"/>
              <a:cs typeface="Tahoma"/>
            </a:endParaRPr>
          </a:p>
        </p:txBody>
      </p:sp>
      <p:sp>
        <p:nvSpPr>
          <p:cNvPr id="11" name="object 11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952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75"/>
              </a:spcBef>
            </a:pPr>
            <a:r>
              <a:rPr spc="10" dirty="0"/>
              <a:t>Confidential</a:t>
            </a:r>
            <a:r>
              <a:rPr spc="35" dirty="0"/>
              <a:t> </a:t>
            </a:r>
            <a:r>
              <a:rPr spc="10" dirty="0"/>
              <a:t>information:</a:t>
            </a:r>
            <a:r>
              <a:rPr spc="35" dirty="0"/>
              <a:t> </a:t>
            </a:r>
            <a:r>
              <a:rPr spc="10" dirty="0"/>
              <a:t>do</a:t>
            </a:r>
            <a:r>
              <a:rPr spc="40" dirty="0"/>
              <a:t> </a:t>
            </a:r>
            <a:r>
              <a:rPr spc="10" dirty="0"/>
              <a:t>not</a:t>
            </a:r>
            <a:r>
              <a:rPr spc="35" dirty="0"/>
              <a:t> </a:t>
            </a:r>
            <a:r>
              <a:rPr spc="10" dirty="0"/>
              <a:t>share</a:t>
            </a:r>
            <a:r>
              <a:rPr spc="40" dirty="0"/>
              <a:t> </a:t>
            </a:r>
            <a:r>
              <a:rPr spc="10" dirty="0"/>
              <a:t>without</a:t>
            </a:r>
            <a:r>
              <a:rPr spc="35" dirty="0"/>
              <a:t> </a:t>
            </a:r>
            <a:r>
              <a:rPr spc="10" dirty="0"/>
              <a:t>written</a:t>
            </a:r>
            <a:r>
              <a:rPr spc="40" dirty="0"/>
              <a:t> </a:t>
            </a:r>
            <a:r>
              <a:rPr spc="10" dirty="0"/>
              <a:t>permission</a:t>
            </a:r>
            <a:r>
              <a:rPr spc="35" dirty="0"/>
              <a:t> </a:t>
            </a:r>
            <a:r>
              <a:rPr spc="10" dirty="0"/>
              <a:t>from</a:t>
            </a:r>
            <a:r>
              <a:rPr spc="35" dirty="0"/>
              <a:t> </a:t>
            </a:r>
            <a:r>
              <a:rPr spc="10" dirty="0"/>
              <a:t>Owkin,</a:t>
            </a:r>
            <a:r>
              <a:rPr spc="40" dirty="0"/>
              <a:t> </a:t>
            </a:r>
            <a:r>
              <a:rPr spc="-20" dirty="0"/>
              <a:t>Inc.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rgbClr val="FAF3E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762515" y="408633"/>
            <a:ext cx="4888865" cy="178253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1500" spc="-10" dirty="0">
                <a:solidFill>
                  <a:srgbClr val="002060"/>
                </a:solidFill>
              </a:rPr>
              <a:t>Agenda</a:t>
            </a:r>
            <a:endParaRPr sz="11500" dirty="0">
              <a:solidFill>
                <a:srgbClr val="002060"/>
              </a:solidFill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134118" y="1348776"/>
            <a:ext cx="2651999" cy="2651999"/>
          </a:xfrm>
          <a:prstGeom prst="rect">
            <a:avLst/>
          </a:prstGeom>
        </p:spPr>
      </p:pic>
      <p:sp>
        <p:nvSpPr>
          <p:cNvPr id="5" name="object 5"/>
          <p:cNvSpPr txBox="1"/>
          <p:nvPr/>
        </p:nvSpPr>
        <p:spPr>
          <a:xfrm>
            <a:off x="2060344" y="4627825"/>
            <a:ext cx="2312035" cy="505267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lang="en-US" sz="1600" dirty="0"/>
              <a:t>1. Zendesk Support &amp; Performance Update</a:t>
            </a:r>
            <a:endParaRPr sz="1500" dirty="0">
              <a:latin typeface="Tahoma"/>
              <a:cs typeface="Tahoma"/>
            </a:endParaRPr>
          </a:p>
        </p:txBody>
      </p:sp>
      <p:sp>
        <p:nvSpPr>
          <p:cNvPr id="14" name="object 14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952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75"/>
              </a:spcBef>
            </a:pPr>
            <a:r>
              <a:rPr spc="10" dirty="0"/>
              <a:t>Confidential</a:t>
            </a:r>
            <a:r>
              <a:rPr spc="35" dirty="0"/>
              <a:t> </a:t>
            </a:r>
            <a:r>
              <a:rPr spc="10" dirty="0"/>
              <a:t>information:</a:t>
            </a:r>
            <a:r>
              <a:rPr spc="35" dirty="0"/>
              <a:t> </a:t>
            </a:r>
            <a:r>
              <a:rPr spc="10" dirty="0"/>
              <a:t>do</a:t>
            </a:r>
            <a:r>
              <a:rPr spc="40" dirty="0"/>
              <a:t> </a:t>
            </a:r>
            <a:r>
              <a:rPr spc="10" dirty="0"/>
              <a:t>not</a:t>
            </a:r>
            <a:r>
              <a:rPr spc="35" dirty="0"/>
              <a:t> </a:t>
            </a:r>
            <a:r>
              <a:rPr spc="10" dirty="0"/>
              <a:t>share</a:t>
            </a:r>
            <a:r>
              <a:rPr spc="40" dirty="0"/>
              <a:t> </a:t>
            </a:r>
            <a:r>
              <a:rPr spc="10" dirty="0"/>
              <a:t>without</a:t>
            </a:r>
            <a:r>
              <a:rPr spc="35" dirty="0"/>
              <a:t> </a:t>
            </a:r>
            <a:r>
              <a:rPr spc="10" dirty="0"/>
              <a:t>written</a:t>
            </a:r>
            <a:r>
              <a:rPr spc="40" dirty="0"/>
              <a:t> </a:t>
            </a:r>
            <a:r>
              <a:rPr spc="10" dirty="0"/>
              <a:t>permission</a:t>
            </a:r>
            <a:r>
              <a:rPr spc="35" dirty="0"/>
              <a:t> </a:t>
            </a:r>
            <a:r>
              <a:rPr spc="10" dirty="0"/>
              <a:t>from</a:t>
            </a:r>
            <a:r>
              <a:rPr spc="35" dirty="0"/>
              <a:t> </a:t>
            </a:r>
            <a:r>
              <a:rPr spc="10" dirty="0"/>
              <a:t>Owkin,</a:t>
            </a:r>
            <a:r>
              <a:rPr spc="40" dirty="0"/>
              <a:t> </a:t>
            </a:r>
            <a:r>
              <a:rPr spc="-20" dirty="0"/>
              <a:t>Inc.</a:t>
            </a:r>
          </a:p>
        </p:txBody>
      </p:sp>
      <p:sp>
        <p:nvSpPr>
          <p:cNvPr id="7" name="object 7"/>
          <p:cNvSpPr txBox="1"/>
          <p:nvPr/>
        </p:nvSpPr>
        <p:spPr>
          <a:xfrm>
            <a:off x="4804239" y="4627825"/>
            <a:ext cx="2103755" cy="505267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lang="en-US" sz="1600" dirty="0"/>
              <a:t>3. </a:t>
            </a:r>
            <a:r>
              <a:rPr lang="en-US" sz="1600" dirty="0" err="1"/>
              <a:t>Surveysparrow</a:t>
            </a:r>
            <a:r>
              <a:rPr lang="en-US" sz="1600" dirty="0"/>
              <a:t> Widget Implementation</a:t>
            </a:r>
            <a:endParaRPr sz="1500" dirty="0">
              <a:latin typeface="Tahoma"/>
              <a:cs typeface="Tahoma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2098882" y="5713805"/>
            <a:ext cx="1867157" cy="751488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lang="en-US" sz="1600" dirty="0"/>
              <a:t>2. Owkin K Documentation Progress  </a:t>
            </a:r>
            <a:endParaRPr lang="en-US" sz="1500" dirty="0">
              <a:latin typeface="Tahoma"/>
              <a:cs typeface="Tahoma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4833449" y="5635967"/>
            <a:ext cx="2074545" cy="505267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452120" algn="l"/>
              </a:tabLst>
            </a:pPr>
            <a:r>
              <a:rPr lang="en-US" sz="1600" dirty="0"/>
              <a:t>4. Challenges &amp; Solutions</a:t>
            </a:r>
            <a:endParaRPr sz="1500" dirty="0">
              <a:latin typeface="Tahoma"/>
              <a:cs typeface="Tahoma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7467600" y="4627825"/>
            <a:ext cx="2957195" cy="25904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454659" algn="l"/>
              </a:tabLst>
            </a:pPr>
            <a:r>
              <a:rPr lang="en-US" sz="1600" dirty="0"/>
              <a:t>5. Next Steps &amp; Focus Areas</a:t>
            </a:r>
            <a:endParaRPr sz="1500" dirty="0">
              <a:latin typeface="Tahoma"/>
              <a:cs typeface="Tahoma"/>
            </a:endParaRPr>
          </a:p>
        </p:txBody>
      </p:sp>
      <p:pic>
        <p:nvPicPr>
          <p:cNvPr id="15" name="object 3">
            <a:extLst>
              <a:ext uri="{FF2B5EF4-FFF2-40B4-BE49-F238E27FC236}">
                <a16:creationId xmlns:a16="http://schemas.microsoft.com/office/drawing/2014/main" id="{D7D0A32C-7644-45CA-98CA-35D025CA7A24}"/>
              </a:ext>
            </a:extLst>
          </p:cNvPr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0601744" y="265876"/>
            <a:ext cx="1287268" cy="285514"/>
          </a:xfrm>
          <a:prstGeom prst="rect">
            <a:avLst/>
          </a:prstGeom>
        </p:spPr>
      </p:pic>
      <p:sp>
        <p:nvSpPr>
          <p:cNvPr id="19" name="object 13">
            <a:extLst>
              <a:ext uri="{FF2B5EF4-FFF2-40B4-BE49-F238E27FC236}">
                <a16:creationId xmlns:a16="http://schemas.microsoft.com/office/drawing/2014/main" id="{FE453CAA-CEC2-4312-8F6D-BA1265865516}"/>
              </a:ext>
            </a:extLst>
          </p:cNvPr>
          <p:cNvSpPr txBox="1"/>
          <p:nvPr/>
        </p:nvSpPr>
        <p:spPr>
          <a:xfrm>
            <a:off x="7467600" y="5672102"/>
            <a:ext cx="1676402" cy="25904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454659" algn="l"/>
              </a:tabLst>
            </a:pPr>
            <a:r>
              <a:rPr lang="en-US" sz="1600" dirty="0"/>
              <a:t>6. Q&amp;A</a:t>
            </a:r>
            <a:endParaRPr sz="1600" dirty="0">
              <a:latin typeface="Tahoma"/>
              <a:cs typeface="Tahoma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065">
              <a:lnSpc>
                <a:spcPct val="100000"/>
              </a:lnSpc>
              <a:spcBef>
                <a:spcPts val="100"/>
              </a:spcBef>
            </a:pPr>
            <a:r>
              <a:rPr lang="en-US" sz="2400" dirty="0"/>
              <a:t>Zendesk Support &amp; Performance Update</a:t>
            </a:r>
            <a:endParaRPr spc="-45" dirty="0"/>
          </a:p>
        </p:txBody>
      </p:sp>
      <p:sp>
        <p:nvSpPr>
          <p:cNvPr id="3" name="object 3"/>
          <p:cNvSpPr txBox="1"/>
          <p:nvPr/>
        </p:nvSpPr>
        <p:spPr>
          <a:xfrm>
            <a:off x="381000" y="202765"/>
            <a:ext cx="3005455" cy="1359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US" sz="800" spc="10" dirty="0">
                <a:latin typeface="Tahoma"/>
                <a:cs typeface="Tahoma"/>
              </a:rPr>
              <a:t>Customer</a:t>
            </a:r>
            <a:r>
              <a:rPr lang="en-US" sz="800" spc="105" dirty="0">
                <a:latin typeface="Tahoma"/>
                <a:cs typeface="Tahoma"/>
              </a:rPr>
              <a:t> </a:t>
            </a:r>
            <a:r>
              <a:rPr lang="en-US" sz="800" spc="10" dirty="0">
                <a:latin typeface="Tahoma"/>
                <a:cs typeface="Tahoma"/>
              </a:rPr>
              <a:t>success:</a:t>
            </a:r>
            <a:r>
              <a:rPr lang="en-US" sz="800" spc="105" dirty="0">
                <a:latin typeface="Tahoma"/>
                <a:cs typeface="Tahoma"/>
              </a:rPr>
              <a:t> </a:t>
            </a:r>
            <a:r>
              <a:rPr lang="en-US" sz="800" spc="10" dirty="0">
                <a:latin typeface="Tahoma"/>
                <a:cs typeface="Tahoma"/>
              </a:rPr>
              <a:t>Weekly</a:t>
            </a:r>
            <a:r>
              <a:rPr lang="en-US" sz="800" spc="105" dirty="0">
                <a:latin typeface="Tahoma"/>
                <a:cs typeface="Tahoma"/>
              </a:rPr>
              <a:t> </a:t>
            </a:r>
            <a:r>
              <a:rPr lang="en-US" sz="800" spc="10" dirty="0">
                <a:latin typeface="Tahoma"/>
                <a:cs typeface="Tahoma"/>
              </a:rPr>
              <a:t>Support</a:t>
            </a:r>
            <a:r>
              <a:rPr lang="en-US" sz="800" spc="105" dirty="0">
                <a:latin typeface="Tahoma"/>
                <a:cs typeface="Tahoma"/>
              </a:rPr>
              <a:t> </a:t>
            </a:r>
            <a:r>
              <a:rPr lang="en-US" sz="800" spc="10" dirty="0">
                <a:latin typeface="Tahoma"/>
                <a:cs typeface="Tahoma"/>
              </a:rPr>
              <a:t>Report</a:t>
            </a:r>
            <a:r>
              <a:rPr lang="en-US" sz="800" spc="110" dirty="0">
                <a:latin typeface="Tahoma"/>
                <a:cs typeface="Tahoma"/>
              </a:rPr>
              <a:t> </a:t>
            </a:r>
            <a:r>
              <a:rPr lang="en-US" sz="800" spc="75" dirty="0">
                <a:latin typeface="Tahoma"/>
                <a:cs typeface="Tahoma"/>
              </a:rPr>
              <a:t>–</a:t>
            </a:r>
            <a:r>
              <a:rPr lang="en-US" sz="800" spc="105" dirty="0">
                <a:latin typeface="Tahoma"/>
                <a:cs typeface="Tahoma"/>
              </a:rPr>
              <a:t> </a:t>
            </a:r>
            <a:r>
              <a:rPr lang="en-US" sz="800" spc="10" dirty="0">
                <a:latin typeface="Tahoma"/>
                <a:cs typeface="Tahoma"/>
              </a:rPr>
              <a:t>18.03.2025</a:t>
            </a:r>
            <a:endParaRPr lang="en-US" sz="800" dirty="0">
              <a:latin typeface="Tahoma"/>
              <a:cs typeface="Tahoma"/>
            </a:endParaRPr>
          </a:p>
        </p:txBody>
      </p:sp>
      <p:sp>
        <p:nvSpPr>
          <p:cNvPr id="20" name="object 20"/>
          <p:cNvSpPr/>
          <p:nvPr/>
        </p:nvSpPr>
        <p:spPr>
          <a:xfrm>
            <a:off x="365370" y="1020108"/>
            <a:ext cx="330835" cy="274955"/>
          </a:xfrm>
          <a:custGeom>
            <a:avLst/>
            <a:gdLst/>
            <a:ahLst/>
            <a:cxnLst/>
            <a:rect l="l" t="t" r="r" b="b"/>
            <a:pathLst>
              <a:path w="330834" h="274955">
                <a:moveTo>
                  <a:pt x="0" y="0"/>
                </a:moveTo>
                <a:lnTo>
                  <a:pt x="0" y="213037"/>
                </a:lnTo>
                <a:lnTo>
                  <a:pt x="329085" y="213037"/>
                </a:lnTo>
              </a:path>
              <a:path w="330834" h="274955">
                <a:moveTo>
                  <a:pt x="270153" y="150573"/>
                </a:moveTo>
                <a:lnTo>
                  <a:pt x="330227" y="212754"/>
                </a:lnTo>
                <a:lnTo>
                  <a:pt x="270153" y="274936"/>
                </a:lnTo>
              </a:path>
            </a:pathLst>
          </a:custGeom>
          <a:ln w="952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" name="object 21"/>
          <p:cNvSpPr txBox="1"/>
          <p:nvPr/>
        </p:nvSpPr>
        <p:spPr>
          <a:xfrm>
            <a:off x="827174" y="1126751"/>
            <a:ext cx="1823085" cy="19749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US" sz="1200" spc="-30" dirty="0">
                <a:latin typeface="Tahoma"/>
                <a:cs typeface="Tahoma"/>
              </a:rPr>
              <a:t>What was done:</a:t>
            </a:r>
            <a:endParaRPr sz="1200" dirty="0">
              <a:latin typeface="Tahoma"/>
              <a:cs typeface="Tahoma"/>
            </a:endParaRPr>
          </a:p>
        </p:txBody>
      </p:sp>
      <p:sp>
        <p:nvSpPr>
          <p:cNvPr id="55" name="object 55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952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75"/>
              </a:spcBef>
            </a:pPr>
            <a:r>
              <a:rPr spc="10" dirty="0"/>
              <a:t>Confidential</a:t>
            </a:r>
            <a:r>
              <a:rPr spc="35" dirty="0"/>
              <a:t> </a:t>
            </a:r>
            <a:r>
              <a:rPr spc="10" dirty="0"/>
              <a:t>information:</a:t>
            </a:r>
            <a:r>
              <a:rPr spc="35" dirty="0"/>
              <a:t> </a:t>
            </a:r>
            <a:r>
              <a:rPr spc="10" dirty="0"/>
              <a:t>do</a:t>
            </a:r>
            <a:r>
              <a:rPr spc="40" dirty="0"/>
              <a:t> </a:t>
            </a:r>
            <a:r>
              <a:rPr spc="10" dirty="0"/>
              <a:t>not</a:t>
            </a:r>
            <a:r>
              <a:rPr spc="35" dirty="0"/>
              <a:t> </a:t>
            </a:r>
            <a:r>
              <a:rPr spc="10" dirty="0"/>
              <a:t>share</a:t>
            </a:r>
            <a:r>
              <a:rPr spc="40" dirty="0"/>
              <a:t> </a:t>
            </a:r>
            <a:r>
              <a:rPr spc="10" dirty="0"/>
              <a:t>without</a:t>
            </a:r>
            <a:r>
              <a:rPr spc="35" dirty="0"/>
              <a:t> </a:t>
            </a:r>
            <a:r>
              <a:rPr spc="10" dirty="0"/>
              <a:t>written</a:t>
            </a:r>
            <a:r>
              <a:rPr spc="40" dirty="0"/>
              <a:t> </a:t>
            </a:r>
            <a:r>
              <a:rPr spc="10" dirty="0"/>
              <a:t>permission</a:t>
            </a:r>
            <a:r>
              <a:rPr spc="35" dirty="0"/>
              <a:t> </a:t>
            </a:r>
            <a:r>
              <a:rPr spc="10" dirty="0"/>
              <a:t>from</a:t>
            </a:r>
            <a:r>
              <a:rPr spc="35" dirty="0"/>
              <a:t> </a:t>
            </a:r>
            <a:r>
              <a:rPr spc="10" dirty="0"/>
              <a:t>Owkin,</a:t>
            </a:r>
            <a:r>
              <a:rPr spc="40" dirty="0"/>
              <a:t> </a:t>
            </a:r>
            <a:r>
              <a:rPr spc="-20" dirty="0"/>
              <a:t>Inc.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3D67FE69-0406-4BFE-8A2C-7D97CE7E73A4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5638800" y="1750625"/>
            <a:ext cx="6460067" cy="3585349"/>
          </a:xfrm>
          <a:prstGeom prst="rect">
            <a:avLst/>
          </a:prstGeom>
        </p:spPr>
      </p:pic>
      <p:sp>
        <p:nvSpPr>
          <p:cNvPr id="17" name="TextBox 16">
            <a:extLst>
              <a:ext uri="{FF2B5EF4-FFF2-40B4-BE49-F238E27FC236}">
                <a16:creationId xmlns:a16="http://schemas.microsoft.com/office/drawing/2014/main" id="{2B560020-C041-44C5-B3D3-BED7CC30C980}"/>
              </a:ext>
            </a:extLst>
          </p:cNvPr>
          <p:cNvSpPr txBox="1"/>
          <p:nvPr/>
        </p:nvSpPr>
        <p:spPr>
          <a:xfrm>
            <a:off x="76200" y="1717674"/>
            <a:ext cx="5257800" cy="43396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200" dirty="0"/>
              <a:t>✅ </a:t>
            </a:r>
            <a:r>
              <a:rPr lang="en-US" sz="1200" b="1" dirty="0"/>
              <a:t>Rotated Active Agents</a:t>
            </a:r>
            <a:r>
              <a:rPr lang="en-US" sz="1200" dirty="0"/>
              <a:t> – Weekly squad rotation completed.</a:t>
            </a:r>
            <a:br>
              <a:rPr lang="en-US" sz="1200" dirty="0"/>
            </a:br>
            <a:r>
              <a:rPr lang="en-US" sz="1200" dirty="0"/>
              <a:t>✅ </a:t>
            </a:r>
            <a:r>
              <a:rPr lang="en-US" sz="1200" b="1" dirty="0"/>
              <a:t>AWS Zendesk Ticket Monitoring</a:t>
            </a:r>
            <a:r>
              <a:rPr lang="en-US" sz="1200" dirty="0"/>
              <a:t> – Ongoing oversight of AWS-related tickets.</a:t>
            </a:r>
          </a:p>
          <a:p>
            <a:br>
              <a:rPr lang="en-US" sz="1200" dirty="0"/>
            </a:br>
            <a:r>
              <a:rPr lang="en-US" sz="1200" dirty="0"/>
              <a:t>✅ </a:t>
            </a:r>
            <a:r>
              <a:rPr lang="en-US" sz="1200" b="1" dirty="0"/>
              <a:t>Handled User Account Updates</a:t>
            </a:r>
            <a:r>
              <a:rPr lang="en-US" sz="1200" dirty="0"/>
              <a:t> –</a:t>
            </a:r>
          </a:p>
          <a:p>
            <a:endParaRPr lang="en-US" sz="1200" dirty="0"/>
          </a:p>
          <a:p>
            <a:pPr>
              <a:buFont typeface="Arial" panose="020B0604020202020204" pitchFamily="34" charset="0"/>
              <a:buChar char="•"/>
            </a:pPr>
            <a:r>
              <a:rPr lang="en-US" sz="1200" dirty="0" err="1"/>
              <a:t>Yacine’s</a:t>
            </a:r>
            <a:r>
              <a:rPr lang="en-US" sz="1200" dirty="0"/>
              <a:t> account converted to staff and added to the </a:t>
            </a:r>
            <a:r>
              <a:rPr lang="en-US" sz="1200" dirty="0" err="1"/>
              <a:t>dataops</a:t>
            </a:r>
            <a:r>
              <a:rPr lang="en-US" sz="1200" dirty="0"/>
              <a:t> group.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200" dirty="0"/>
              <a:t>Romain’s account created and assigned an agent license.</a:t>
            </a:r>
          </a:p>
          <a:p>
            <a:br>
              <a:rPr lang="en-US" sz="1200" dirty="0"/>
            </a:br>
            <a:r>
              <a:rPr lang="en-US" sz="1200" dirty="0"/>
              <a:t>✅ </a:t>
            </a:r>
            <a:r>
              <a:rPr lang="en-US" sz="1200" b="1" dirty="0"/>
              <a:t>Zendesk Forms &amp; Customization</a:t>
            </a:r>
            <a:r>
              <a:rPr lang="en-US" sz="1200" dirty="0"/>
              <a:t> </a:t>
            </a:r>
          </a:p>
          <a:p>
            <a:endParaRPr lang="en-US" sz="1200" dirty="0"/>
          </a:p>
          <a:p>
            <a:pPr>
              <a:buFont typeface="Arial" panose="020B0604020202020204" pitchFamily="34" charset="0"/>
              <a:buChar char="•"/>
            </a:pPr>
            <a:r>
              <a:rPr lang="en-US" sz="1200" b="1" dirty="0"/>
              <a:t>Request for Developer Tool Form</a:t>
            </a:r>
            <a:r>
              <a:rPr lang="en-US" sz="1200" dirty="0"/>
              <a:t> – Removed unnecessary fields using JavaScript.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200" b="1" dirty="0"/>
              <a:t>Dataset Creation Form</a:t>
            </a:r>
            <a:r>
              <a:rPr lang="en-US" sz="1200" dirty="0"/>
              <a:t> – Enabled multiselect dropdown logic.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200" b="1" dirty="0"/>
              <a:t>IT and Cloud Request Form</a:t>
            </a:r>
            <a:r>
              <a:rPr lang="en-US" sz="1200" dirty="0"/>
              <a:t> – Fixed form loading issues.</a:t>
            </a:r>
          </a:p>
          <a:p>
            <a:br>
              <a:rPr lang="en-US" sz="1200" dirty="0"/>
            </a:br>
            <a:r>
              <a:rPr lang="en-US" sz="1200" dirty="0"/>
              <a:t>✅ </a:t>
            </a:r>
            <a:r>
              <a:rPr lang="en-US" sz="1200" b="1" dirty="0"/>
              <a:t>Improved Response Time</a:t>
            </a:r>
            <a:r>
              <a:rPr lang="en-US" sz="1200" dirty="0"/>
              <a:t> – Average </a:t>
            </a:r>
            <a:r>
              <a:rPr lang="en-US" sz="1200" b="1" dirty="0"/>
              <a:t>first response time: 8 minutes</a:t>
            </a:r>
            <a:r>
              <a:rPr lang="en-US" sz="1200" dirty="0"/>
              <a:t> (3x faster than February).</a:t>
            </a:r>
          </a:p>
          <a:p>
            <a:br>
              <a:rPr lang="en-US" sz="1200" dirty="0"/>
            </a:br>
            <a:r>
              <a:rPr lang="en-US" sz="1200" dirty="0"/>
              <a:t>✅ </a:t>
            </a:r>
            <a:r>
              <a:rPr lang="en-US" sz="1200" b="1" dirty="0"/>
              <a:t>Expanded L2 Ticket Handling</a:t>
            </a:r>
            <a:r>
              <a:rPr lang="en-US" sz="1200" dirty="0"/>
              <a:t> – Handling IP/domain whitelisting independently in collaboration with SRE.</a:t>
            </a:r>
          </a:p>
          <a:p>
            <a:endParaRPr lang="en-US" sz="1200" dirty="0"/>
          </a:p>
          <a:p>
            <a:r>
              <a:rPr lang="en-US" sz="1200" dirty="0"/>
              <a:t>🚀 </a:t>
            </a:r>
            <a:r>
              <a:rPr lang="en-US" sz="1200" b="1" dirty="0"/>
              <a:t>Focus:</a:t>
            </a:r>
            <a:r>
              <a:rPr lang="en-US" sz="1200" dirty="0"/>
              <a:t> Continuous automation &amp; faster support response times.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68324" y="592622"/>
            <a:ext cx="7155180" cy="382156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065">
              <a:lnSpc>
                <a:spcPct val="100000"/>
              </a:lnSpc>
              <a:spcBef>
                <a:spcPts val="100"/>
              </a:spcBef>
            </a:pPr>
            <a:r>
              <a:rPr lang="en-US" dirty="0"/>
              <a:t>Owkin K Documentation Progress</a:t>
            </a:r>
            <a:endParaRPr spc="-45" dirty="0"/>
          </a:p>
        </p:txBody>
      </p:sp>
      <p:sp>
        <p:nvSpPr>
          <p:cNvPr id="3" name="object 3"/>
          <p:cNvSpPr txBox="1"/>
          <p:nvPr/>
        </p:nvSpPr>
        <p:spPr>
          <a:xfrm>
            <a:off x="286950" y="202765"/>
            <a:ext cx="3005455" cy="1359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US" sz="800" spc="10" dirty="0">
                <a:latin typeface="Tahoma"/>
                <a:cs typeface="Tahoma"/>
              </a:rPr>
              <a:t>Customer</a:t>
            </a:r>
            <a:r>
              <a:rPr lang="en-US" sz="800" spc="105" dirty="0">
                <a:latin typeface="Tahoma"/>
                <a:cs typeface="Tahoma"/>
              </a:rPr>
              <a:t> </a:t>
            </a:r>
            <a:r>
              <a:rPr lang="en-US" sz="800" spc="10" dirty="0">
                <a:latin typeface="Tahoma"/>
                <a:cs typeface="Tahoma"/>
              </a:rPr>
              <a:t>success:</a:t>
            </a:r>
            <a:r>
              <a:rPr lang="en-US" sz="800" spc="105" dirty="0">
                <a:latin typeface="Tahoma"/>
                <a:cs typeface="Tahoma"/>
              </a:rPr>
              <a:t> </a:t>
            </a:r>
            <a:r>
              <a:rPr lang="en-US" sz="800" spc="10" dirty="0">
                <a:latin typeface="Tahoma"/>
                <a:cs typeface="Tahoma"/>
              </a:rPr>
              <a:t>Weekly</a:t>
            </a:r>
            <a:r>
              <a:rPr lang="en-US" sz="800" spc="105" dirty="0">
                <a:latin typeface="Tahoma"/>
                <a:cs typeface="Tahoma"/>
              </a:rPr>
              <a:t> </a:t>
            </a:r>
            <a:r>
              <a:rPr lang="en-US" sz="800" spc="10" dirty="0">
                <a:latin typeface="Tahoma"/>
                <a:cs typeface="Tahoma"/>
              </a:rPr>
              <a:t>Support</a:t>
            </a:r>
            <a:r>
              <a:rPr lang="en-US" sz="800" spc="105" dirty="0">
                <a:latin typeface="Tahoma"/>
                <a:cs typeface="Tahoma"/>
              </a:rPr>
              <a:t> </a:t>
            </a:r>
            <a:r>
              <a:rPr lang="en-US" sz="800" spc="10" dirty="0">
                <a:latin typeface="Tahoma"/>
                <a:cs typeface="Tahoma"/>
              </a:rPr>
              <a:t>Report</a:t>
            </a:r>
            <a:r>
              <a:rPr lang="en-US" sz="800" spc="110" dirty="0">
                <a:latin typeface="Tahoma"/>
                <a:cs typeface="Tahoma"/>
              </a:rPr>
              <a:t> </a:t>
            </a:r>
            <a:r>
              <a:rPr lang="en-US" sz="800" spc="75" dirty="0">
                <a:latin typeface="Tahoma"/>
                <a:cs typeface="Tahoma"/>
              </a:rPr>
              <a:t>–</a:t>
            </a:r>
            <a:r>
              <a:rPr lang="en-US" sz="800" spc="105" dirty="0">
                <a:latin typeface="Tahoma"/>
                <a:cs typeface="Tahoma"/>
              </a:rPr>
              <a:t> </a:t>
            </a:r>
            <a:r>
              <a:rPr lang="en-US" sz="800" spc="10" dirty="0">
                <a:latin typeface="Tahoma"/>
                <a:cs typeface="Tahoma"/>
              </a:rPr>
              <a:t>18.03.2025</a:t>
            </a:r>
            <a:endParaRPr lang="en-US" sz="800" dirty="0">
              <a:latin typeface="Tahoma"/>
              <a:cs typeface="Tahoma"/>
            </a:endParaRPr>
          </a:p>
        </p:txBody>
      </p:sp>
      <p:sp>
        <p:nvSpPr>
          <p:cNvPr id="20" name="object 20"/>
          <p:cNvSpPr/>
          <p:nvPr/>
        </p:nvSpPr>
        <p:spPr>
          <a:xfrm>
            <a:off x="365370" y="1020108"/>
            <a:ext cx="330835" cy="274955"/>
          </a:xfrm>
          <a:custGeom>
            <a:avLst/>
            <a:gdLst/>
            <a:ahLst/>
            <a:cxnLst/>
            <a:rect l="l" t="t" r="r" b="b"/>
            <a:pathLst>
              <a:path w="330834" h="274955">
                <a:moveTo>
                  <a:pt x="0" y="0"/>
                </a:moveTo>
                <a:lnTo>
                  <a:pt x="0" y="213037"/>
                </a:lnTo>
                <a:lnTo>
                  <a:pt x="329085" y="213037"/>
                </a:lnTo>
              </a:path>
              <a:path w="330834" h="274955">
                <a:moveTo>
                  <a:pt x="270153" y="150573"/>
                </a:moveTo>
                <a:lnTo>
                  <a:pt x="330227" y="212754"/>
                </a:lnTo>
                <a:lnTo>
                  <a:pt x="270153" y="274936"/>
                </a:lnTo>
              </a:path>
            </a:pathLst>
          </a:custGeom>
          <a:ln w="952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5" name="object 55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952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75"/>
              </a:spcBef>
            </a:pPr>
            <a:r>
              <a:rPr spc="10" dirty="0"/>
              <a:t>Confidential</a:t>
            </a:r>
            <a:r>
              <a:rPr spc="35" dirty="0"/>
              <a:t> </a:t>
            </a:r>
            <a:r>
              <a:rPr spc="10" dirty="0"/>
              <a:t>information:</a:t>
            </a:r>
            <a:r>
              <a:rPr spc="35" dirty="0"/>
              <a:t> </a:t>
            </a:r>
            <a:r>
              <a:rPr spc="10" dirty="0"/>
              <a:t>do</a:t>
            </a:r>
            <a:r>
              <a:rPr spc="40" dirty="0"/>
              <a:t> </a:t>
            </a:r>
            <a:r>
              <a:rPr spc="10" dirty="0"/>
              <a:t>not</a:t>
            </a:r>
            <a:r>
              <a:rPr spc="35" dirty="0"/>
              <a:t> </a:t>
            </a:r>
            <a:r>
              <a:rPr spc="10" dirty="0"/>
              <a:t>share</a:t>
            </a:r>
            <a:r>
              <a:rPr spc="40" dirty="0"/>
              <a:t> </a:t>
            </a:r>
            <a:r>
              <a:rPr spc="10" dirty="0"/>
              <a:t>without</a:t>
            </a:r>
            <a:r>
              <a:rPr spc="35" dirty="0"/>
              <a:t> </a:t>
            </a:r>
            <a:r>
              <a:rPr spc="10" dirty="0"/>
              <a:t>written</a:t>
            </a:r>
            <a:r>
              <a:rPr spc="40" dirty="0"/>
              <a:t> </a:t>
            </a:r>
            <a:r>
              <a:rPr spc="10" dirty="0"/>
              <a:t>permission</a:t>
            </a:r>
            <a:r>
              <a:rPr spc="35" dirty="0"/>
              <a:t> </a:t>
            </a:r>
            <a:r>
              <a:rPr spc="10" dirty="0"/>
              <a:t>from</a:t>
            </a:r>
            <a:r>
              <a:rPr spc="35" dirty="0"/>
              <a:t> </a:t>
            </a:r>
            <a:r>
              <a:rPr spc="10" dirty="0"/>
              <a:t>Owkin,</a:t>
            </a:r>
            <a:r>
              <a:rPr spc="40" dirty="0"/>
              <a:t> </a:t>
            </a:r>
            <a:r>
              <a:rPr spc="-20" dirty="0"/>
              <a:t>Inc.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FADCFCE6-1904-4BF1-A229-A5A5AD2D73B8}"/>
              </a:ext>
            </a:extLst>
          </p:cNvPr>
          <p:cNvSpPr txBox="1"/>
          <p:nvPr/>
        </p:nvSpPr>
        <p:spPr>
          <a:xfrm>
            <a:off x="762000" y="1039216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Where we are now ?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DEEC8666-CE15-4F1B-B55C-E81056A7A35F}"/>
              </a:ext>
            </a:extLst>
          </p:cNvPr>
          <p:cNvSpPr txBox="1"/>
          <p:nvPr/>
        </p:nvSpPr>
        <p:spPr>
          <a:xfrm>
            <a:off x="152400" y="1828800"/>
            <a:ext cx="5105400" cy="46166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400" dirty="0"/>
              <a:t>📌 </a:t>
            </a:r>
            <a:r>
              <a:rPr lang="en-US" sz="1400" b="1" dirty="0"/>
              <a:t>Ongoing Work on Owkin K Platform Documentation:</a:t>
            </a:r>
          </a:p>
          <a:p>
            <a:br>
              <a:rPr lang="en-US" sz="1400" dirty="0"/>
            </a:br>
            <a:r>
              <a:rPr lang="en-US" sz="1400" dirty="0"/>
              <a:t>✅ Developed a </a:t>
            </a:r>
            <a:r>
              <a:rPr lang="en-US" sz="1400" b="1" dirty="0"/>
              <a:t>structured plan</a:t>
            </a:r>
            <a:r>
              <a:rPr lang="en-US" sz="1400" dirty="0"/>
              <a:t> for the Owkin K Platform User Guide.</a:t>
            </a:r>
          </a:p>
          <a:p>
            <a:br>
              <a:rPr lang="en-US" sz="1400" dirty="0"/>
            </a:br>
            <a:r>
              <a:rPr lang="en-US" sz="1400" dirty="0"/>
              <a:t>✅ Created the </a:t>
            </a:r>
            <a:r>
              <a:rPr lang="en-US" sz="1400" b="1" dirty="0"/>
              <a:t>first draft</a:t>
            </a:r>
            <a:r>
              <a:rPr lang="en-US" sz="1400" dirty="0"/>
              <a:t> of the </a:t>
            </a:r>
            <a:r>
              <a:rPr lang="en-US" sz="1400" b="1" dirty="0"/>
              <a:t>User Guide</a:t>
            </a:r>
            <a:r>
              <a:rPr lang="en-US" sz="1400" dirty="0"/>
              <a:t>.</a:t>
            </a:r>
          </a:p>
          <a:p>
            <a:br>
              <a:rPr lang="en-US" sz="1400" dirty="0"/>
            </a:br>
            <a:r>
              <a:rPr lang="en-US" sz="1400" dirty="0"/>
              <a:t>✅ Conducted </a:t>
            </a:r>
            <a:r>
              <a:rPr lang="en-US" sz="1400" b="1" dirty="0"/>
              <a:t>detailed issue analysis</a:t>
            </a:r>
            <a:r>
              <a:rPr lang="en-US" sz="1400" dirty="0"/>
              <a:t> and documented findings.</a:t>
            </a:r>
          </a:p>
          <a:p>
            <a:br>
              <a:rPr lang="en-US" sz="1400" dirty="0"/>
            </a:br>
            <a:r>
              <a:rPr lang="en-US" sz="1400" dirty="0"/>
              <a:t>✅ Prioritizing documentation improvements to </a:t>
            </a:r>
            <a:r>
              <a:rPr lang="en-US" sz="1400" b="1" dirty="0"/>
              <a:t>enhance user experience</a:t>
            </a:r>
            <a:r>
              <a:rPr lang="en-US" sz="1400" dirty="0"/>
              <a:t> and </a:t>
            </a:r>
            <a:r>
              <a:rPr lang="en-US" sz="1400" b="1" dirty="0"/>
              <a:t>reduce support tickets</a:t>
            </a:r>
            <a:r>
              <a:rPr lang="en-US" sz="1400" dirty="0"/>
              <a:t>.</a:t>
            </a:r>
          </a:p>
          <a:p>
            <a:endParaRPr lang="en-US" sz="1400" dirty="0"/>
          </a:p>
          <a:p>
            <a:r>
              <a:rPr lang="en-US" sz="1400" dirty="0"/>
              <a:t>📄 </a:t>
            </a:r>
            <a:r>
              <a:rPr lang="en-US" sz="1400" b="1" dirty="0"/>
              <a:t>Relevant Documents:</a:t>
            </a:r>
          </a:p>
          <a:p>
            <a:endParaRPr lang="en-US" sz="1400" dirty="0"/>
          </a:p>
          <a:p>
            <a:pPr>
              <a:buFont typeface="Arial" panose="020B0604020202020204" pitchFamily="34" charset="0"/>
              <a:buChar char="•"/>
            </a:pPr>
            <a:r>
              <a:rPr lang="en-US" sz="1400" dirty="0">
                <a:hlinkClick r:id="rId2"/>
              </a:rPr>
              <a:t>Owkin K User Guide Structure V1</a:t>
            </a:r>
            <a:endParaRPr lang="en-US" sz="1400" dirty="0"/>
          </a:p>
          <a:p>
            <a:pPr>
              <a:buFont typeface="Arial" panose="020B0604020202020204" pitchFamily="34" charset="0"/>
              <a:buChar char="•"/>
            </a:pPr>
            <a:r>
              <a:rPr lang="en-US" sz="1400" dirty="0">
                <a:hlinkClick r:id="rId3"/>
              </a:rPr>
              <a:t>User Guide Draft</a:t>
            </a:r>
            <a:endParaRPr lang="en-US" sz="1400" dirty="0"/>
          </a:p>
          <a:p>
            <a:pPr>
              <a:buFont typeface="Arial" panose="020B0604020202020204" pitchFamily="34" charset="0"/>
              <a:buChar char="•"/>
            </a:pPr>
            <a:r>
              <a:rPr lang="en-US" sz="1400" dirty="0">
                <a:hlinkClick r:id="rId4"/>
              </a:rPr>
              <a:t>Slack Problem Analysis</a:t>
            </a:r>
            <a:endParaRPr lang="en-US" sz="1400" dirty="0"/>
          </a:p>
          <a:p>
            <a:pPr>
              <a:buFont typeface="Arial" panose="020B0604020202020204" pitchFamily="34" charset="0"/>
              <a:buChar char="•"/>
            </a:pPr>
            <a:endParaRPr lang="en-US" sz="1400" dirty="0"/>
          </a:p>
          <a:p>
            <a:r>
              <a:rPr lang="en-US" sz="1400" dirty="0"/>
              <a:t>🚀 </a:t>
            </a:r>
            <a:r>
              <a:rPr lang="en-US" sz="1400" b="1" dirty="0"/>
              <a:t>Focus:</a:t>
            </a:r>
            <a:r>
              <a:rPr lang="en-US" sz="1400" dirty="0"/>
              <a:t> Completing Owkin K documentation before internal launch.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6F91513E-FD89-4F34-9652-AED164B03DB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371418" y="1854693"/>
            <a:ext cx="6528814" cy="40004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6510976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68324" y="592622"/>
            <a:ext cx="7155180" cy="382156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065">
              <a:lnSpc>
                <a:spcPct val="100000"/>
              </a:lnSpc>
              <a:spcBef>
                <a:spcPts val="100"/>
              </a:spcBef>
            </a:pPr>
            <a:r>
              <a:rPr lang="en-US" dirty="0" err="1"/>
              <a:t>Surveysparrow</a:t>
            </a:r>
            <a:r>
              <a:rPr lang="en-US" dirty="0"/>
              <a:t> Widget Implementation</a:t>
            </a:r>
            <a:endParaRPr spc="-45" dirty="0"/>
          </a:p>
        </p:txBody>
      </p:sp>
      <p:sp>
        <p:nvSpPr>
          <p:cNvPr id="3" name="object 3"/>
          <p:cNvSpPr txBox="1"/>
          <p:nvPr/>
        </p:nvSpPr>
        <p:spPr>
          <a:xfrm>
            <a:off x="286950" y="202765"/>
            <a:ext cx="3005455" cy="1359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US" sz="800" spc="10" dirty="0">
                <a:latin typeface="Tahoma"/>
                <a:cs typeface="Tahoma"/>
              </a:rPr>
              <a:t>Customer</a:t>
            </a:r>
            <a:r>
              <a:rPr lang="en-US" sz="800" spc="105" dirty="0">
                <a:latin typeface="Tahoma"/>
                <a:cs typeface="Tahoma"/>
              </a:rPr>
              <a:t> </a:t>
            </a:r>
            <a:r>
              <a:rPr lang="en-US" sz="800" spc="10" dirty="0">
                <a:latin typeface="Tahoma"/>
                <a:cs typeface="Tahoma"/>
              </a:rPr>
              <a:t>success:</a:t>
            </a:r>
            <a:r>
              <a:rPr lang="en-US" sz="800" spc="105" dirty="0">
                <a:latin typeface="Tahoma"/>
                <a:cs typeface="Tahoma"/>
              </a:rPr>
              <a:t> </a:t>
            </a:r>
            <a:r>
              <a:rPr lang="en-US" sz="800" spc="10" dirty="0">
                <a:latin typeface="Tahoma"/>
                <a:cs typeface="Tahoma"/>
              </a:rPr>
              <a:t>Weekly</a:t>
            </a:r>
            <a:r>
              <a:rPr lang="en-US" sz="800" spc="105" dirty="0">
                <a:latin typeface="Tahoma"/>
                <a:cs typeface="Tahoma"/>
              </a:rPr>
              <a:t> </a:t>
            </a:r>
            <a:r>
              <a:rPr lang="en-US" sz="800" spc="10" dirty="0">
                <a:latin typeface="Tahoma"/>
                <a:cs typeface="Tahoma"/>
              </a:rPr>
              <a:t>Support</a:t>
            </a:r>
            <a:r>
              <a:rPr lang="en-US" sz="800" spc="105" dirty="0">
                <a:latin typeface="Tahoma"/>
                <a:cs typeface="Tahoma"/>
              </a:rPr>
              <a:t> </a:t>
            </a:r>
            <a:r>
              <a:rPr lang="en-US" sz="800" spc="10" dirty="0">
                <a:latin typeface="Tahoma"/>
                <a:cs typeface="Tahoma"/>
              </a:rPr>
              <a:t>Report</a:t>
            </a:r>
            <a:r>
              <a:rPr lang="en-US" sz="800" spc="110" dirty="0">
                <a:latin typeface="Tahoma"/>
                <a:cs typeface="Tahoma"/>
              </a:rPr>
              <a:t> </a:t>
            </a:r>
            <a:r>
              <a:rPr lang="en-US" sz="800" spc="75" dirty="0">
                <a:latin typeface="Tahoma"/>
                <a:cs typeface="Tahoma"/>
              </a:rPr>
              <a:t>–</a:t>
            </a:r>
            <a:r>
              <a:rPr lang="en-US" sz="800" spc="105" dirty="0">
                <a:latin typeface="Tahoma"/>
                <a:cs typeface="Tahoma"/>
              </a:rPr>
              <a:t> </a:t>
            </a:r>
            <a:r>
              <a:rPr lang="en-US" sz="800" spc="10" dirty="0">
                <a:latin typeface="Tahoma"/>
                <a:cs typeface="Tahoma"/>
              </a:rPr>
              <a:t>18.03.2025</a:t>
            </a:r>
            <a:endParaRPr lang="en-US" sz="800" dirty="0">
              <a:latin typeface="Tahoma"/>
              <a:cs typeface="Tahoma"/>
            </a:endParaRPr>
          </a:p>
        </p:txBody>
      </p:sp>
      <p:sp>
        <p:nvSpPr>
          <p:cNvPr id="20" name="object 20"/>
          <p:cNvSpPr/>
          <p:nvPr/>
        </p:nvSpPr>
        <p:spPr>
          <a:xfrm>
            <a:off x="365370" y="1020108"/>
            <a:ext cx="330835" cy="274955"/>
          </a:xfrm>
          <a:custGeom>
            <a:avLst/>
            <a:gdLst/>
            <a:ahLst/>
            <a:cxnLst/>
            <a:rect l="l" t="t" r="r" b="b"/>
            <a:pathLst>
              <a:path w="330834" h="274955">
                <a:moveTo>
                  <a:pt x="0" y="0"/>
                </a:moveTo>
                <a:lnTo>
                  <a:pt x="0" y="213037"/>
                </a:lnTo>
                <a:lnTo>
                  <a:pt x="329085" y="213037"/>
                </a:lnTo>
              </a:path>
              <a:path w="330834" h="274955">
                <a:moveTo>
                  <a:pt x="270153" y="150573"/>
                </a:moveTo>
                <a:lnTo>
                  <a:pt x="330227" y="212754"/>
                </a:lnTo>
                <a:lnTo>
                  <a:pt x="270153" y="274936"/>
                </a:lnTo>
              </a:path>
            </a:pathLst>
          </a:custGeom>
          <a:ln w="952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5" name="object 55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952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75"/>
              </a:spcBef>
            </a:pPr>
            <a:r>
              <a:rPr spc="10" dirty="0"/>
              <a:t>Confidential</a:t>
            </a:r>
            <a:r>
              <a:rPr spc="35" dirty="0"/>
              <a:t> </a:t>
            </a:r>
            <a:r>
              <a:rPr spc="10" dirty="0"/>
              <a:t>information:</a:t>
            </a:r>
            <a:r>
              <a:rPr spc="35" dirty="0"/>
              <a:t> </a:t>
            </a:r>
            <a:r>
              <a:rPr spc="10" dirty="0"/>
              <a:t>do</a:t>
            </a:r>
            <a:r>
              <a:rPr spc="40" dirty="0"/>
              <a:t> </a:t>
            </a:r>
            <a:r>
              <a:rPr spc="10" dirty="0"/>
              <a:t>not</a:t>
            </a:r>
            <a:r>
              <a:rPr spc="35" dirty="0"/>
              <a:t> </a:t>
            </a:r>
            <a:r>
              <a:rPr spc="10" dirty="0"/>
              <a:t>share</a:t>
            </a:r>
            <a:r>
              <a:rPr spc="40" dirty="0"/>
              <a:t> </a:t>
            </a:r>
            <a:r>
              <a:rPr spc="10" dirty="0"/>
              <a:t>without</a:t>
            </a:r>
            <a:r>
              <a:rPr spc="35" dirty="0"/>
              <a:t> </a:t>
            </a:r>
            <a:r>
              <a:rPr spc="10" dirty="0"/>
              <a:t>written</a:t>
            </a:r>
            <a:r>
              <a:rPr spc="40" dirty="0"/>
              <a:t> </a:t>
            </a:r>
            <a:r>
              <a:rPr spc="10" dirty="0"/>
              <a:t>permission</a:t>
            </a:r>
            <a:r>
              <a:rPr spc="35" dirty="0"/>
              <a:t> </a:t>
            </a:r>
            <a:r>
              <a:rPr spc="10" dirty="0"/>
              <a:t>from</a:t>
            </a:r>
            <a:r>
              <a:rPr spc="35" dirty="0"/>
              <a:t> </a:t>
            </a:r>
            <a:r>
              <a:rPr spc="10" dirty="0"/>
              <a:t>Owkin,</a:t>
            </a:r>
            <a:r>
              <a:rPr spc="40" dirty="0"/>
              <a:t> </a:t>
            </a:r>
            <a:r>
              <a:rPr spc="-20" dirty="0"/>
              <a:t>Inc.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FADCFCE6-1904-4BF1-A229-A5A5AD2D73B8}"/>
              </a:ext>
            </a:extLst>
          </p:cNvPr>
          <p:cNvSpPr txBox="1"/>
          <p:nvPr/>
        </p:nvSpPr>
        <p:spPr>
          <a:xfrm>
            <a:off x="762000" y="1039216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Where we are now ?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DEEC8666-CE15-4F1B-B55C-E81056A7A35F}"/>
              </a:ext>
            </a:extLst>
          </p:cNvPr>
          <p:cNvSpPr txBox="1"/>
          <p:nvPr/>
        </p:nvSpPr>
        <p:spPr>
          <a:xfrm>
            <a:off x="304800" y="1524000"/>
            <a:ext cx="6632014" cy="21236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200" dirty="0"/>
              <a:t>✅ </a:t>
            </a:r>
            <a:r>
              <a:rPr lang="en-US" sz="1200" b="1" dirty="0"/>
              <a:t>Widget Designed</a:t>
            </a:r>
            <a:r>
              <a:rPr lang="en-US" sz="1200" dirty="0"/>
              <a:t> – Aligned with Owkin K branding.</a:t>
            </a:r>
          </a:p>
          <a:p>
            <a:br>
              <a:rPr lang="en-US" sz="1200" dirty="0"/>
            </a:br>
            <a:r>
              <a:rPr lang="en-US" sz="1200" dirty="0"/>
              <a:t>✅ </a:t>
            </a:r>
            <a:r>
              <a:rPr lang="en-US" sz="1200" b="1" dirty="0"/>
              <a:t>Jeremy’s Access Provided</a:t>
            </a:r>
            <a:r>
              <a:rPr lang="en-US" sz="1200" dirty="0"/>
              <a:t> – Review of platform features completed.</a:t>
            </a:r>
          </a:p>
          <a:p>
            <a:br>
              <a:rPr lang="en-US" sz="1200" dirty="0"/>
            </a:br>
            <a:r>
              <a:rPr lang="en-US" sz="1200" dirty="0"/>
              <a:t>✅ </a:t>
            </a:r>
            <a:r>
              <a:rPr lang="en-US" sz="1200" b="1" dirty="0"/>
              <a:t>Identified Issue</a:t>
            </a:r>
            <a:r>
              <a:rPr lang="en-US" sz="1200" dirty="0"/>
              <a:t> – The </a:t>
            </a:r>
            <a:r>
              <a:rPr lang="en-US" sz="1200" dirty="0" err="1"/>
              <a:t>Surveysparrow</a:t>
            </a:r>
            <a:r>
              <a:rPr lang="en-US" sz="1200" dirty="0"/>
              <a:t> widget lacked a sliding animation.</a:t>
            </a:r>
          </a:p>
          <a:p>
            <a:br>
              <a:rPr lang="en-US" sz="1200" dirty="0"/>
            </a:br>
            <a:r>
              <a:rPr lang="en-US" sz="1200" dirty="0"/>
              <a:t>✅ </a:t>
            </a:r>
            <a:r>
              <a:rPr lang="en-US" sz="1200" b="1" dirty="0"/>
              <a:t>Customized Widget Code</a:t>
            </a:r>
            <a:r>
              <a:rPr lang="en-US" sz="1200" dirty="0"/>
              <a:t> – Implemented sliding functionality.</a:t>
            </a:r>
          </a:p>
          <a:p>
            <a:br>
              <a:rPr lang="en-US" sz="1200" dirty="0"/>
            </a:br>
            <a:r>
              <a:rPr lang="en-US" sz="1200" dirty="0"/>
              <a:t>✅ </a:t>
            </a:r>
            <a:r>
              <a:rPr lang="en-US" sz="1200" b="1" dirty="0"/>
              <a:t>Scheduled Meeting</a:t>
            </a:r>
            <a:r>
              <a:rPr lang="en-US" sz="1200" dirty="0"/>
              <a:t> – Discussion with </a:t>
            </a:r>
            <a:r>
              <a:rPr lang="en-US" sz="1200" dirty="0" err="1"/>
              <a:t>Surveysparrow</a:t>
            </a:r>
            <a:r>
              <a:rPr lang="en-US" sz="1200" dirty="0"/>
              <a:t> team today.</a:t>
            </a:r>
          </a:p>
          <a:p>
            <a:endParaRPr lang="en-US" sz="1200" dirty="0"/>
          </a:p>
          <a:p>
            <a:r>
              <a:rPr lang="en-US" sz="1200" dirty="0"/>
              <a:t>🚀 </a:t>
            </a:r>
            <a:r>
              <a:rPr lang="en-US" sz="1200" b="1" dirty="0"/>
              <a:t>Next Steps:</a:t>
            </a:r>
            <a:r>
              <a:rPr lang="en-US" sz="1200" dirty="0"/>
              <a:t> Follow up with Jeremy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17D707F7-DE3E-4CBA-B041-E19FA942F26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0" y="974778"/>
            <a:ext cx="3707453" cy="4724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3673320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065">
              <a:lnSpc>
                <a:spcPct val="100000"/>
              </a:lnSpc>
              <a:spcBef>
                <a:spcPts val="100"/>
              </a:spcBef>
            </a:pPr>
            <a:r>
              <a:rPr lang="en-US" dirty="0"/>
              <a:t>Challenges &amp; Solutions</a:t>
            </a:r>
            <a:endParaRPr spc="-45" dirty="0"/>
          </a:p>
        </p:txBody>
      </p:sp>
      <p:sp>
        <p:nvSpPr>
          <p:cNvPr id="3" name="object 3"/>
          <p:cNvSpPr txBox="1"/>
          <p:nvPr/>
        </p:nvSpPr>
        <p:spPr>
          <a:xfrm>
            <a:off x="286950" y="202765"/>
            <a:ext cx="3005455" cy="1359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US" sz="800" spc="10" dirty="0">
                <a:latin typeface="Tahoma"/>
                <a:cs typeface="Tahoma"/>
              </a:rPr>
              <a:t>Customer</a:t>
            </a:r>
            <a:r>
              <a:rPr lang="en-US" sz="800" spc="105" dirty="0">
                <a:latin typeface="Tahoma"/>
                <a:cs typeface="Tahoma"/>
              </a:rPr>
              <a:t> </a:t>
            </a:r>
            <a:r>
              <a:rPr lang="en-US" sz="800" spc="10" dirty="0">
                <a:latin typeface="Tahoma"/>
                <a:cs typeface="Tahoma"/>
              </a:rPr>
              <a:t>success:</a:t>
            </a:r>
            <a:r>
              <a:rPr lang="en-US" sz="800" spc="105" dirty="0">
                <a:latin typeface="Tahoma"/>
                <a:cs typeface="Tahoma"/>
              </a:rPr>
              <a:t> </a:t>
            </a:r>
            <a:r>
              <a:rPr lang="en-US" sz="800" spc="10" dirty="0">
                <a:latin typeface="Tahoma"/>
                <a:cs typeface="Tahoma"/>
              </a:rPr>
              <a:t>Weekly</a:t>
            </a:r>
            <a:r>
              <a:rPr lang="en-US" sz="800" spc="105" dirty="0">
                <a:latin typeface="Tahoma"/>
                <a:cs typeface="Tahoma"/>
              </a:rPr>
              <a:t> </a:t>
            </a:r>
            <a:r>
              <a:rPr lang="en-US" sz="800" spc="10" dirty="0">
                <a:latin typeface="Tahoma"/>
                <a:cs typeface="Tahoma"/>
              </a:rPr>
              <a:t>Support</a:t>
            </a:r>
            <a:r>
              <a:rPr lang="en-US" sz="800" spc="105" dirty="0">
                <a:latin typeface="Tahoma"/>
                <a:cs typeface="Tahoma"/>
              </a:rPr>
              <a:t> </a:t>
            </a:r>
            <a:r>
              <a:rPr lang="en-US" sz="800" spc="10" dirty="0">
                <a:latin typeface="Tahoma"/>
                <a:cs typeface="Tahoma"/>
              </a:rPr>
              <a:t>Report</a:t>
            </a:r>
            <a:r>
              <a:rPr lang="en-US" sz="800" spc="110" dirty="0">
                <a:latin typeface="Tahoma"/>
                <a:cs typeface="Tahoma"/>
              </a:rPr>
              <a:t> </a:t>
            </a:r>
            <a:r>
              <a:rPr lang="en-US" sz="800" spc="75" dirty="0">
                <a:latin typeface="Tahoma"/>
                <a:cs typeface="Tahoma"/>
              </a:rPr>
              <a:t>–</a:t>
            </a:r>
            <a:r>
              <a:rPr lang="en-US" sz="800" spc="105" dirty="0">
                <a:latin typeface="Tahoma"/>
                <a:cs typeface="Tahoma"/>
              </a:rPr>
              <a:t> </a:t>
            </a:r>
            <a:r>
              <a:rPr lang="en-US" sz="800" spc="10" dirty="0">
                <a:latin typeface="Tahoma"/>
                <a:cs typeface="Tahoma"/>
              </a:rPr>
              <a:t>18.03.2025</a:t>
            </a:r>
            <a:endParaRPr lang="en-US" sz="800" dirty="0">
              <a:latin typeface="Tahoma"/>
              <a:cs typeface="Tahoma"/>
            </a:endParaRPr>
          </a:p>
        </p:txBody>
      </p:sp>
      <p:sp>
        <p:nvSpPr>
          <p:cNvPr id="20" name="object 20"/>
          <p:cNvSpPr/>
          <p:nvPr/>
        </p:nvSpPr>
        <p:spPr>
          <a:xfrm>
            <a:off x="365370" y="1020108"/>
            <a:ext cx="330835" cy="274955"/>
          </a:xfrm>
          <a:custGeom>
            <a:avLst/>
            <a:gdLst/>
            <a:ahLst/>
            <a:cxnLst/>
            <a:rect l="l" t="t" r="r" b="b"/>
            <a:pathLst>
              <a:path w="330834" h="274955">
                <a:moveTo>
                  <a:pt x="0" y="0"/>
                </a:moveTo>
                <a:lnTo>
                  <a:pt x="0" y="213037"/>
                </a:lnTo>
                <a:lnTo>
                  <a:pt x="329085" y="213037"/>
                </a:lnTo>
              </a:path>
              <a:path w="330834" h="274955">
                <a:moveTo>
                  <a:pt x="270153" y="150573"/>
                </a:moveTo>
                <a:lnTo>
                  <a:pt x="330227" y="212754"/>
                </a:lnTo>
                <a:lnTo>
                  <a:pt x="270153" y="274936"/>
                </a:lnTo>
              </a:path>
            </a:pathLst>
          </a:custGeom>
          <a:ln w="952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" name="object 21"/>
          <p:cNvSpPr txBox="1"/>
          <p:nvPr/>
        </p:nvSpPr>
        <p:spPr>
          <a:xfrm>
            <a:off x="827174" y="1126751"/>
            <a:ext cx="1823085" cy="19749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US" sz="1200" spc="-30" dirty="0">
                <a:latin typeface="Tahoma"/>
                <a:cs typeface="Tahoma"/>
              </a:rPr>
              <a:t>Some of them:</a:t>
            </a:r>
            <a:endParaRPr sz="1200" dirty="0">
              <a:latin typeface="Tahoma"/>
              <a:cs typeface="Tahoma"/>
            </a:endParaRPr>
          </a:p>
        </p:txBody>
      </p:sp>
      <p:sp>
        <p:nvSpPr>
          <p:cNvPr id="55" name="object 55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952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75"/>
              </a:spcBef>
            </a:pPr>
            <a:r>
              <a:rPr spc="10" dirty="0"/>
              <a:t>Confidential</a:t>
            </a:r>
            <a:r>
              <a:rPr spc="35" dirty="0"/>
              <a:t> </a:t>
            </a:r>
            <a:r>
              <a:rPr spc="10" dirty="0"/>
              <a:t>information:</a:t>
            </a:r>
            <a:r>
              <a:rPr spc="35" dirty="0"/>
              <a:t> </a:t>
            </a:r>
            <a:r>
              <a:rPr spc="10" dirty="0"/>
              <a:t>do</a:t>
            </a:r>
            <a:r>
              <a:rPr spc="40" dirty="0"/>
              <a:t> </a:t>
            </a:r>
            <a:r>
              <a:rPr spc="10" dirty="0"/>
              <a:t>not</a:t>
            </a:r>
            <a:r>
              <a:rPr spc="35" dirty="0"/>
              <a:t> </a:t>
            </a:r>
            <a:r>
              <a:rPr spc="10" dirty="0"/>
              <a:t>share</a:t>
            </a:r>
            <a:r>
              <a:rPr spc="40" dirty="0"/>
              <a:t> </a:t>
            </a:r>
            <a:r>
              <a:rPr spc="10" dirty="0"/>
              <a:t>without</a:t>
            </a:r>
            <a:r>
              <a:rPr spc="35" dirty="0"/>
              <a:t> </a:t>
            </a:r>
            <a:r>
              <a:rPr spc="10" dirty="0"/>
              <a:t>written</a:t>
            </a:r>
            <a:r>
              <a:rPr spc="40" dirty="0"/>
              <a:t> </a:t>
            </a:r>
            <a:r>
              <a:rPr spc="10" dirty="0"/>
              <a:t>permission</a:t>
            </a:r>
            <a:r>
              <a:rPr spc="35" dirty="0"/>
              <a:t> </a:t>
            </a:r>
            <a:r>
              <a:rPr spc="10" dirty="0"/>
              <a:t>from</a:t>
            </a:r>
            <a:r>
              <a:rPr spc="35" dirty="0"/>
              <a:t> </a:t>
            </a:r>
            <a:r>
              <a:rPr spc="10" dirty="0"/>
              <a:t>Owkin,</a:t>
            </a:r>
            <a:r>
              <a:rPr spc="40" dirty="0"/>
              <a:t> </a:t>
            </a:r>
            <a:r>
              <a:rPr spc="-20" dirty="0"/>
              <a:t>Inc.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1B727397-E955-493E-A388-042A53F6F824}"/>
              </a:ext>
            </a:extLst>
          </p:cNvPr>
          <p:cNvSpPr txBox="1"/>
          <p:nvPr/>
        </p:nvSpPr>
        <p:spPr>
          <a:xfrm>
            <a:off x="262406" y="1438033"/>
            <a:ext cx="6513476" cy="569386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400" dirty="0"/>
              <a:t>🔹 </a:t>
            </a:r>
            <a:r>
              <a:rPr lang="en-US" sz="1400" b="1" dirty="0"/>
              <a:t>Challenge:</a:t>
            </a:r>
            <a:r>
              <a:rPr lang="en-US" sz="1400" dirty="0"/>
              <a:t> Zendesk </a:t>
            </a:r>
            <a:r>
              <a:rPr lang="en-US" sz="1400" b="1" dirty="0"/>
              <a:t>lack of native support</a:t>
            </a:r>
            <a:r>
              <a:rPr lang="en-US" sz="1400" dirty="0"/>
              <a:t> for multi-select fields.</a:t>
            </a:r>
            <a:br>
              <a:rPr lang="en-US" sz="1400" dirty="0"/>
            </a:br>
            <a:r>
              <a:rPr lang="en-US" sz="1400" dirty="0"/>
              <a:t>✅ </a:t>
            </a:r>
            <a:r>
              <a:rPr lang="en-US" sz="1400" b="1" dirty="0"/>
              <a:t>Solution:</a:t>
            </a:r>
            <a:r>
              <a:rPr lang="en-US" sz="1400" dirty="0"/>
              <a:t> Implemented </a:t>
            </a:r>
            <a:r>
              <a:rPr lang="en-US" sz="1400" b="1" dirty="0"/>
              <a:t>custom JavaScript</a:t>
            </a:r>
            <a:r>
              <a:rPr lang="en-US" sz="1400" dirty="0"/>
              <a:t> to enable conditional multiselect visibility.</a:t>
            </a:r>
          </a:p>
          <a:p>
            <a:endParaRPr lang="en-US" sz="1400" dirty="0"/>
          </a:p>
          <a:p>
            <a:r>
              <a:rPr lang="en-US" sz="1400" dirty="0"/>
              <a:t>🔹 </a:t>
            </a:r>
            <a:r>
              <a:rPr lang="en-US" sz="1400" b="1" dirty="0"/>
              <a:t>Challenge:</a:t>
            </a:r>
            <a:r>
              <a:rPr lang="en-US" sz="1400" dirty="0"/>
              <a:t> </a:t>
            </a:r>
            <a:r>
              <a:rPr lang="en-US" sz="1400" b="1" dirty="0"/>
              <a:t>Request for Developer Tool Form</a:t>
            </a:r>
            <a:r>
              <a:rPr lang="en-US" sz="1400" dirty="0"/>
              <a:t> contained unnecessary fields (Description &amp; Subject).</a:t>
            </a:r>
            <a:br>
              <a:rPr lang="en-US" sz="1400" dirty="0"/>
            </a:br>
            <a:r>
              <a:rPr lang="en-US" sz="1400" dirty="0"/>
              <a:t>✅ </a:t>
            </a:r>
            <a:r>
              <a:rPr lang="en-US" sz="1400" b="1" dirty="0"/>
              <a:t>Solution:</a:t>
            </a:r>
            <a:r>
              <a:rPr lang="en-US" sz="1400" dirty="0"/>
              <a:t> JavaScript code was applied to </a:t>
            </a:r>
            <a:r>
              <a:rPr lang="en-US" sz="1400" b="1" dirty="0"/>
              <a:t>dynamically hide</a:t>
            </a:r>
            <a:r>
              <a:rPr lang="en-US" sz="1400" dirty="0"/>
              <a:t> these fields for a cleaner user experience.</a:t>
            </a:r>
          </a:p>
          <a:p>
            <a:endParaRPr lang="en-US" sz="1400" dirty="0"/>
          </a:p>
          <a:p>
            <a:r>
              <a:rPr lang="en-US" sz="1400" dirty="0"/>
              <a:t>🔹 </a:t>
            </a:r>
            <a:r>
              <a:rPr lang="en-US" sz="1400" b="1" dirty="0"/>
              <a:t>Challenge:</a:t>
            </a:r>
            <a:r>
              <a:rPr lang="en-US" sz="1400" dirty="0"/>
              <a:t> </a:t>
            </a:r>
            <a:r>
              <a:rPr lang="en-US" sz="1400" b="1" dirty="0"/>
              <a:t>Dataset Creation Form</a:t>
            </a:r>
            <a:r>
              <a:rPr lang="en-US" sz="1400" dirty="0"/>
              <a:t> – Limited ability to </a:t>
            </a:r>
            <a:r>
              <a:rPr lang="en-US" sz="1400" b="1" dirty="0"/>
              <a:t>apply real-time filtering</a:t>
            </a:r>
            <a:r>
              <a:rPr lang="en-US" sz="1400" dirty="0"/>
              <a:t> on selections.</a:t>
            </a:r>
            <a:br>
              <a:rPr lang="en-US" sz="1400" dirty="0"/>
            </a:br>
            <a:r>
              <a:rPr lang="en-US" sz="1400" dirty="0"/>
              <a:t>✅ </a:t>
            </a:r>
            <a:r>
              <a:rPr lang="en-US" sz="1400" b="1" dirty="0"/>
              <a:t>Solution:</a:t>
            </a:r>
            <a:r>
              <a:rPr lang="en-US" sz="1400" dirty="0"/>
              <a:t> Script enhancements enabled </a:t>
            </a:r>
            <a:r>
              <a:rPr lang="en-US" sz="1400" b="1" dirty="0"/>
              <a:t>real-time updates</a:t>
            </a:r>
            <a:r>
              <a:rPr lang="en-US" sz="1400" dirty="0"/>
              <a:t> based on </a:t>
            </a:r>
            <a:r>
              <a:rPr lang="en-US" sz="1400" b="1" dirty="0"/>
              <a:t>user selections</a:t>
            </a:r>
            <a:r>
              <a:rPr lang="en-US" sz="1400" dirty="0"/>
              <a:t>.</a:t>
            </a:r>
          </a:p>
          <a:p>
            <a:endParaRPr lang="en-US" sz="1400" dirty="0"/>
          </a:p>
          <a:p>
            <a:r>
              <a:rPr lang="en-US" sz="1400" dirty="0"/>
              <a:t>🔹 </a:t>
            </a:r>
            <a:r>
              <a:rPr lang="en-US" sz="1400" b="1" dirty="0"/>
              <a:t>Challenge:</a:t>
            </a:r>
            <a:r>
              <a:rPr lang="en-US" sz="1400" dirty="0"/>
              <a:t> </a:t>
            </a:r>
            <a:r>
              <a:rPr lang="en-US" sz="1400" b="1" dirty="0"/>
              <a:t>IT and Cloud Request Form</a:t>
            </a:r>
            <a:r>
              <a:rPr lang="en-US" sz="1400" dirty="0"/>
              <a:t> failed to load correctly via </a:t>
            </a:r>
            <a:r>
              <a:rPr lang="en-US" sz="1400" b="1" dirty="0"/>
              <a:t>direct link access</a:t>
            </a:r>
            <a:r>
              <a:rPr lang="en-US" sz="1400" dirty="0"/>
              <a:t>.</a:t>
            </a:r>
            <a:br>
              <a:rPr lang="en-US" sz="1400" dirty="0"/>
            </a:br>
            <a:r>
              <a:rPr lang="en-US" sz="1400" dirty="0"/>
              <a:t>✅ </a:t>
            </a:r>
            <a:r>
              <a:rPr lang="en-US" sz="1400" b="1" dirty="0"/>
              <a:t>Solution:</a:t>
            </a:r>
            <a:r>
              <a:rPr lang="en-US" sz="1400" dirty="0"/>
              <a:t> Debugged and </a:t>
            </a:r>
            <a:r>
              <a:rPr lang="en-US" sz="1400" b="1" dirty="0"/>
              <a:t>fixed form loading behavior</a:t>
            </a:r>
            <a:r>
              <a:rPr lang="en-US" sz="1400" dirty="0"/>
              <a:t> by modifying Zendesk's unique ID handling.</a:t>
            </a:r>
          </a:p>
          <a:p>
            <a:endParaRPr lang="en-US" sz="1400" dirty="0"/>
          </a:p>
          <a:p>
            <a:r>
              <a:rPr lang="en-US" sz="1400" dirty="0"/>
              <a:t>🔹 </a:t>
            </a:r>
            <a:r>
              <a:rPr lang="en-US" sz="1400" b="1" dirty="0"/>
              <a:t>Challenge:</a:t>
            </a:r>
            <a:r>
              <a:rPr lang="en-US" sz="1400" dirty="0"/>
              <a:t> </a:t>
            </a:r>
            <a:r>
              <a:rPr lang="en-US" sz="1400" b="1" dirty="0" err="1"/>
              <a:t>Surveysparrow</a:t>
            </a:r>
            <a:r>
              <a:rPr lang="en-US" sz="1400" b="1" dirty="0"/>
              <a:t> widget</a:t>
            </a:r>
            <a:r>
              <a:rPr lang="en-US" sz="1400" dirty="0"/>
              <a:t> missing expected </a:t>
            </a:r>
            <a:r>
              <a:rPr lang="en-US" sz="1400" b="1" dirty="0"/>
              <a:t>sliding animation</a:t>
            </a:r>
            <a:r>
              <a:rPr lang="en-US" sz="1400" dirty="0"/>
              <a:t>.</a:t>
            </a:r>
            <a:br>
              <a:rPr lang="en-US" sz="1400" dirty="0"/>
            </a:br>
            <a:r>
              <a:rPr lang="en-US" sz="1400" dirty="0"/>
              <a:t>✅ </a:t>
            </a:r>
            <a:r>
              <a:rPr lang="en-US" sz="1400" b="1" dirty="0"/>
              <a:t>Solution:</a:t>
            </a:r>
            <a:r>
              <a:rPr lang="en-US" sz="1400" dirty="0"/>
              <a:t> Modified </a:t>
            </a:r>
            <a:r>
              <a:rPr lang="en-US" sz="1400" b="1" dirty="0"/>
              <a:t>JavaScript and CSS</a:t>
            </a:r>
            <a:r>
              <a:rPr lang="en-US" sz="1400" dirty="0"/>
              <a:t> to add a </a:t>
            </a:r>
            <a:r>
              <a:rPr lang="en-US" sz="1400" b="1" dirty="0"/>
              <a:t>custom sliding effect</a:t>
            </a:r>
            <a:r>
              <a:rPr lang="en-US" sz="1400" dirty="0"/>
              <a:t> for a better UI/UX.</a:t>
            </a:r>
          </a:p>
          <a:p>
            <a:endParaRPr lang="en-US" sz="1400" dirty="0"/>
          </a:p>
          <a:p>
            <a:r>
              <a:rPr lang="en-US" sz="1400" dirty="0"/>
              <a:t>🚀 </a:t>
            </a:r>
            <a:r>
              <a:rPr lang="en-US" sz="1400" b="1" dirty="0"/>
              <a:t>Continuous Focus:</a:t>
            </a:r>
            <a:r>
              <a:rPr lang="en-US" sz="1400" dirty="0"/>
              <a:t> Improving automation efficiency, reducing manual interventions, and enhancing </a:t>
            </a:r>
            <a:r>
              <a:rPr lang="en-US" sz="1400" b="1" dirty="0"/>
              <a:t>Zendesk workflow usability</a:t>
            </a:r>
            <a:r>
              <a:rPr lang="en-US" sz="1400" dirty="0"/>
              <a:t>.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18464F22-6DFD-4323-B177-373C5FBD339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75882" y="1324240"/>
            <a:ext cx="5339918" cy="32477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7182803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065">
              <a:lnSpc>
                <a:spcPct val="100000"/>
              </a:lnSpc>
              <a:spcBef>
                <a:spcPts val="100"/>
              </a:spcBef>
            </a:pPr>
            <a:r>
              <a:rPr lang="en-US" dirty="0"/>
              <a:t>Next Steps &amp; Focus Areas</a:t>
            </a:r>
            <a:endParaRPr spc="-45" dirty="0"/>
          </a:p>
        </p:txBody>
      </p:sp>
      <p:sp>
        <p:nvSpPr>
          <p:cNvPr id="3" name="object 3"/>
          <p:cNvSpPr txBox="1"/>
          <p:nvPr/>
        </p:nvSpPr>
        <p:spPr>
          <a:xfrm>
            <a:off x="286950" y="202765"/>
            <a:ext cx="3005455" cy="1359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US" sz="800" spc="10" dirty="0">
                <a:latin typeface="Tahoma"/>
                <a:cs typeface="Tahoma"/>
              </a:rPr>
              <a:t>Customer</a:t>
            </a:r>
            <a:r>
              <a:rPr lang="en-US" sz="800" spc="105" dirty="0">
                <a:latin typeface="Tahoma"/>
                <a:cs typeface="Tahoma"/>
              </a:rPr>
              <a:t> </a:t>
            </a:r>
            <a:r>
              <a:rPr lang="en-US" sz="800" spc="10" dirty="0">
                <a:latin typeface="Tahoma"/>
                <a:cs typeface="Tahoma"/>
              </a:rPr>
              <a:t>success:</a:t>
            </a:r>
            <a:r>
              <a:rPr lang="en-US" sz="800" spc="105" dirty="0">
                <a:latin typeface="Tahoma"/>
                <a:cs typeface="Tahoma"/>
              </a:rPr>
              <a:t> </a:t>
            </a:r>
            <a:r>
              <a:rPr lang="en-US" sz="800" spc="10" dirty="0">
                <a:latin typeface="Tahoma"/>
                <a:cs typeface="Tahoma"/>
              </a:rPr>
              <a:t>Weekly</a:t>
            </a:r>
            <a:r>
              <a:rPr lang="en-US" sz="800" spc="105" dirty="0">
                <a:latin typeface="Tahoma"/>
                <a:cs typeface="Tahoma"/>
              </a:rPr>
              <a:t> </a:t>
            </a:r>
            <a:r>
              <a:rPr lang="en-US" sz="800" spc="10" dirty="0">
                <a:latin typeface="Tahoma"/>
                <a:cs typeface="Tahoma"/>
              </a:rPr>
              <a:t>Support</a:t>
            </a:r>
            <a:r>
              <a:rPr lang="en-US" sz="800" spc="105" dirty="0">
                <a:latin typeface="Tahoma"/>
                <a:cs typeface="Tahoma"/>
              </a:rPr>
              <a:t> </a:t>
            </a:r>
            <a:r>
              <a:rPr lang="en-US" sz="800" spc="10" dirty="0">
                <a:latin typeface="Tahoma"/>
                <a:cs typeface="Tahoma"/>
              </a:rPr>
              <a:t>Report</a:t>
            </a:r>
            <a:r>
              <a:rPr lang="en-US" sz="800" spc="110" dirty="0">
                <a:latin typeface="Tahoma"/>
                <a:cs typeface="Tahoma"/>
              </a:rPr>
              <a:t> </a:t>
            </a:r>
            <a:r>
              <a:rPr lang="en-US" sz="800" spc="75" dirty="0">
                <a:latin typeface="Tahoma"/>
                <a:cs typeface="Tahoma"/>
              </a:rPr>
              <a:t>–</a:t>
            </a:r>
            <a:r>
              <a:rPr lang="en-US" sz="800" spc="105" dirty="0">
                <a:latin typeface="Tahoma"/>
                <a:cs typeface="Tahoma"/>
              </a:rPr>
              <a:t> </a:t>
            </a:r>
            <a:r>
              <a:rPr lang="en-US" sz="800" spc="10" dirty="0">
                <a:latin typeface="Tahoma"/>
                <a:cs typeface="Tahoma"/>
              </a:rPr>
              <a:t>18.03.2025</a:t>
            </a:r>
            <a:endParaRPr lang="en-US" sz="800" dirty="0">
              <a:latin typeface="Tahoma"/>
              <a:cs typeface="Tahoma"/>
            </a:endParaRPr>
          </a:p>
        </p:txBody>
      </p:sp>
      <p:sp>
        <p:nvSpPr>
          <p:cNvPr id="20" name="object 20"/>
          <p:cNvSpPr/>
          <p:nvPr/>
        </p:nvSpPr>
        <p:spPr>
          <a:xfrm>
            <a:off x="365370" y="1020108"/>
            <a:ext cx="330835" cy="274955"/>
          </a:xfrm>
          <a:custGeom>
            <a:avLst/>
            <a:gdLst/>
            <a:ahLst/>
            <a:cxnLst/>
            <a:rect l="l" t="t" r="r" b="b"/>
            <a:pathLst>
              <a:path w="330834" h="274955">
                <a:moveTo>
                  <a:pt x="0" y="0"/>
                </a:moveTo>
                <a:lnTo>
                  <a:pt x="0" y="213037"/>
                </a:lnTo>
                <a:lnTo>
                  <a:pt x="329085" y="213037"/>
                </a:lnTo>
              </a:path>
              <a:path w="330834" h="274955">
                <a:moveTo>
                  <a:pt x="270153" y="150573"/>
                </a:moveTo>
                <a:lnTo>
                  <a:pt x="330227" y="212754"/>
                </a:lnTo>
                <a:lnTo>
                  <a:pt x="270153" y="274936"/>
                </a:lnTo>
              </a:path>
            </a:pathLst>
          </a:custGeom>
          <a:ln w="952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" name="object 21"/>
          <p:cNvSpPr txBox="1"/>
          <p:nvPr/>
        </p:nvSpPr>
        <p:spPr>
          <a:xfrm>
            <a:off x="827174" y="1126751"/>
            <a:ext cx="1823085" cy="19749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US" sz="1200" spc="-30" dirty="0">
                <a:latin typeface="Tahoma"/>
                <a:cs typeface="Tahoma"/>
              </a:rPr>
              <a:t>What will be done:</a:t>
            </a:r>
            <a:endParaRPr sz="1200" dirty="0">
              <a:latin typeface="Tahoma"/>
              <a:cs typeface="Tahoma"/>
            </a:endParaRPr>
          </a:p>
        </p:txBody>
      </p:sp>
      <p:sp>
        <p:nvSpPr>
          <p:cNvPr id="22" name="object 22"/>
          <p:cNvSpPr txBox="1"/>
          <p:nvPr/>
        </p:nvSpPr>
        <p:spPr>
          <a:xfrm>
            <a:off x="281900" y="1578006"/>
            <a:ext cx="3393440" cy="289823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endParaRPr dirty="0">
              <a:latin typeface="Tahoma"/>
              <a:cs typeface="Tahoma"/>
            </a:endParaRPr>
          </a:p>
        </p:txBody>
      </p:sp>
      <p:sp>
        <p:nvSpPr>
          <p:cNvPr id="23" name="object 23"/>
          <p:cNvSpPr txBox="1"/>
          <p:nvPr/>
        </p:nvSpPr>
        <p:spPr>
          <a:xfrm>
            <a:off x="365370" y="1578006"/>
            <a:ext cx="5502030" cy="453713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r>
              <a:rPr lang="en-US" sz="1400" b="1" dirty="0"/>
              <a:t>Slide 7: Next Steps &amp; Focus Areas</a:t>
            </a:r>
          </a:p>
          <a:p>
            <a:endParaRPr lang="en-US" sz="1400" b="1" dirty="0"/>
          </a:p>
          <a:p>
            <a:r>
              <a:rPr lang="en-US" sz="1400" dirty="0"/>
              <a:t>📌 </a:t>
            </a:r>
            <a:r>
              <a:rPr lang="en-US" sz="1400" b="1" dirty="0"/>
              <a:t>Zendesk</a:t>
            </a:r>
          </a:p>
          <a:p>
            <a:br>
              <a:rPr lang="en-US" sz="1400" dirty="0"/>
            </a:br>
            <a:r>
              <a:rPr lang="en-US" sz="1400" dirty="0"/>
              <a:t>✅ Finalizing </a:t>
            </a:r>
            <a:r>
              <a:rPr lang="en-US" sz="1400" b="1" dirty="0"/>
              <a:t>Dataset Creation Form</a:t>
            </a:r>
            <a:r>
              <a:rPr lang="en-US" sz="1400" dirty="0"/>
              <a:t> (300+ fields, nearing completion).</a:t>
            </a:r>
            <a:br>
              <a:rPr lang="en-US" sz="1400" dirty="0"/>
            </a:br>
            <a:r>
              <a:rPr lang="en-US" sz="1400" dirty="0"/>
              <a:t>✅ Increasing </a:t>
            </a:r>
            <a:r>
              <a:rPr lang="en-US" sz="1400" b="1" dirty="0"/>
              <a:t>Level 2 ticket</a:t>
            </a:r>
            <a:r>
              <a:rPr lang="en-US" sz="1400" dirty="0"/>
              <a:t> responsibility (expanding beyond IP whitelisting).</a:t>
            </a:r>
          </a:p>
          <a:p>
            <a:endParaRPr lang="en-US" sz="1400" dirty="0"/>
          </a:p>
          <a:p>
            <a:r>
              <a:rPr lang="en-US" sz="1400" dirty="0"/>
              <a:t>📌 </a:t>
            </a:r>
            <a:r>
              <a:rPr lang="en-US" sz="1400" b="1" dirty="0"/>
              <a:t>Owkin K Documentation</a:t>
            </a:r>
          </a:p>
          <a:p>
            <a:br>
              <a:rPr lang="en-US" sz="1400" dirty="0"/>
            </a:br>
            <a:r>
              <a:rPr lang="en-US" sz="1400" dirty="0"/>
              <a:t>✅ Completing </a:t>
            </a:r>
            <a:r>
              <a:rPr lang="en-US" sz="1400" b="1" dirty="0"/>
              <a:t>User Guide</a:t>
            </a:r>
            <a:r>
              <a:rPr lang="en-US" sz="1400" dirty="0"/>
              <a:t> before Owkin K’s internal launch.</a:t>
            </a:r>
            <a:br>
              <a:rPr lang="en-US" sz="1400" dirty="0"/>
            </a:br>
            <a:r>
              <a:rPr lang="en-US" sz="1400" dirty="0"/>
              <a:t>✅ Implementing structured </a:t>
            </a:r>
            <a:r>
              <a:rPr lang="en-US" sz="1400" b="1" dirty="0"/>
              <a:t>support strategy</a:t>
            </a:r>
            <a:r>
              <a:rPr lang="en-US" sz="1400" dirty="0"/>
              <a:t> for end-users.</a:t>
            </a:r>
          </a:p>
          <a:p>
            <a:endParaRPr lang="en-US" sz="1400" dirty="0"/>
          </a:p>
          <a:p>
            <a:r>
              <a:rPr lang="en-US" sz="1400" dirty="0"/>
              <a:t>📌 </a:t>
            </a:r>
            <a:r>
              <a:rPr lang="en-US" sz="1400" b="1" dirty="0" err="1"/>
              <a:t>Surveysparrow</a:t>
            </a:r>
            <a:r>
              <a:rPr lang="en-US" sz="1400" b="1" dirty="0"/>
              <a:t> Widget</a:t>
            </a:r>
          </a:p>
          <a:p>
            <a:br>
              <a:rPr lang="en-US" sz="1400" dirty="0"/>
            </a:br>
            <a:r>
              <a:rPr lang="en-US" sz="1400" dirty="0"/>
              <a:t>✅ Final testing and deployment of </a:t>
            </a:r>
            <a:r>
              <a:rPr lang="en-US" sz="1400" b="1" dirty="0"/>
              <a:t>custom animations</a:t>
            </a:r>
            <a:r>
              <a:rPr lang="en-US" sz="1400" dirty="0"/>
              <a:t> for better UI/UX.</a:t>
            </a:r>
          </a:p>
          <a:p>
            <a:endParaRPr lang="en-US" sz="1400" dirty="0"/>
          </a:p>
          <a:p>
            <a:r>
              <a:rPr lang="en-US" sz="1400" dirty="0"/>
              <a:t>🚀 </a:t>
            </a:r>
            <a:r>
              <a:rPr lang="en-US" sz="1400" b="1" dirty="0"/>
              <a:t>Focus:</a:t>
            </a:r>
            <a:r>
              <a:rPr lang="en-US" sz="1400" dirty="0"/>
              <a:t> Expanding technical responsibilities and improving automation efficiency.</a:t>
            </a:r>
          </a:p>
        </p:txBody>
      </p:sp>
      <p:sp>
        <p:nvSpPr>
          <p:cNvPr id="55" name="object 55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952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75"/>
              </a:spcBef>
            </a:pPr>
            <a:r>
              <a:rPr spc="10" dirty="0"/>
              <a:t>Confidential</a:t>
            </a:r>
            <a:r>
              <a:rPr spc="35" dirty="0"/>
              <a:t> </a:t>
            </a:r>
            <a:r>
              <a:rPr spc="10" dirty="0"/>
              <a:t>information:</a:t>
            </a:r>
            <a:r>
              <a:rPr spc="35" dirty="0"/>
              <a:t> </a:t>
            </a:r>
            <a:r>
              <a:rPr spc="10" dirty="0"/>
              <a:t>do</a:t>
            </a:r>
            <a:r>
              <a:rPr spc="40" dirty="0"/>
              <a:t> </a:t>
            </a:r>
            <a:r>
              <a:rPr spc="10" dirty="0"/>
              <a:t>not</a:t>
            </a:r>
            <a:r>
              <a:rPr spc="35" dirty="0"/>
              <a:t> </a:t>
            </a:r>
            <a:r>
              <a:rPr spc="10" dirty="0"/>
              <a:t>share</a:t>
            </a:r>
            <a:r>
              <a:rPr spc="40" dirty="0"/>
              <a:t> </a:t>
            </a:r>
            <a:r>
              <a:rPr spc="10" dirty="0"/>
              <a:t>without</a:t>
            </a:r>
            <a:r>
              <a:rPr spc="35" dirty="0"/>
              <a:t> </a:t>
            </a:r>
            <a:r>
              <a:rPr spc="10" dirty="0"/>
              <a:t>written</a:t>
            </a:r>
            <a:r>
              <a:rPr spc="40" dirty="0"/>
              <a:t> </a:t>
            </a:r>
            <a:r>
              <a:rPr spc="10" dirty="0"/>
              <a:t>permission</a:t>
            </a:r>
            <a:r>
              <a:rPr spc="35" dirty="0"/>
              <a:t> </a:t>
            </a:r>
            <a:r>
              <a:rPr spc="10" dirty="0"/>
              <a:t>from</a:t>
            </a:r>
            <a:r>
              <a:rPr spc="35" dirty="0"/>
              <a:t> </a:t>
            </a:r>
            <a:r>
              <a:rPr spc="10" dirty="0"/>
              <a:t>Owkin,</a:t>
            </a:r>
            <a:r>
              <a:rPr spc="40" dirty="0"/>
              <a:t> </a:t>
            </a:r>
            <a:r>
              <a:rPr spc="-20" dirty="0"/>
              <a:t>Inc.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B2BA0A04-0ABA-4043-9DA8-0A5BEE82D7FE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6544821" y="739480"/>
            <a:ext cx="3894579" cy="49628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5721292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065">
              <a:lnSpc>
                <a:spcPct val="100000"/>
              </a:lnSpc>
              <a:spcBef>
                <a:spcPts val="100"/>
              </a:spcBef>
            </a:pPr>
            <a:r>
              <a:rPr lang="en-US" b="1" dirty="0"/>
              <a:t>Q&amp;A</a:t>
            </a:r>
            <a:endParaRPr spc="-45" dirty="0"/>
          </a:p>
        </p:txBody>
      </p:sp>
      <p:sp>
        <p:nvSpPr>
          <p:cNvPr id="3" name="object 3"/>
          <p:cNvSpPr txBox="1"/>
          <p:nvPr/>
        </p:nvSpPr>
        <p:spPr>
          <a:xfrm>
            <a:off x="286950" y="202765"/>
            <a:ext cx="3005455" cy="1359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US" sz="800" spc="10" dirty="0">
                <a:latin typeface="Tahoma"/>
                <a:cs typeface="Tahoma"/>
              </a:rPr>
              <a:t>Customer</a:t>
            </a:r>
            <a:r>
              <a:rPr lang="en-US" sz="800" spc="105" dirty="0">
                <a:latin typeface="Tahoma"/>
                <a:cs typeface="Tahoma"/>
              </a:rPr>
              <a:t> </a:t>
            </a:r>
            <a:r>
              <a:rPr lang="en-US" sz="800" spc="10" dirty="0">
                <a:latin typeface="Tahoma"/>
                <a:cs typeface="Tahoma"/>
              </a:rPr>
              <a:t>success:</a:t>
            </a:r>
            <a:r>
              <a:rPr lang="en-US" sz="800" spc="105" dirty="0">
                <a:latin typeface="Tahoma"/>
                <a:cs typeface="Tahoma"/>
              </a:rPr>
              <a:t> </a:t>
            </a:r>
            <a:r>
              <a:rPr lang="en-US" sz="800" spc="10" dirty="0">
                <a:latin typeface="Tahoma"/>
                <a:cs typeface="Tahoma"/>
              </a:rPr>
              <a:t>Weekly</a:t>
            </a:r>
            <a:r>
              <a:rPr lang="en-US" sz="800" spc="105" dirty="0">
                <a:latin typeface="Tahoma"/>
                <a:cs typeface="Tahoma"/>
              </a:rPr>
              <a:t> </a:t>
            </a:r>
            <a:r>
              <a:rPr lang="en-US" sz="800" spc="10" dirty="0">
                <a:latin typeface="Tahoma"/>
                <a:cs typeface="Tahoma"/>
              </a:rPr>
              <a:t>Support</a:t>
            </a:r>
            <a:r>
              <a:rPr lang="en-US" sz="800" spc="105" dirty="0">
                <a:latin typeface="Tahoma"/>
                <a:cs typeface="Tahoma"/>
              </a:rPr>
              <a:t> </a:t>
            </a:r>
            <a:r>
              <a:rPr lang="en-US" sz="800" spc="10" dirty="0">
                <a:latin typeface="Tahoma"/>
                <a:cs typeface="Tahoma"/>
              </a:rPr>
              <a:t>Report</a:t>
            </a:r>
            <a:r>
              <a:rPr lang="en-US" sz="800" spc="110" dirty="0">
                <a:latin typeface="Tahoma"/>
                <a:cs typeface="Tahoma"/>
              </a:rPr>
              <a:t> </a:t>
            </a:r>
            <a:r>
              <a:rPr lang="en-US" sz="800" spc="75" dirty="0">
                <a:latin typeface="Tahoma"/>
                <a:cs typeface="Tahoma"/>
              </a:rPr>
              <a:t>–</a:t>
            </a:r>
            <a:r>
              <a:rPr lang="en-US" sz="800" spc="105" dirty="0">
                <a:latin typeface="Tahoma"/>
                <a:cs typeface="Tahoma"/>
              </a:rPr>
              <a:t> </a:t>
            </a:r>
            <a:r>
              <a:rPr lang="en-US" sz="800" spc="10" dirty="0">
                <a:latin typeface="Tahoma"/>
                <a:cs typeface="Tahoma"/>
              </a:rPr>
              <a:t>25.02.2025</a:t>
            </a:r>
            <a:endParaRPr lang="en-US" sz="800" dirty="0">
              <a:latin typeface="Tahoma"/>
              <a:cs typeface="Tahoma"/>
            </a:endParaRPr>
          </a:p>
        </p:txBody>
      </p:sp>
      <p:sp>
        <p:nvSpPr>
          <p:cNvPr id="20" name="object 20"/>
          <p:cNvSpPr/>
          <p:nvPr/>
        </p:nvSpPr>
        <p:spPr>
          <a:xfrm>
            <a:off x="365370" y="1020108"/>
            <a:ext cx="330835" cy="274955"/>
          </a:xfrm>
          <a:custGeom>
            <a:avLst/>
            <a:gdLst/>
            <a:ahLst/>
            <a:cxnLst/>
            <a:rect l="l" t="t" r="r" b="b"/>
            <a:pathLst>
              <a:path w="330834" h="274955">
                <a:moveTo>
                  <a:pt x="0" y="0"/>
                </a:moveTo>
                <a:lnTo>
                  <a:pt x="0" y="213037"/>
                </a:lnTo>
                <a:lnTo>
                  <a:pt x="329085" y="213037"/>
                </a:lnTo>
              </a:path>
              <a:path w="330834" h="274955">
                <a:moveTo>
                  <a:pt x="270153" y="150573"/>
                </a:moveTo>
                <a:lnTo>
                  <a:pt x="330227" y="212754"/>
                </a:lnTo>
                <a:lnTo>
                  <a:pt x="270153" y="274936"/>
                </a:lnTo>
              </a:path>
            </a:pathLst>
          </a:custGeom>
          <a:ln w="952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" name="object 21"/>
          <p:cNvSpPr txBox="1"/>
          <p:nvPr/>
        </p:nvSpPr>
        <p:spPr>
          <a:xfrm>
            <a:off x="827174" y="1126751"/>
            <a:ext cx="1823085" cy="19749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US" sz="1200" spc="-30" dirty="0">
                <a:latin typeface="Tahoma"/>
                <a:cs typeface="Tahoma"/>
              </a:rPr>
              <a:t>?</a:t>
            </a:r>
            <a:endParaRPr sz="1200" dirty="0">
              <a:latin typeface="Tahoma"/>
              <a:cs typeface="Tahoma"/>
            </a:endParaRPr>
          </a:p>
        </p:txBody>
      </p:sp>
      <p:sp>
        <p:nvSpPr>
          <p:cNvPr id="22" name="object 22"/>
          <p:cNvSpPr txBox="1"/>
          <p:nvPr/>
        </p:nvSpPr>
        <p:spPr>
          <a:xfrm>
            <a:off x="281900" y="1578006"/>
            <a:ext cx="5052100" cy="361381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r>
              <a:rPr lang="en-US" dirty="0"/>
              <a:t>🔹 </a:t>
            </a:r>
            <a:r>
              <a:rPr lang="en-US" b="1" dirty="0"/>
              <a:t>Where will the Owkin K documentation be hosted?</a:t>
            </a:r>
          </a:p>
          <a:p>
            <a:endParaRPr lang="en-US" dirty="0"/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Do we have a dedicated tool or platform for hosting this documentation?</a:t>
            </a:r>
          </a:p>
          <a:p>
            <a:endParaRPr lang="en-US" dirty="0"/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Will we use </a:t>
            </a:r>
            <a:r>
              <a:rPr lang="en-US" b="1" dirty="0"/>
              <a:t>Zendesk Guide</a:t>
            </a:r>
            <a:r>
              <a:rPr lang="en-US" dirty="0"/>
              <a:t> or another knowledge base solution?</a:t>
            </a:r>
          </a:p>
          <a:p>
            <a:pPr>
              <a:buFont typeface="Arial" panose="020B0604020202020204" pitchFamily="34" charset="0"/>
              <a:buChar char="•"/>
            </a:pPr>
            <a:endParaRPr lang="en-US" dirty="0"/>
          </a:p>
          <a:p>
            <a:r>
              <a:rPr lang="en-US" dirty="0"/>
              <a:t>🔹 </a:t>
            </a:r>
            <a:r>
              <a:rPr lang="en-US" b="1" dirty="0"/>
              <a:t>LLM API Requests – How can I assist?</a:t>
            </a:r>
          </a:p>
          <a:p>
            <a:endParaRPr lang="en-US" dirty="0"/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Could I get the </a:t>
            </a:r>
            <a:r>
              <a:rPr lang="en-US" b="1" dirty="0"/>
              <a:t>necessary permissions and access rights</a:t>
            </a:r>
            <a:r>
              <a:rPr lang="en-US" dirty="0"/>
              <a:t> to start working on this?</a:t>
            </a:r>
          </a:p>
        </p:txBody>
      </p:sp>
      <p:sp>
        <p:nvSpPr>
          <p:cNvPr id="55" name="object 55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952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75"/>
              </a:spcBef>
            </a:pPr>
            <a:r>
              <a:rPr spc="10" dirty="0"/>
              <a:t>Confidential</a:t>
            </a:r>
            <a:r>
              <a:rPr spc="35" dirty="0"/>
              <a:t> </a:t>
            </a:r>
            <a:r>
              <a:rPr spc="10" dirty="0"/>
              <a:t>information:</a:t>
            </a:r>
            <a:r>
              <a:rPr spc="35" dirty="0"/>
              <a:t> </a:t>
            </a:r>
            <a:r>
              <a:rPr spc="10" dirty="0"/>
              <a:t>do</a:t>
            </a:r>
            <a:r>
              <a:rPr spc="40" dirty="0"/>
              <a:t> </a:t>
            </a:r>
            <a:r>
              <a:rPr spc="10" dirty="0"/>
              <a:t>not</a:t>
            </a:r>
            <a:r>
              <a:rPr spc="35" dirty="0"/>
              <a:t> </a:t>
            </a:r>
            <a:r>
              <a:rPr spc="10" dirty="0"/>
              <a:t>share</a:t>
            </a:r>
            <a:r>
              <a:rPr spc="40" dirty="0"/>
              <a:t> </a:t>
            </a:r>
            <a:r>
              <a:rPr spc="10" dirty="0"/>
              <a:t>without</a:t>
            </a:r>
            <a:r>
              <a:rPr spc="35" dirty="0"/>
              <a:t> </a:t>
            </a:r>
            <a:r>
              <a:rPr spc="10" dirty="0"/>
              <a:t>written</a:t>
            </a:r>
            <a:r>
              <a:rPr spc="40" dirty="0"/>
              <a:t> </a:t>
            </a:r>
            <a:r>
              <a:rPr spc="10" dirty="0"/>
              <a:t>permission</a:t>
            </a:r>
            <a:r>
              <a:rPr spc="35" dirty="0"/>
              <a:t> </a:t>
            </a:r>
            <a:r>
              <a:rPr spc="10" dirty="0"/>
              <a:t>from</a:t>
            </a:r>
            <a:r>
              <a:rPr spc="35" dirty="0"/>
              <a:t> </a:t>
            </a:r>
            <a:r>
              <a:rPr spc="10" dirty="0"/>
              <a:t>Owkin,</a:t>
            </a:r>
            <a:r>
              <a:rPr spc="40" dirty="0"/>
              <a:t> </a:t>
            </a:r>
            <a:r>
              <a:rPr spc="-20" dirty="0"/>
              <a:t>Inc.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361F541F-F946-46A9-AF71-65D564609B8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399" y="688657"/>
            <a:ext cx="4685827" cy="51217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1780717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5634888" y="2259134"/>
            <a:ext cx="3510915" cy="9398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6000" spc="-170" dirty="0"/>
              <a:t>Thank</a:t>
            </a:r>
            <a:r>
              <a:rPr sz="6000" spc="-509" dirty="0"/>
              <a:t> </a:t>
            </a:r>
            <a:r>
              <a:rPr sz="6000" spc="-310" dirty="0"/>
              <a:t>you!</a:t>
            </a:r>
            <a:endParaRPr sz="6000"/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061914" y="1692574"/>
            <a:ext cx="3844118" cy="3844126"/>
          </a:xfrm>
          <a:prstGeom prst="rect">
            <a:avLst/>
          </a:prstGeom>
        </p:spPr>
      </p:pic>
      <p:sp>
        <p:nvSpPr>
          <p:cNvPr id="4" name="object 4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952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75"/>
              </a:spcBef>
            </a:pPr>
            <a:r>
              <a:rPr spc="10" dirty="0"/>
              <a:t>Confidential</a:t>
            </a:r>
            <a:r>
              <a:rPr spc="35" dirty="0"/>
              <a:t> </a:t>
            </a:r>
            <a:r>
              <a:rPr spc="10" dirty="0"/>
              <a:t>information:</a:t>
            </a:r>
            <a:r>
              <a:rPr spc="35" dirty="0"/>
              <a:t> </a:t>
            </a:r>
            <a:r>
              <a:rPr spc="10" dirty="0"/>
              <a:t>do</a:t>
            </a:r>
            <a:r>
              <a:rPr spc="40" dirty="0"/>
              <a:t> </a:t>
            </a:r>
            <a:r>
              <a:rPr spc="10" dirty="0"/>
              <a:t>not</a:t>
            </a:r>
            <a:r>
              <a:rPr spc="35" dirty="0"/>
              <a:t> </a:t>
            </a:r>
            <a:r>
              <a:rPr spc="10" dirty="0"/>
              <a:t>share</a:t>
            </a:r>
            <a:r>
              <a:rPr spc="40" dirty="0"/>
              <a:t> </a:t>
            </a:r>
            <a:r>
              <a:rPr spc="10" dirty="0"/>
              <a:t>without</a:t>
            </a:r>
            <a:r>
              <a:rPr spc="35" dirty="0"/>
              <a:t> </a:t>
            </a:r>
            <a:r>
              <a:rPr spc="10" dirty="0"/>
              <a:t>written</a:t>
            </a:r>
            <a:r>
              <a:rPr spc="40" dirty="0"/>
              <a:t> </a:t>
            </a:r>
            <a:r>
              <a:rPr spc="10" dirty="0"/>
              <a:t>permission</a:t>
            </a:r>
            <a:r>
              <a:rPr spc="35" dirty="0"/>
              <a:t> </a:t>
            </a:r>
            <a:r>
              <a:rPr spc="10" dirty="0"/>
              <a:t>from</a:t>
            </a:r>
            <a:r>
              <a:rPr spc="35" dirty="0"/>
              <a:t> </a:t>
            </a:r>
            <a:r>
              <a:rPr spc="10" dirty="0"/>
              <a:t>Owkin,</a:t>
            </a:r>
            <a:r>
              <a:rPr spc="40" dirty="0"/>
              <a:t> </a:t>
            </a:r>
            <a:r>
              <a:rPr spc="-20" dirty="0"/>
              <a:t>Inc.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9E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2839</TotalTime>
  <Words>880</Words>
  <Application>Microsoft Office PowerPoint</Application>
  <PresentationFormat>Widescreen</PresentationFormat>
  <Paragraphs>106</Paragraphs>
  <Slides>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3" baseType="lpstr">
      <vt:lpstr>Arial</vt:lpstr>
      <vt:lpstr>Calibri</vt:lpstr>
      <vt:lpstr>Tahoma</vt:lpstr>
      <vt:lpstr>Office Theme</vt:lpstr>
      <vt:lpstr>Abstra</vt:lpstr>
      <vt:lpstr>Agenda</vt:lpstr>
      <vt:lpstr>Zendesk Support &amp; Performance Update</vt:lpstr>
      <vt:lpstr>Owkin K Documentation Progress</vt:lpstr>
      <vt:lpstr>Surveysparrow Widget Implementation</vt:lpstr>
      <vt:lpstr>Challenges &amp; Solutions</vt:lpstr>
      <vt:lpstr>Next Steps &amp; Focus Areas</vt:lpstr>
      <vt:lpstr>Q&amp;A</vt:lpstr>
      <vt:lpstr>Thank you!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Customer success: Monthly Support Report - December 2024</dc:title>
  <dc:creator>LM_Win10</dc:creator>
  <cp:lastModifiedBy>Lazar Milicevic</cp:lastModifiedBy>
  <cp:revision>43</cp:revision>
  <dcterms:created xsi:type="dcterms:W3CDTF">2025-01-30T08:33:59Z</dcterms:created>
  <dcterms:modified xsi:type="dcterms:W3CDTF">2025-03-25T08:22:19Z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2025-01-30T00:00:00Z</vt:filetime>
  </property>
  <property fmtid="{D5CDD505-2E9C-101B-9397-08002B2CF9AE}" pid="3" name="Creator">
    <vt:lpwstr>Google</vt:lpwstr>
  </property>
  <property fmtid="{D5CDD505-2E9C-101B-9397-08002B2CF9AE}" pid="4" name="LastSaved">
    <vt:filetime>2025-01-30T00:00:00Z</vt:filetime>
  </property>
</Properties>
</file>