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90" r:id="rId5"/>
    <p:sldId id="283" r:id="rId6"/>
    <p:sldId id="289" r:id="rId7"/>
    <p:sldId id="287" r:id="rId8"/>
    <p:sldId id="288" r:id="rId9"/>
    <p:sldId id="291" r:id="rId10"/>
    <p:sldId id="286" r:id="rId11"/>
    <p:sldId id="281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8" autoAdjust="0"/>
    <p:restoredTop sz="94660"/>
  </p:normalViewPr>
  <p:slideViewPr>
    <p:cSldViewPr>
      <p:cViewPr varScale="1">
        <p:scale>
          <a:sx n="59" d="100"/>
          <a:sy n="59" d="100"/>
        </p:scale>
        <p:origin x="39" y="12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owkinhelp.zendesk.com/agent/tickets/4465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32197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400" spc="10" dirty="0">
                <a:latin typeface="Tahoma"/>
                <a:cs typeface="Tahoma"/>
              </a:rPr>
              <a:t>25.03.2025</a:t>
            </a:r>
            <a:endParaRPr lang="en-US"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19200" y="4579067"/>
            <a:ext cx="2312035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Owkin K Platform: Help Center, Documentation, and Widget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963095" y="4579067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3. Dataset Form in Zendesk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57738" y="5665047"/>
            <a:ext cx="1867157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Zendesk Ticketing Workflow Improvements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992305" y="5587209"/>
            <a:ext cx="207454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Hackathon Access Update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26457" y="4579067"/>
            <a:ext cx="16764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Challenges &amp; Solutions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6626456" y="5623344"/>
            <a:ext cx="16764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6. Next Steps &amp; Focus Areas</a:t>
            </a:r>
            <a:endParaRPr sz="1600" dirty="0">
              <a:latin typeface="Tahoma"/>
              <a:cs typeface="Tahoma"/>
            </a:endParaRPr>
          </a:p>
        </p:txBody>
      </p:sp>
      <p:sp>
        <p:nvSpPr>
          <p:cNvPr id="16" name="object 13">
            <a:extLst>
              <a:ext uri="{FF2B5EF4-FFF2-40B4-BE49-F238E27FC236}">
                <a16:creationId xmlns:a16="http://schemas.microsoft.com/office/drawing/2014/main" id="{935A8F51-523F-45F0-8E9E-4926C087DB69}"/>
              </a:ext>
            </a:extLst>
          </p:cNvPr>
          <p:cNvSpPr txBox="1"/>
          <p:nvPr/>
        </p:nvSpPr>
        <p:spPr>
          <a:xfrm>
            <a:off x="8686800" y="4579067"/>
            <a:ext cx="1676402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7. Q&amp;A</a:t>
            </a:r>
            <a:endParaRPr sz="15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879947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Owkin K Platform: Help Center, Documentation, and Widget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560020-C041-44C5-B3D3-BED7CC30C980}"/>
              </a:ext>
            </a:extLst>
          </p:cNvPr>
          <p:cNvSpPr txBox="1"/>
          <p:nvPr/>
        </p:nvSpPr>
        <p:spPr>
          <a:xfrm>
            <a:off x="76200" y="1717674"/>
            <a:ext cx="5638800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</a:t>
            </a:r>
            <a:r>
              <a:rPr lang="en-US" sz="1400" b="1" dirty="0"/>
              <a:t>Help Center Visibility &amp; Content Updates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Help Center access was updated – it is now available </a:t>
            </a:r>
            <a:r>
              <a:rPr lang="en-US" sz="1400" b="1" dirty="0"/>
              <a:t>only to users with </a:t>
            </a:r>
            <a:r>
              <a:rPr lang="en-US" sz="1400" b="1" dirty="0" err="1"/>
              <a:t>JumpCloud</a:t>
            </a:r>
            <a:r>
              <a:rPr lang="en-US" sz="1400" b="1" dirty="0"/>
              <a:t> accounts</a:t>
            </a:r>
            <a:r>
              <a:rPr lang="en-US" sz="1400" dirty="0"/>
              <a:t>, based on internal feedback.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 </a:t>
            </a:r>
            <a:r>
              <a:rPr lang="en-US" sz="1400" b="1" dirty="0"/>
              <a:t>dedicated instance of the Help Center</a:t>
            </a:r>
            <a:r>
              <a:rPr lang="en-US" sz="1400" dirty="0"/>
              <a:t> was created and launched for </a:t>
            </a:r>
            <a:r>
              <a:rPr lang="en-US" sz="1400" b="1" dirty="0"/>
              <a:t>Owkin K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20 FAQ articles</a:t>
            </a:r>
            <a:r>
              <a:rPr lang="en-US" sz="1400" dirty="0"/>
              <a:t> were created and published to address common onboarding and usage questions.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The </a:t>
            </a:r>
            <a:r>
              <a:rPr lang="en-US" sz="1400" b="1" dirty="0"/>
              <a:t>initial support article</a:t>
            </a:r>
            <a:r>
              <a:rPr lang="en-US" sz="1400" dirty="0"/>
              <a:t> was published to help guide new users through the platform.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Visual and branding updates were applied to ensure consistency with the </a:t>
            </a:r>
            <a:r>
              <a:rPr lang="en-US" sz="1400" b="1" dirty="0"/>
              <a:t>Owkin K identity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 </a:t>
            </a:r>
            <a:r>
              <a:rPr lang="en-US" sz="1400" b="1" dirty="0"/>
              <a:t>new Zendesk ticket submission form</a:t>
            </a:r>
            <a:r>
              <a:rPr lang="en-US" sz="1400" dirty="0"/>
              <a:t> was created specifically for Owkin K-related requests, with optimized logic and input fields for efficient routing.</a:t>
            </a:r>
          </a:p>
          <a:p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F1CD3E-2CEB-4EA4-9326-86491F3BD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9668" y="1524000"/>
            <a:ext cx="6216263" cy="45858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8799476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Owkin K Platform: Help Center, Documentation, and Widget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7EA80C-AC2A-46F3-80D0-BC5F04571C5E}"/>
              </a:ext>
            </a:extLst>
          </p:cNvPr>
          <p:cNvSpPr txBox="1"/>
          <p:nvPr/>
        </p:nvSpPr>
        <p:spPr>
          <a:xfrm>
            <a:off x="152400" y="1600200"/>
            <a:ext cx="5791200" cy="5109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✅ Documentation Progress &amp; Testing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Finalized the structure and content of the Owkin K User Guide.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Conducted live testing of tools during the documentation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Identified bugs and reported them via the k-incidents Slack channel for developer review.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Uploaded finalized documentation to the Zendesk Knowledge Base.</a:t>
            </a:r>
          </a:p>
          <a:p>
            <a:endParaRPr lang="en-US" sz="1400" dirty="0"/>
          </a:p>
          <a:p>
            <a:r>
              <a:rPr lang="en-US" sz="1400" b="1" dirty="0"/>
              <a:t>✅ </a:t>
            </a:r>
            <a:r>
              <a:rPr lang="en-US" sz="1400" b="1" dirty="0" err="1"/>
              <a:t>SurveySparrow</a:t>
            </a:r>
            <a:r>
              <a:rPr lang="en-US" sz="1400" b="1" dirty="0"/>
              <a:t> Widget – Integration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Created and branded two surveys for Owkin K Staging and Dev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The widget was successfully integrated and is now live in Staging, following multiple meetings with the </a:t>
            </a:r>
            <a:r>
              <a:rPr lang="en-US" sz="1400" dirty="0" err="1"/>
              <a:t>SurveySparrow</a:t>
            </a:r>
            <a:r>
              <a:rPr lang="en-US" sz="1400" dirty="0"/>
              <a:t> team and </a:t>
            </a:r>
            <a:r>
              <a:rPr lang="en-US" sz="1400" dirty="0" err="1"/>
              <a:t>Jérémy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Next Step: Review feedback, finalize widget functionality, and proceed with license decision and production deployment.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EA679-E092-4CEB-BB69-73AEA4DFD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721" y="1449178"/>
            <a:ext cx="5990879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59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Zendesk Ticketing Workflow Improvements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152400" y="1556397"/>
            <a:ext cx="51054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✅ </a:t>
            </a:r>
            <a:r>
              <a:rPr lang="en-US" sz="1600" b="1" dirty="0"/>
              <a:t>Automation Enhancements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Resolved form submission issues within Zendesk.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Implemented </a:t>
            </a:r>
            <a:r>
              <a:rPr lang="en-US" sz="1600" b="1" dirty="0"/>
              <a:t>new automated triggers</a:t>
            </a:r>
            <a:r>
              <a:rPr lang="en-US" sz="1600" dirty="0"/>
              <a:t> to assign incoming tickets directly to the appropriate teams: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L2 Data Content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DataOps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Data Infra</a:t>
            </a:r>
          </a:p>
          <a:p>
            <a:pPr marL="457200" lvl="1"/>
            <a:endParaRPr lang="en-US" sz="1600" dirty="0"/>
          </a:p>
          <a:p>
            <a:r>
              <a:rPr lang="en-US" sz="1600" dirty="0"/>
              <a:t>✅ </a:t>
            </a:r>
            <a:r>
              <a:rPr lang="en-US" sz="1600" b="1" dirty="0"/>
              <a:t>Rotation Management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Completed </a:t>
            </a:r>
            <a:r>
              <a:rPr lang="en-US" sz="1600" b="1" dirty="0"/>
              <a:t>Zendesk agent rotation</a:t>
            </a:r>
            <a:r>
              <a:rPr lang="en-US" sz="1600" dirty="0"/>
              <a:t> in accordance with the official </a:t>
            </a:r>
            <a:r>
              <a:rPr lang="en-US" sz="1600" b="1" dirty="0"/>
              <a:t>rotation table</a:t>
            </a:r>
            <a:r>
              <a:rPr lang="en-US" sz="1600" dirty="0"/>
              <a:t>.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Coordination was carried out with </a:t>
            </a:r>
            <a:r>
              <a:rPr lang="en-US" sz="1600" b="1" dirty="0"/>
              <a:t>L2 engineers from all squads</a:t>
            </a:r>
            <a:r>
              <a:rPr lang="en-US" sz="1600" dirty="0"/>
              <a:t> to ensure balanced ticket distribution and optimal support coverage.</a:t>
            </a:r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9A8422-F431-4133-948F-562C6023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82249"/>
            <a:ext cx="5867400" cy="19570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5C689E-B68D-46BE-AD32-852666175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113" y="3479889"/>
            <a:ext cx="5943600" cy="195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109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de-DE" dirty="0"/>
              <a:t> Dataset Form in Zendesk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CFCE6-1904-4BF1-A229-A5A5AD2D73B8}"/>
              </a:ext>
            </a:extLst>
          </p:cNvPr>
          <p:cNvSpPr txBox="1"/>
          <p:nvPr/>
        </p:nvSpPr>
        <p:spPr>
          <a:xfrm>
            <a:off x="762000" y="1039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Where we are now 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EC8666-CE15-4F1B-B55C-E81056A7A35F}"/>
              </a:ext>
            </a:extLst>
          </p:cNvPr>
          <p:cNvSpPr txBox="1"/>
          <p:nvPr/>
        </p:nvSpPr>
        <p:spPr>
          <a:xfrm>
            <a:off x="268324" y="1890428"/>
            <a:ext cx="4495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</a:t>
            </a:r>
            <a:r>
              <a:rPr lang="en-US" sz="1400" b="1" dirty="0"/>
              <a:t>New Dataset Request Workflow Now Live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Developed the form in collaboration with </a:t>
            </a:r>
            <a:r>
              <a:rPr lang="en-US" sz="1400" b="1" dirty="0"/>
              <a:t>Anastasia </a:t>
            </a:r>
            <a:r>
              <a:rPr lang="en-US" sz="1400" b="1" dirty="0" err="1"/>
              <a:t>Lieva</a:t>
            </a:r>
            <a:r>
              <a:rPr lang="en-US" sz="1400" dirty="0"/>
              <a:t>, replacing the previous process in </a:t>
            </a:r>
            <a:r>
              <a:rPr lang="en-US" sz="1400" dirty="0" err="1"/>
              <a:t>Abstra</a:t>
            </a:r>
            <a:r>
              <a:rPr lang="en-US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Created new squads in Zendesk: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Data Content</a:t>
            </a:r>
            <a:endParaRPr lang="en-US" sz="1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Data Infrastructure</a:t>
            </a:r>
          </a:p>
          <a:p>
            <a:pPr marL="457200" lvl="1"/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Streamlined field structure: standardized naming conventions, removed redundant options, and made </a:t>
            </a:r>
            <a:r>
              <a:rPr lang="en-US" sz="1400" b="1" dirty="0"/>
              <a:t>Dataset ID optional</a:t>
            </a:r>
            <a:r>
              <a:rPr lang="en-US" sz="1400" dirty="0"/>
              <a:t> except for dataset creation requests.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3772B7-D839-43B7-8FE9-2E259B379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866775"/>
            <a:ext cx="5345748" cy="512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33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Hackathon Access Update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7397-E955-493E-A388-042A53F6F824}"/>
              </a:ext>
            </a:extLst>
          </p:cNvPr>
          <p:cNvSpPr txBox="1"/>
          <p:nvPr/>
        </p:nvSpPr>
        <p:spPr>
          <a:xfrm>
            <a:off x="260232" y="1905000"/>
            <a:ext cx="4233394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✅ </a:t>
            </a:r>
            <a:r>
              <a:rPr lang="en-US" sz="1400" b="1" dirty="0"/>
              <a:t>New Access and Ongoing Support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Enabled </a:t>
            </a:r>
            <a:r>
              <a:rPr lang="en-US" sz="1400" dirty="0" err="1"/>
              <a:t>Abstra</a:t>
            </a:r>
            <a:r>
              <a:rPr lang="en-US" sz="1400" dirty="0"/>
              <a:t> </a:t>
            </a:r>
            <a:r>
              <a:rPr lang="en-US" sz="1400" b="1" dirty="0"/>
              <a:t>access</a:t>
            </a:r>
            <a:r>
              <a:rPr lang="en-US" sz="1400" dirty="0"/>
              <a:t> for </a:t>
            </a:r>
            <a:r>
              <a:rPr lang="en-US" sz="1400" b="1" dirty="0"/>
              <a:t>Katarina</a:t>
            </a:r>
            <a:r>
              <a:rPr lang="en-US" sz="1400" dirty="0"/>
              <a:t>, a Hackathon winner who later became involved in the </a:t>
            </a:r>
            <a:r>
              <a:rPr lang="en-US" sz="1400" b="1" dirty="0" err="1"/>
              <a:t>Abstra</a:t>
            </a:r>
            <a:r>
              <a:rPr lang="en-US" sz="1400" dirty="0"/>
              <a:t> platform.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Provided her with </a:t>
            </a:r>
            <a:r>
              <a:rPr lang="en-US" sz="1400" b="1" dirty="0"/>
              <a:t>step-by-step guidance</a:t>
            </a:r>
            <a:r>
              <a:rPr lang="en-US" sz="1400" dirty="0"/>
              <a:t> on how to access and navigate the </a:t>
            </a:r>
            <a:r>
              <a:rPr lang="en-US" sz="1400" dirty="0" err="1"/>
              <a:t>Abstra</a:t>
            </a:r>
            <a:r>
              <a:rPr lang="en-US" sz="1400" dirty="0"/>
              <a:t> environment.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Granted her access to her team's project</a:t>
            </a:r>
            <a:r>
              <a:rPr lang="en-US" sz="1400" dirty="0"/>
              <a:t>, including a walkthrough of where and how to find relevant components.</a:t>
            </a:r>
          </a:p>
          <a:p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Explained the process for interacting with the project and submitting related support requests.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EBFCF-7AAB-4A4A-A169-C94BDE161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31433"/>
            <a:ext cx="6441320" cy="441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Challenges &amp; Solutions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578006"/>
            <a:ext cx="5502030" cy="3029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dirty="0"/>
              <a:t>🔹 </a:t>
            </a:r>
            <a:r>
              <a:rPr lang="en-US" sz="1400" b="1" dirty="0"/>
              <a:t>Challenge:</a:t>
            </a:r>
            <a:r>
              <a:rPr lang="en-US" sz="1400" dirty="0"/>
              <a:t> The Owkin K Help Center was initially fully public.</a:t>
            </a:r>
          </a:p>
          <a:p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Solution:</a:t>
            </a:r>
            <a:r>
              <a:rPr lang="en-US" sz="1400" dirty="0"/>
              <a:t> Access was restricted to authenticated users via </a:t>
            </a:r>
            <a:r>
              <a:rPr lang="en-US" sz="1400" dirty="0" err="1"/>
              <a:t>JumpCloud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dirty="0"/>
              <a:t>🔹 </a:t>
            </a:r>
            <a:r>
              <a:rPr lang="en-US" sz="1400" b="1" dirty="0"/>
              <a:t>Challenge:</a:t>
            </a:r>
            <a:r>
              <a:rPr lang="en-US" sz="1400" dirty="0"/>
              <a:t> Ticket routing in Zendesk lacked automation.</a:t>
            </a:r>
          </a:p>
          <a:p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Solution:</a:t>
            </a:r>
            <a:r>
              <a:rPr lang="en-US" sz="1400" dirty="0"/>
              <a:t> Introduced new triggers to assign tickets based on request type.</a:t>
            </a:r>
          </a:p>
          <a:p>
            <a:endParaRPr lang="en-US" sz="1400" dirty="0"/>
          </a:p>
          <a:p>
            <a:r>
              <a:rPr lang="en-US" sz="1400" dirty="0"/>
              <a:t>🚀 </a:t>
            </a:r>
            <a:r>
              <a:rPr lang="en-US" sz="1400" b="1" dirty="0"/>
              <a:t>Ongoing Focus: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Improving UI/UX and form usability in Zendesk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Increasing workflow automation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Reducing manual support interventions through better documentation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  <p:extLst>
      <p:ext uri="{BB962C8B-B14F-4D97-AF65-F5344CB8AC3E}">
        <p14:creationId xmlns:p14="http://schemas.microsoft.com/office/powerpoint/2010/main" val="2457212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Next Steps &amp; Focus Areas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578006"/>
            <a:ext cx="5502030" cy="39523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600" dirty="0"/>
              <a:t>📌 </a:t>
            </a:r>
            <a:r>
              <a:rPr lang="en-US" sz="1600" b="1" dirty="0"/>
              <a:t>Zendesk</a:t>
            </a:r>
          </a:p>
          <a:p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Monitor new form usage and refine field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Continue optimization of ticket routing and trigger logic</a:t>
            </a:r>
          </a:p>
          <a:p>
            <a:endParaRPr lang="en-US" sz="1600" dirty="0"/>
          </a:p>
          <a:p>
            <a:r>
              <a:rPr lang="en-US" sz="1600" dirty="0"/>
              <a:t>📌 </a:t>
            </a:r>
            <a:r>
              <a:rPr lang="en-US" sz="1600" b="1" dirty="0"/>
              <a:t>Owkin K Documentation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Conduct internal review and finalize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Prepare for re-publication within the Help Center</a:t>
            </a:r>
          </a:p>
          <a:p>
            <a:endParaRPr lang="en-US" sz="1600" dirty="0"/>
          </a:p>
          <a:p>
            <a:r>
              <a:rPr lang="en-US" sz="1600" dirty="0"/>
              <a:t>📌 </a:t>
            </a:r>
            <a:r>
              <a:rPr lang="en-US" sz="1600" b="1" dirty="0" err="1"/>
              <a:t>SurveySparrow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Conclude final testing and refinement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Make license decision and roll out to production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dirty="0"/>
              <a:t>🚀 </a:t>
            </a:r>
            <a:r>
              <a:rPr lang="en-US" sz="1600" b="1" dirty="0"/>
              <a:t>Main Focus:</a:t>
            </a:r>
            <a:br>
              <a:rPr lang="en-US" sz="1600" dirty="0"/>
            </a:br>
            <a:r>
              <a:rPr lang="en-US" sz="1600" dirty="0"/>
              <a:t>Scaling automation, improving platform accessibility, and making processes better, and more efficient. 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  <p:extLst>
      <p:ext uri="{BB962C8B-B14F-4D97-AF65-F5344CB8AC3E}">
        <p14:creationId xmlns:p14="http://schemas.microsoft.com/office/powerpoint/2010/main" val="2694588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Q&amp;A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135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25.03.2025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50521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b="1" dirty="0"/>
              <a:t>Can I close it?</a:t>
            </a:r>
            <a:br>
              <a:rPr lang="en-US" dirty="0"/>
            </a:br>
            <a:r>
              <a:rPr lang="en-US" dirty="0"/>
              <a:t>🔗 </a:t>
            </a:r>
            <a:r>
              <a:rPr lang="en-US" dirty="0">
                <a:hlinkClick r:id="rId2"/>
              </a:rPr>
              <a:t>Zendesk Ticket #4465</a:t>
            </a:r>
            <a:endParaRPr lang="en-US" dirty="0"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2862</TotalTime>
  <Words>930</Words>
  <Application>Microsoft Office PowerPoint</Application>
  <PresentationFormat>Widescreen</PresentationFormat>
  <Paragraphs>137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Tahoma</vt:lpstr>
      <vt:lpstr>Office Theme</vt:lpstr>
      <vt:lpstr>Abstra</vt:lpstr>
      <vt:lpstr>Agenda</vt:lpstr>
      <vt:lpstr>Owkin K Platform: Help Center, Documentation, and Widget</vt:lpstr>
      <vt:lpstr>Owkin K Platform: Help Center, Documentation, and Widget</vt:lpstr>
      <vt:lpstr>Zendesk Ticketing Workflow Improvements</vt:lpstr>
      <vt:lpstr> Dataset Form in Zendesk</vt:lpstr>
      <vt:lpstr>Hackathon Access Update</vt:lpstr>
      <vt:lpstr>Challenges &amp; Solutions</vt:lpstr>
      <vt:lpstr>Next Steps &amp; Focus Areas</vt:lpstr>
      <vt:lpstr>Q&amp;A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46</cp:revision>
  <dcterms:created xsi:type="dcterms:W3CDTF">2025-01-30T08:33:59Z</dcterms:created>
  <dcterms:modified xsi:type="dcterms:W3CDTF">2025-03-25T09:07:03Z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