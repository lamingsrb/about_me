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9" r:id="rId5"/>
    <p:sldId id="291" r:id="rId6"/>
    <p:sldId id="287" r:id="rId7"/>
    <p:sldId id="288" r:id="rId8"/>
    <p:sldId id="290" r:id="rId9"/>
    <p:sldId id="286" r:id="rId10"/>
    <p:sldId id="281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8" autoAdjust="0"/>
    <p:restoredTop sz="94660"/>
  </p:normalViewPr>
  <p:slideViewPr>
    <p:cSldViewPr>
      <p:cViewPr varScale="1">
        <p:scale>
          <a:sx n="114" d="100"/>
          <a:sy n="114" d="100"/>
        </p:scale>
        <p:origin x="30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3219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400" spc="10" dirty="0">
                <a:latin typeface="Tahoma"/>
                <a:cs typeface="Tahoma"/>
              </a:rPr>
              <a:t>13.05.2025</a:t>
            </a:r>
            <a:endParaRPr lang="en-US"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344" y="4627825"/>
            <a:ext cx="23120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Ticket Management &amp; Optimization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84812" y="5635966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Infra &amp; Product Coordination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5800" y="4627825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3. Reported &amp; Tracked Issues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3475" y="5635965"/>
            <a:ext cx="29571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4. Visual &amp; Helpdesk Improvements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7010400" y="462141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Next Steps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2A861DC8-E8DF-4533-9F46-FC34E0370B82}"/>
              </a:ext>
            </a:extLst>
          </p:cNvPr>
          <p:cNvSpPr txBox="1"/>
          <p:nvPr/>
        </p:nvSpPr>
        <p:spPr>
          <a:xfrm>
            <a:off x="7010400" y="5629553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Q&amp;A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370" y="592622"/>
            <a:ext cx="7058134" cy="391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sz="2400" dirty="0"/>
              <a:t>Zendesk Support &amp; Performance Update</a:t>
            </a:r>
            <a:endParaRPr lang="en-US"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13.05.2025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7FE69-0406-4BFE-8A2C-7D97CE7E7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8800" y="1750625"/>
            <a:ext cx="6460067" cy="35853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560020-C041-44C5-B3D3-BED7CC30C980}"/>
              </a:ext>
            </a:extLst>
          </p:cNvPr>
          <p:cNvSpPr txBox="1"/>
          <p:nvPr/>
        </p:nvSpPr>
        <p:spPr>
          <a:xfrm>
            <a:off x="8238" y="1405717"/>
            <a:ext cx="5638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🔁 Agent Licenses &amp; Access: </a:t>
            </a:r>
            <a:r>
              <a:rPr lang="en-US" sz="1200" dirty="0"/>
              <a:t>Agent licenses assigned to Greg </a:t>
            </a:r>
            <a:r>
              <a:rPr lang="en-US" sz="1200" dirty="0" err="1"/>
              <a:t>Dayet</a:t>
            </a:r>
            <a:r>
              <a:rPr lang="en-US" sz="1200" dirty="0"/>
              <a:t> and Anastasia </a:t>
            </a:r>
            <a:r>
              <a:rPr lang="en-US" sz="1200" dirty="0" err="1"/>
              <a:t>Lieva</a:t>
            </a:r>
            <a:r>
              <a:rPr lang="en-US" sz="1200" dirty="0"/>
              <a:t> (upgrade from Light Agent).</a:t>
            </a:r>
            <a:br>
              <a:rPr lang="en-US" sz="1200" dirty="0"/>
            </a:br>
            <a:r>
              <a:rPr lang="en-US" sz="1200" dirty="0"/>
              <a:t>Requested access to AWS to prepare cloud migration for reporting scripts.📊 </a:t>
            </a:r>
          </a:p>
          <a:p>
            <a:endParaRPr lang="en-US" sz="1200" dirty="0"/>
          </a:p>
          <a:p>
            <a:r>
              <a:rPr lang="en-US" sz="1200" b="1" dirty="0"/>
              <a:t>⚙️ Automation:</a:t>
            </a:r>
          </a:p>
          <a:p>
            <a:endParaRPr lang="en-US" sz="1200" dirty="0"/>
          </a:p>
          <a:p>
            <a:r>
              <a:rPr lang="en-US" sz="1200" dirty="0"/>
              <a:t>Python script created to automate daily Zendesk signup reports.</a:t>
            </a:r>
            <a:br>
              <a:rPr lang="en-US" sz="1200" dirty="0"/>
            </a:br>
            <a:r>
              <a:rPr lang="en-US" sz="1200" dirty="0"/>
              <a:t>Preparing for deployment via </a:t>
            </a:r>
            <a:r>
              <a:rPr lang="en-US" sz="1200" b="1" dirty="0"/>
              <a:t>AWS Lambda </a:t>
            </a:r>
            <a:r>
              <a:rPr lang="en-US" sz="1200" dirty="0"/>
              <a:t>or </a:t>
            </a:r>
            <a:r>
              <a:rPr lang="en-US" sz="1200" b="1" dirty="0"/>
              <a:t>Okta Workflows.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Script supports: </a:t>
            </a:r>
            <a:br>
              <a:rPr lang="en-US" sz="1200" dirty="0"/>
            </a:b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Tag-based filtering </a:t>
            </a:r>
            <a:r>
              <a:rPr lang="en-US" sz="1200" dirty="0"/>
              <a:t>(</a:t>
            </a:r>
            <a:r>
              <a:rPr lang="en-US" sz="1200" dirty="0" err="1"/>
              <a:t>owkin_k_support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Auto-categorization</a:t>
            </a:r>
            <a:r>
              <a:rPr lang="en-US" sz="1200" dirty="0"/>
              <a:t> (approved, rejected, waitlist)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ID-to-email conversion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Excel export with summary tab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r>
              <a:rPr lang="en-US" sz="1200" dirty="0"/>
              <a:t>👋 </a:t>
            </a:r>
            <a:r>
              <a:rPr lang="en-US" sz="1200" b="1" dirty="0"/>
              <a:t>Onboarding &amp; Internal Coordination: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Initiated onboarding for </a:t>
            </a:r>
            <a:r>
              <a:rPr lang="en-US" sz="1200" b="1" dirty="0"/>
              <a:t>Ewa Kondratowicz</a:t>
            </a:r>
            <a:r>
              <a:rPr lang="en-US" sz="1200" dirty="0"/>
              <a:t>:</a:t>
            </a:r>
            <a:br>
              <a:rPr lang="en-US" sz="1200" dirty="0"/>
            </a:b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Personalized Notion onboarding hub created with product process documentation (Owkin K User Guide)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Welcome email with all links and context for 1:1 onboarding session held (May 12, 3–4 PM):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Presented Zendesk setup, processes, and </a:t>
            </a:r>
            <a:r>
              <a:rPr lang="en-US" sz="1200" dirty="0" err="1"/>
              <a:t>toolsTook</a:t>
            </a:r>
            <a:r>
              <a:rPr lang="en-US" sz="1200" dirty="0"/>
              <a:t> ownership of her </a:t>
            </a:r>
            <a:r>
              <a:rPr lang="en-US" sz="1200" dirty="0" err="1"/>
              <a:t>onboarding:Requested</a:t>
            </a:r>
            <a:r>
              <a:rPr lang="en-US" sz="1200" dirty="0"/>
              <a:t> creation of Owkin email address, Coordinating full access setup, Will guide her through all future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Zendesk – Automated Report for Owkin K Signups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13.05.2025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381000" y="13532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E175B-DBFE-4996-B46E-10165EC9A8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295400"/>
            <a:ext cx="5087691" cy="480060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0A8DFA0-82A6-4B57-951C-0B638EFE3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81200"/>
            <a:ext cx="4419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script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for automatic daily reporting of Zendesk tickets tagged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owkin_k_support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Script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Pulls tickets by tag &amp; time range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Categorizes by subject + status: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Welcome = Approved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= Rejected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= Waitlist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requester_id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email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Calculates avg. resolution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Excel file with: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Tickets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 (raw data)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Summary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 (aggregates)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Enables transparent and scalable monitoring of support trends related to K-Navigator onboarding.</a:t>
            </a:r>
          </a:p>
        </p:txBody>
      </p:sp>
    </p:spTree>
    <p:extLst>
      <p:ext uri="{BB962C8B-B14F-4D97-AF65-F5344CB8AC3E}">
        <p14:creationId xmlns:p14="http://schemas.microsoft.com/office/powerpoint/2010/main" val="2336733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Infra &amp; Product Coordination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13.05.2025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304800" y="1524000"/>
            <a:ext cx="4114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</a:t>
            </a:r>
            <a:r>
              <a:rPr lang="en-US" sz="1200" dirty="0" err="1"/>
              <a:t>Cordinated</a:t>
            </a:r>
            <a:r>
              <a:rPr lang="en-US" sz="1200" dirty="0"/>
              <a:t> external user onboarding (CHUV)</a:t>
            </a:r>
            <a:br>
              <a:rPr lang="en-US" sz="1200" dirty="0"/>
            </a:br>
            <a:r>
              <a:rPr lang="en-US" sz="1200" dirty="0"/>
              <a:t>✅ After approving account in Cognito, manually notified Owkin K users by email due to lack of automated confirmation.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✅ Supported SurveySparrow survey request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    – Provided direct public link to the existing NPS survey</a:t>
            </a:r>
            <a:br>
              <a:rPr lang="en-US" sz="1200" dirty="0"/>
            </a:br>
            <a:r>
              <a:rPr lang="en-US" sz="1200" dirty="0"/>
              <a:t>    – Confirmed no login is needed</a:t>
            </a:r>
            <a:br>
              <a:rPr lang="en-US" sz="1200" dirty="0"/>
            </a:br>
            <a:r>
              <a:rPr lang="en-US" sz="1200" dirty="0"/>
              <a:t>    – Verified that responses are consolidated with widget-based submissions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✅ Working on the detecting different Owkin K issues, and reporting them.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E175B-DBFE-4996-B46E-10165EC9A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821" y="914400"/>
            <a:ext cx="6012614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2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Reported &amp; Tracked Issues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13.05.2025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B2633-5A00-405D-9049-BCE23F605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548" y="1438033"/>
            <a:ext cx="6958063" cy="369024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DD9E7C3-F532-46D8-9DA9-875DE5C9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9" y="1467211"/>
            <a:ext cx="496138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Investigated issue: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widget not showing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cookies are rejected on first login.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fallback: always display button → redirect to SurveySparrow if cookies blocked.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implemented by Jeremy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ticket [K-806] updated and Slack summary shared.</a:t>
            </a:r>
          </a:p>
        </p:txBody>
      </p:sp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Visual &amp; Helpdesk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13.05.2025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FC90F-EE16-400F-BE6F-DA261D21340C}"/>
              </a:ext>
            </a:extLst>
          </p:cNvPr>
          <p:cNvSpPr txBox="1"/>
          <p:nvPr/>
        </p:nvSpPr>
        <p:spPr>
          <a:xfrm>
            <a:off x="76200" y="1464064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3 </a:t>
            </a:r>
            <a:r>
              <a:rPr lang="en-US" sz="1200" b="1" dirty="0"/>
              <a:t>Zendesk onboarding</a:t>
            </a:r>
            <a:r>
              <a:rPr lang="en-US" sz="1200" dirty="0"/>
              <a:t> sessions completed</a:t>
            </a:r>
            <a:br>
              <a:rPr lang="en-US" sz="1200" dirty="0"/>
            </a:br>
            <a:r>
              <a:rPr lang="en-US" sz="1200" dirty="0"/>
              <a:t>    – Presented Zendesk features, support process, and internal tools</a:t>
            </a:r>
            <a:br>
              <a:rPr lang="en-US" sz="1200" dirty="0"/>
            </a:br>
            <a:r>
              <a:rPr lang="en-US" sz="1200" dirty="0"/>
              <a:t>✅ Created </a:t>
            </a:r>
            <a:r>
              <a:rPr lang="en-US" sz="1200" b="1" dirty="0"/>
              <a:t>Zendesk view</a:t>
            </a:r>
            <a:r>
              <a:rPr lang="en-US" sz="1200" dirty="0"/>
              <a:t> for Owkin K signups tracking</a:t>
            </a:r>
            <a:br>
              <a:rPr lang="en-US" sz="1200" dirty="0"/>
            </a:br>
            <a:r>
              <a:rPr lang="en-US" sz="1200" dirty="0"/>
              <a:t>    – To support easier Cognito approvals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A2BCDD-4DA7-4980-AC1E-7145E1EB3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89826"/>
            <a:ext cx="6213196" cy="4495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E3548B-0E63-482A-8D03-E3B96088F6BB}"/>
              </a:ext>
            </a:extLst>
          </p:cNvPr>
          <p:cNvSpPr txBox="1"/>
          <p:nvPr/>
        </p:nvSpPr>
        <p:spPr>
          <a:xfrm>
            <a:off x="80319" y="2295061"/>
            <a:ext cx="49313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✅ Validated dataset access for Hackathon participants</a:t>
            </a:r>
            <a:br>
              <a:rPr lang="en-US" sz="1200" dirty="0"/>
            </a:br>
            <a:r>
              <a:rPr lang="en-US" sz="1200" dirty="0"/>
              <a:t>    – Confirmed access in </a:t>
            </a:r>
            <a:r>
              <a:rPr lang="en-US" sz="1200" dirty="0" err="1"/>
              <a:t>Abstra</a:t>
            </a:r>
            <a:r>
              <a:rPr lang="en-US" sz="1200" dirty="0"/>
              <a:t> for all three teams</a:t>
            </a:r>
            <a:br>
              <a:rPr lang="en-US" sz="1200" dirty="0"/>
            </a:br>
            <a:r>
              <a:rPr lang="en-US" sz="1200" dirty="0"/>
              <a:t>✅ Supported and follow-up on additional datasets which they required.</a:t>
            </a:r>
          </a:p>
          <a:p>
            <a:endParaRPr lang="en-US" sz="1200" dirty="0"/>
          </a:p>
          <a:p>
            <a:r>
              <a:rPr lang="en-US" sz="1200" dirty="0"/>
              <a:t>💡 </a:t>
            </a:r>
            <a:r>
              <a:rPr lang="en-US" sz="1200" b="1" dirty="0" err="1"/>
              <a:t>PostHog</a:t>
            </a:r>
            <a:r>
              <a:rPr lang="en-US" sz="1200" b="1" dirty="0"/>
              <a:t> evaluation</a:t>
            </a:r>
            <a:r>
              <a:rPr lang="en-US" sz="1200" dirty="0"/>
              <a:t>: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Tool researched as unified solution to replace </a:t>
            </a:r>
            <a:r>
              <a:rPr lang="en-US" sz="1200" dirty="0" err="1"/>
              <a:t>FullStory</a:t>
            </a:r>
            <a:r>
              <a:rPr lang="en-US" sz="1200" dirty="0"/>
              <a:t>, SurveySparrow &amp; GA.</a:t>
            </a:r>
          </a:p>
          <a:p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Feature analysis included:</a:t>
            </a:r>
          </a:p>
          <a:p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Session tracking, heatmaps, feedback, A/B testing, </a:t>
            </a:r>
            <a:r>
              <a:rPr lang="en-US" sz="1200" dirty="0" err="1"/>
              <a:t>cookieless</a:t>
            </a:r>
            <a:r>
              <a:rPr lang="en-US" sz="1200" dirty="0"/>
              <a:t> analytics.</a:t>
            </a:r>
          </a:p>
        </p:txBody>
      </p:sp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13.05.2025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37BFB-26AB-41A4-A002-590A4E2B223C}"/>
              </a:ext>
            </a:extLst>
          </p:cNvPr>
          <p:cNvSpPr txBox="1"/>
          <p:nvPr/>
        </p:nvSpPr>
        <p:spPr>
          <a:xfrm>
            <a:off x="530787" y="1600200"/>
            <a:ext cx="609460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☁️ Migrate Zendesk report script to AWS/Okta for automated daily delivery.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✅ Continue CHUV IP </a:t>
            </a:r>
            <a:r>
              <a:rPr lang="en-US" dirty="0" err="1"/>
              <a:t>allowlisting</a:t>
            </a:r>
            <a:r>
              <a:rPr lang="en-US" dirty="0"/>
              <a:t> and </a:t>
            </a:r>
            <a:r>
              <a:rPr lang="en-US" dirty="0" err="1"/>
              <a:t>Ewa’s</a:t>
            </a:r>
            <a:r>
              <a:rPr lang="en-US" dirty="0"/>
              <a:t> access setup.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🤝 Guide Ewa through full onboarding journeys.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📊 Track impact of fallback widget logic in </a:t>
            </a:r>
            <a:r>
              <a:rPr lang="en-US" dirty="0" err="1"/>
              <a:t>FullStory</a:t>
            </a:r>
            <a:r>
              <a:rPr lang="en-US" dirty="0"/>
              <a:t> sessions.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📥 Continue daily exports of signup ticket reports to Google Drive.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Regular support for K-Navigator users, </a:t>
            </a:r>
            <a:r>
              <a:rPr lang="en-US" dirty="0" err="1"/>
              <a:t>inproving</a:t>
            </a:r>
            <a:r>
              <a:rPr lang="en-US" dirty="0"/>
              <a:t> processes. </a:t>
            </a:r>
          </a:p>
        </p:txBody>
      </p:sp>
    </p:spTree>
    <p:extLst>
      <p:ext uri="{BB962C8B-B14F-4D97-AF65-F5344CB8AC3E}">
        <p14:creationId xmlns:p14="http://schemas.microsoft.com/office/powerpoint/2010/main" val="633244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 success: Weekly Support Report – 29.04.2025</a:t>
            </a: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2990</TotalTime>
  <Words>865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Tahoma</vt:lpstr>
      <vt:lpstr>Office Theme</vt:lpstr>
      <vt:lpstr>Abstra</vt:lpstr>
      <vt:lpstr>Agenda</vt:lpstr>
      <vt:lpstr>Zendesk Support &amp; Performance Update</vt:lpstr>
      <vt:lpstr>Zendesk – Automated Report for Owkin K Signups</vt:lpstr>
      <vt:lpstr>Infra &amp; Product Coordination</vt:lpstr>
      <vt:lpstr>Reported &amp; Tracked Issues</vt:lpstr>
      <vt:lpstr>Visual &amp; Helpdesk</vt:lpstr>
      <vt:lpstr>Next Steps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57</cp:revision>
  <dcterms:created xsi:type="dcterms:W3CDTF">2025-01-30T08:33:59Z</dcterms:created>
  <dcterms:modified xsi:type="dcterms:W3CDTF">2025-05-13T08:32:19Z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