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1" r:id="rId4"/>
    <p:sldId id="287" r:id="rId5"/>
    <p:sldId id="288" r:id="rId6"/>
    <p:sldId id="292" r:id="rId7"/>
    <p:sldId id="290" r:id="rId8"/>
    <p:sldId id="286" r:id="rId9"/>
    <p:sldId id="281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60"/>
  </p:normalViewPr>
  <p:slideViewPr>
    <p:cSldViewPr>
      <p:cViewPr varScale="1">
        <p:scale>
          <a:sx n="116" d="100"/>
          <a:sy n="116" d="100"/>
        </p:scale>
        <p:origin x="225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u/0/folders/1HB4OG_FOkLs1__MWlZbi7ZuWJ1mHhzwr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u.posthog.com/project/75119/dashboard/219611" TargetMode="External"/><Relationship Id="rId7" Type="http://schemas.openxmlformats.org/officeDocument/2006/relationships/image" Target="../media/image7.png"/><Relationship Id="rId2" Type="http://schemas.openxmlformats.org/officeDocument/2006/relationships/hyperlink" Target="https://eu.posthog.com/project/75119/dashboard/21961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otion.so/owkin-1/PostHog-Analytics-User-Guide-2429d6c3b123800aaf81f8e52f9a1c78?source=copy_link" TargetMode="External"/><Relationship Id="rId5" Type="http://schemas.openxmlformats.org/officeDocument/2006/relationships/hyperlink" Target="https://www.notion.so/owkin-1/PostHog-Pilot-Plan-Next-2-Weeks-July-22-August-2-2025-2389d6c3b12380adb48bf70d40e2204a" TargetMode="External"/><Relationship Id="rId4" Type="http://schemas.openxmlformats.org/officeDocument/2006/relationships/hyperlink" Target="https://linear.app/owkin/project/analytics-metrics-and-dashboards-c0a50481de69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26.08.2025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Operational &amp; Reporting Highlights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84812" y="5635966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Technical Support &amp; Escalations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5800" y="4627825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3. Report Delivery &amp; Ticket Metrics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3476" y="5635965"/>
            <a:ext cx="225264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4. </a:t>
            </a:r>
            <a:r>
              <a:rPr lang="en-US" sz="1600" dirty="0" err="1"/>
              <a:t>PostHog</a:t>
            </a:r>
            <a:r>
              <a:rPr lang="en-US" sz="1600" dirty="0"/>
              <a:t> Integration (Phase 1)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010400" y="4621413"/>
            <a:ext cx="167640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KPIs &amp; Next Steps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A861DC8-E8DF-4533-9F46-FC34E0370B82}"/>
              </a:ext>
            </a:extLst>
          </p:cNvPr>
          <p:cNvSpPr txBox="1"/>
          <p:nvPr/>
        </p:nvSpPr>
        <p:spPr>
          <a:xfrm>
            <a:off x="7010400" y="562955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Operational &amp; Reporting Highlights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26.08.2025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365370" y="1905000"/>
            <a:ext cx="4953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Zendesk Operations</a:t>
            </a:r>
            <a:br>
              <a:rPr lang="en-US" sz="1200" b="1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Rotated agents weekly to maintain consistent coverage across K and </a:t>
            </a:r>
            <a:r>
              <a:rPr lang="en-US" sz="1200" dirty="0" err="1"/>
              <a:t>Abstra</a:t>
            </a:r>
            <a:r>
              <a:rPr lang="en-US" sz="1200" dirty="0"/>
              <a:t> tickets.</a:t>
            </a:r>
            <a:br>
              <a:rPr lang="en-US" sz="1200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SLA target of 2h for First Response Time successfully maintained (avg. under 30 min).</a:t>
            </a:r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Signup Metrics Automation</a:t>
            </a:r>
            <a:br>
              <a:rPr lang="en-US" sz="1200" b="1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K-Nav vs. K-Pro segmentation: Linear issue created for adding a tag to differentiate the two. Jeremy completed the implementation, and the tag will now be used in </a:t>
            </a:r>
            <a:r>
              <a:rPr lang="en-US" sz="1200" dirty="0" err="1"/>
              <a:t>PostHog</a:t>
            </a:r>
            <a:r>
              <a:rPr lang="en-US" sz="1200" dirty="0"/>
              <a:t> to build metrics based on it.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Signup automation: Approval process deprecated → signup is now fully automated.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As a result, the Python script for generating K-Signup reports in Zendesk has been retired.</a:t>
            </a:r>
          </a:p>
          <a:p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E175B-DBFE-4996-B46E-10165EC9A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88326" y="1647050"/>
            <a:ext cx="6310731" cy="368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24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Technical Support &amp; Escalations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26.08.2025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B2633-5A00-405D-9049-BCE23F605E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0200" y="1583878"/>
            <a:ext cx="6711055" cy="369024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DD9E7C3-F532-46D8-9DA9-875DE5C9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45" y="1642141"/>
            <a:ext cx="496138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/>
              <a:t>L2 Issue Resolution</a:t>
            </a:r>
            <a:br>
              <a:rPr lang="en-US" sz="1200" b="1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Personally resolved VPN setup issues (</a:t>
            </a:r>
            <a:r>
              <a:rPr lang="en-US" sz="1200" dirty="0" err="1"/>
              <a:t>WireGuard</a:t>
            </a:r>
            <a:r>
              <a:rPr lang="en-US" sz="1200" dirty="0"/>
              <a:t>), login problems, and domain whitelisting errors.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Handled edge cases around network connectivity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Optimized triggers &amp; rules in </a:t>
            </a:r>
            <a:r>
              <a:rPr lang="en-US" sz="1200" dirty="0" err="1"/>
              <a:t>PostHog</a:t>
            </a:r>
            <a:r>
              <a:rPr lang="en-US" sz="1200" dirty="0"/>
              <a:t> → duplicate events and inaccurate metrics removed.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Improved onboarding flow → clear tracking of signup vs. confirm events.</a:t>
            </a:r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Live Support &amp; Onboarding</a:t>
            </a:r>
            <a:br>
              <a:rPr lang="en-US" sz="1200" b="1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Conducted live onboarding sessions with external users (Hackathon teams, MOSAIC partners).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Provided real-time support through Slack and Google Meet to ensure smooth environment setup and access flow.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Report Delivery &amp; Ticket Metrics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26.08.2025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FC90F-EE16-400F-BE6F-DA261D21340C}"/>
              </a:ext>
            </a:extLst>
          </p:cNvPr>
          <p:cNvSpPr txBox="1"/>
          <p:nvPr/>
        </p:nvSpPr>
        <p:spPr>
          <a:xfrm>
            <a:off x="231972" y="1341080"/>
            <a:ext cx="50292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Report Sharing &amp; Custom Views</a:t>
            </a:r>
            <a:br>
              <a:rPr lang="en-US" sz="1200" b="1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 signup process is now fully automated, and manual approval is no longer required.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 Python script used for generating reports is now deprecated, but before being phased </a:t>
            </a:r>
            <a:r>
              <a:rPr lang="en-US" sz="1200" b="1" dirty="0"/>
              <a:t>out it produced over 100 custom reports </a:t>
            </a:r>
            <a:r>
              <a:rPr lang="en-US" sz="1200" dirty="0"/>
              <a:t>that were used for analysis and supported the Strategy, Product, and Support teams.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b="1" dirty="0"/>
          </a:p>
          <a:p>
            <a:br>
              <a:rPr lang="en-US" sz="1200" b="1" dirty="0"/>
            </a:br>
            <a:r>
              <a:rPr lang="en-US" sz="1200" b="1" dirty="0"/>
              <a:t>Ticket breakdown (Apr–Aug):</a:t>
            </a:r>
          </a:p>
          <a:p>
            <a:endParaRPr lang="en-US" sz="1200" dirty="0"/>
          </a:p>
          <a:p>
            <a:r>
              <a:rPr lang="en-US" sz="1200" dirty="0"/>
              <a:t>K tickets → signup, access, onboarding.</a:t>
            </a:r>
          </a:p>
          <a:p>
            <a:r>
              <a:rPr lang="en-US" sz="1200" dirty="0" err="1"/>
              <a:t>Abstra</a:t>
            </a:r>
            <a:r>
              <a:rPr lang="en-US" sz="1200" dirty="0"/>
              <a:t> tickets → infra support, onboarding, troubleshooting.</a:t>
            </a:r>
          </a:p>
          <a:p>
            <a:endParaRPr lang="en-US" sz="1200" dirty="0"/>
          </a:p>
          <a:p>
            <a:r>
              <a:rPr lang="en-US" sz="1200" dirty="0"/>
              <a:t>✅ Automated Slack notifications for new K requests → reduced manual follow-up.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A2BCDD-4DA7-4980-AC1E-7145E1EB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585473"/>
            <a:ext cx="6213196" cy="4495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DE25A33-4319-4952-ADEA-3B0A3F10871F}"/>
              </a:ext>
            </a:extLst>
          </p:cNvPr>
          <p:cNvSpPr txBox="1"/>
          <p:nvPr/>
        </p:nvSpPr>
        <p:spPr>
          <a:xfrm>
            <a:off x="231972" y="4504611"/>
            <a:ext cx="60946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Abstra</a:t>
            </a:r>
            <a:r>
              <a:rPr lang="en-US" sz="1600" dirty="0"/>
              <a:t>: Infra support</a:t>
            </a:r>
          </a:p>
          <a:p>
            <a:endParaRPr lang="en-US" sz="1600" dirty="0"/>
          </a:p>
          <a:p>
            <a:r>
              <a:rPr lang="en-US" sz="1600" dirty="0">
                <a:hlinkClick r:id="rId3"/>
              </a:rPr>
              <a:t>👉 Monthly Reports Drive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PostHog</a:t>
            </a:r>
            <a:r>
              <a:rPr lang="en-US" dirty="0"/>
              <a:t> Integration (Phase 2)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26.08.2025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FC90F-EE16-400F-BE6F-DA261D21340C}"/>
              </a:ext>
            </a:extLst>
          </p:cNvPr>
          <p:cNvSpPr txBox="1"/>
          <p:nvPr/>
        </p:nvSpPr>
        <p:spPr>
          <a:xfrm>
            <a:off x="0" y="1321865"/>
            <a:ext cx="60960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KPI &amp; Dashboard Progress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20 out of 20 defined KPIs completed and implemented in </a:t>
            </a:r>
            <a:r>
              <a:rPr lang="en-US" sz="1200" dirty="0" err="1"/>
              <a:t>PostHog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All tracked events reviewed, mapped, and actively collecting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Baseline established</a:t>
            </a:r>
            <a:r>
              <a:rPr lang="en-US" sz="1200" dirty="0"/>
              <a:t>: signup funnel, DAU (20–30), retention (5–6%).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Delivery Dashboard</a:t>
            </a:r>
            <a:r>
              <a:rPr lang="en-US" sz="1200" dirty="0"/>
              <a:t>: health-check &amp; daily ops.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Strategy Dashboard</a:t>
            </a:r>
            <a:r>
              <a:rPr lang="en-US" sz="1200" dirty="0"/>
              <a:t>: long-term trends, retention, funnel </a:t>
            </a:r>
            <a:r>
              <a:rPr lang="en-US" sz="1200" dirty="0" err="1"/>
              <a:t>analysis.Web</a:t>
            </a:r>
            <a:r>
              <a:rPr lang="en-US" sz="1200" dirty="0"/>
              <a:t> vitals (LCP, CLS) baseline defined &amp; anomalies tracked.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📦 </a:t>
            </a:r>
            <a:r>
              <a:rPr lang="en-US" sz="1200" b="1" dirty="0" err="1"/>
              <a:t>FullStory</a:t>
            </a:r>
            <a:r>
              <a:rPr lang="en-US" sz="1200" b="1" dirty="0"/>
              <a:t> export activated </a:t>
            </a:r>
            <a:r>
              <a:rPr lang="en-US" sz="1200" dirty="0"/>
              <a:t>→ historical data migration in progress.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Plan to downgrade </a:t>
            </a:r>
            <a:r>
              <a:rPr lang="en-US" sz="1200" dirty="0"/>
              <a:t>to Free </a:t>
            </a:r>
            <a:r>
              <a:rPr lang="en-US" sz="1200" dirty="0" err="1"/>
              <a:t>FullStory</a:t>
            </a:r>
            <a:r>
              <a:rPr lang="en-US" sz="1200" dirty="0"/>
              <a:t> account after exports are complete.</a:t>
            </a:r>
          </a:p>
          <a:p>
            <a:endParaRPr lang="en-US" sz="1200" dirty="0"/>
          </a:p>
          <a:p>
            <a:r>
              <a:rPr lang="en-US" sz="1200" b="1" dirty="0"/>
              <a:t>Dashboards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Both dashboards live and operational: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2"/>
              </a:rPr>
              <a:t>K Delivery Dashboard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3"/>
              </a:rPr>
              <a:t>K Strategy Dashboard</a:t>
            </a:r>
            <a:endParaRPr lang="en-US" sz="1200" dirty="0"/>
          </a:p>
          <a:p>
            <a:pPr marL="457200" lvl="1"/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Metrics grouped by theme (Acquisition, Engagement, Usage &amp; Technical); charts optimized for clarity and quick insights.</a:t>
            </a:r>
          </a:p>
          <a:p>
            <a:endParaRPr lang="en-US" sz="1200" dirty="0"/>
          </a:p>
          <a:p>
            <a:r>
              <a:rPr lang="en-US" sz="1200" b="1" dirty="0"/>
              <a:t>Documentation</a:t>
            </a:r>
          </a:p>
          <a:p>
            <a:endParaRPr lang="en-US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Linear project</a:t>
            </a:r>
            <a:r>
              <a:rPr lang="en-US" sz="1200" dirty="0"/>
              <a:t>: </a:t>
            </a:r>
            <a:r>
              <a:rPr lang="en-US" sz="1200" dirty="0">
                <a:hlinkClick r:id="rId4"/>
              </a:rPr>
              <a:t>Analytics, metrics &amp; dashboards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Planning doc</a:t>
            </a:r>
            <a:r>
              <a:rPr lang="en-US" sz="1200" dirty="0"/>
              <a:t>: </a:t>
            </a:r>
            <a:r>
              <a:rPr lang="en-US" sz="1200" dirty="0">
                <a:hlinkClick r:id="rId5"/>
              </a:rPr>
              <a:t>https://www.notion.so/owkin-1/PostHog-Pilot-Plan-Next-2-Weeks-July-22-August-2-2025-2389d6c3b12380adb48bf70d40e2204a</a:t>
            </a:r>
            <a:endParaRPr lang="en-US" sz="1200" dirty="0"/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User guide:</a:t>
            </a:r>
            <a:r>
              <a:rPr lang="en-US" sz="1200" dirty="0"/>
              <a:t> </a:t>
            </a:r>
            <a:r>
              <a:rPr lang="en-US" sz="1200" dirty="0">
                <a:hlinkClick r:id="rId6"/>
              </a:rPr>
              <a:t>https://www.notion.so/owkin-1/PostHog-Analytics-User-Guide-2429d6c3b123800aaf81f8e52f9a1c78?source=copy_link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0B307-B0B5-4837-A3FE-A9635F03052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2978" y="506667"/>
            <a:ext cx="4367854" cy="576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6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KPIs &amp; 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26.08.2025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7BFB-26AB-41A4-A002-590A4E2B223C}"/>
              </a:ext>
            </a:extLst>
          </p:cNvPr>
          <p:cNvSpPr txBox="1"/>
          <p:nvPr/>
        </p:nvSpPr>
        <p:spPr>
          <a:xfrm>
            <a:off x="11884" y="1331390"/>
            <a:ext cx="6094602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Key Outcomes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Stabilized </a:t>
            </a:r>
            <a:r>
              <a:rPr lang="en-US" sz="1400" dirty="0" err="1"/>
              <a:t>PostHog</a:t>
            </a:r>
            <a:r>
              <a:rPr lang="en-US" sz="1400" dirty="0"/>
              <a:t> dashboards (short-term + long-term views).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Refined signup events → clear separation of signup vs. confirm.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Enhanced tracking: clear segmentation between K-Nav and K-Pro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Optimized feedback system → faster &amp; more relevant insights.</a:t>
            </a:r>
          </a:p>
          <a:p>
            <a:endParaRPr lang="en-US" sz="1400" dirty="0"/>
          </a:p>
          <a:p>
            <a:r>
              <a:rPr lang="en-US" sz="1400" b="1" dirty="0"/>
              <a:t>Impact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More reliable metrics &amp; clearer funnel stages.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Deeper behavioral insights (e.g., first chat).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Reduced manual reporting effort → more automation.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Strong foundation for full transition to </a:t>
            </a:r>
            <a:r>
              <a:rPr lang="en-US" sz="1400" dirty="0" err="1"/>
              <a:t>PostHog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b="1" dirty="0"/>
              <a:t>Next Steps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Finalize </a:t>
            </a:r>
            <a:r>
              <a:rPr lang="en-US" sz="1400" dirty="0" err="1"/>
              <a:t>FullStory</a:t>
            </a:r>
            <a:r>
              <a:rPr lang="en-US" sz="1400" dirty="0"/>
              <a:t> → </a:t>
            </a:r>
            <a:r>
              <a:rPr lang="en-US" sz="1400" dirty="0" err="1"/>
              <a:t>PostHog</a:t>
            </a:r>
            <a:r>
              <a:rPr lang="en-US" sz="1400" dirty="0"/>
              <a:t> data mapping.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Implement frontend tag for precise segmentation.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Add additional activation &amp; early usage metrics (e.g., first chat event).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Continue optimizing dashboards for PM &amp; CS teams.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EA042-BF6C-4BC0-9127-40A6C4A51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348" y="598066"/>
            <a:ext cx="5234282" cy="56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44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24.07.2025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26141</TotalTime>
  <Words>866</Words>
  <Application>Microsoft Office PowerPoint</Application>
  <PresentationFormat>Widescreen</PresentationFormat>
  <Paragraphs>115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Tahoma</vt:lpstr>
      <vt:lpstr>Office Theme</vt:lpstr>
      <vt:lpstr>Abstra</vt:lpstr>
      <vt:lpstr>Agenda</vt:lpstr>
      <vt:lpstr>Operational &amp; Reporting Highlights</vt:lpstr>
      <vt:lpstr>Technical Support &amp; Escalations</vt:lpstr>
      <vt:lpstr>Report Delivery &amp; Ticket Metrics</vt:lpstr>
      <vt:lpstr>PostHog Integration (Phase 2)</vt:lpstr>
      <vt:lpstr>KPIs &amp; Next Steps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74</cp:revision>
  <dcterms:created xsi:type="dcterms:W3CDTF">2025-01-30T08:33:59Z</dcterms:created>
  <dcterms:modified xsi:type="dcterms:W3CDTF">2025-08-31T21:27:00Z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