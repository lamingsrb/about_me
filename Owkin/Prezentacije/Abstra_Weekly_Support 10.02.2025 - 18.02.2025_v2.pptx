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0" r:id="rId4"/>
    <p:sldId id="283" r:id="rId5"/>
    <p:sldId id="284" r:id="rId6"/>
    <p:sldId id="287" r:id="rId7"/>
    <p:sldId id="285" r:id="rId8"/>
    <p:sldId id="286" r:id="rId9"/>
    <p:sldId id="281" r:id="rId1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582" y="5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9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" y="0"/>
            <a:ext cx="4710430" cy="6858000"/>
          </a:xfrm>
          <a:custGeom>
            <a:avLst/>
            <a:gdLst/>
            <a:ahLst/>
            <a:cxnLst/>
            <a:rect l="l" t="t" r="r" b="b"/>
            <a:pathLst>
              <a:path w="4710430" h="6858000">
                <a:moveTo>
                  <a:pt x="4710000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4710000" y="0"/>
                </a:lnTo>
                <a:lnTo>
                  <a:pt x="4710000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48098" y="272519"/>
            <a:ext cx="245452" cy="24212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68324" y="592622"/>
            <a:ext cx="71551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442742" y="6417355"/>
            <a:ext cx="3458970" cy="1333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261548" y="6442016"/>
            <a:ext cx="193675" cy="148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7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owkin-1/Proposal-Process-workflow-to-Contact-data-group-18a9d6c3b123807e8903e35d2faefb56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76200"/>
            <a:ext cx="12193270" cy="6858000"/>
          </a:xfrm>
          <a:custGeom>
            <a:avLst/>
            <a:gdLst/>
            <a:ahLst/>
            <a:cxnLst/>
            <a:rect l="l" t="t" r="r" b="b"/>
            <a:pathLst>
              <a:path w="12193270" h="6858000">
                <a:moveTo>
                  <a:pt x="12193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3199" y="0"/>
                </a:lnTo>
                <a:lnTo>
                  <a:pt x="12193199" y="6857999"/>
                </a:lnTo>
                <a:close/>
              </a:path>
            </a:pathLst>
          </a:custGeom>
          <a:solidFill>
            <a:srgbClr val="FAF3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657" y="303639"/>
            <a:ext cx="1287268" cy="28551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178867" y="306099"/>
            <a:ext cx="1714500" cy="320675"/>
          </a:xfrm>
          <a:custGeom>
            <a:avLst/>
            <a:gdLst/>
            <a:ahLst/>
            <a:cxnLst/>
            <a:rect l="l" t="t" r="r" b="b"/>
            <a:pathLst>
              <a:path w="1714500" h="320675">
                <a:moveTo>
                  <a:pt x="0" y="160049"/>
                </a:moveTo>
                <a:lnTo>
                  <a:pt x="8159" y="109461"/>
                </a:lnTo>
                <a:lnTo>
                  <a:pt x="30880" y="65526"/>
                </a:lnTo>
                <a:lnTo>
                  <a:pt x="65526" y="30880"/>
                </a:lnTo>
                <a:lnTo>
                  <a:pt x="109461" y="8159"/>
                </a:lnTo>
                <a:lnTo>
                  <a:pt x="160049" y="0"/>
                </a:lnTo>
                <a:lnTo>
                  <a:pt x="1554449" y="0"/>
                </a:lnTo>
                <a:lnTo>
                  <a:pt x="1615698" y="12183"/>
                </a:lnTo>
                <a:lnTo>
                  <a:pt x="1667621" y="46877"/>
                </a:lnTo>
                <a:lnTo>
                  <a:pt x="1702316" y="98801"/>
                </a:lnTo>
                <a:lnTo>
                  <a:pt x="1714499" y="160049"/>
                </a:lnTo>
                <a:lnTo>
                  <a:pt x="1706340" y="210638"/>
                </a:lnTo>
                <a:lnTo>
                  <a:pt x="1683619" y="254573"/>
                </a:lnTo>
                <a:lnTo>
                  <a:pt x="1648973" y="289219"/>
                </a:lnTo>
                <a:lnTo>
                  <a:pt x="1605038" y="311940"/>
                </a:lnTo>
                <a:lnTo>
                  <a:pt x="1554449" y="320099"/>
                </a:lnTo>
                <a:lnTo>
                  <a:pt x="160049" y="320099"/>
                </a:lnTo>
                <a:lnTo>
                  <a:pt x="109461" y="311940"/>
                </a:lnTo>
                <a:lnTo>
                  <a:pt x="65526" y="289219"/>
                </a:lnTo>
                <a:lnTo>
                  <a:pt x="30880" y="254573"/>
                </a:lnTo>
                <a:lnTo>
                  <a:pt x="8159" y="210638"/>
                </a:lnTo>
                <a:lnTo>
                  <a:pt x="0" y="160049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513173" y="364042"/>
            <a:ext cx="1045844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100" dirty="0">
                <a:latin typeface="Tahoma"/>
                <a:cs typeface="Tahoma"/>
              </a:rPr>
              <a:t>Lazar Milicevic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34801" y="2370841"/>
            <a:ext cx="4998085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100" spc="-114" dirty="0" err="1"/>
              <a:t>Abstra</a:t>
            </a:r>
            <a:endParaRPr sz="5100" dirty="0"/>
          </a:p>
        </p:txBody>
      </p:sp>
      <p:sp>
        <p:nvSpPr>
          <p:cNvPr id="7" name="object 7"/>
          <p:cNvSpPr txBox="1"/>
          <p:nvPr/>
        </p:nvSpPr>
        <p:spPr>
          <a:xfrm>
            <a:off x="834801" y="2995580"/>
            <a:ext cx="613918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5000" spc="-105" dirty="0">
                <a:latin typeface="Tahoma"/>
                <a:cs typeface="Tahoma"/>
              </a:rPr>
              <a:t>Weekly</a:t>
            </a:r>
            <a:r>
              <a:rPr sz="5000" spc="-405" dirty="0">
                <a:latin typeface="Tahoma"/>
                <a:cs typeface="Tahoma"/>
              </a:rPr>
              <a:t> </a:t>
            </a:r>
            <a:r>
              <a:rPr sz="5000" spc="-80" dirty="0">
                <a:latin typeface="Tahoma"/>
                <a:cs typeface="Tahoma"/>
              </a:rPr>
              <a:t>support</a:t>
            </a:r>
            <a:r>
              <a:rPr sz="5000" spc="-400" dirty="0">
                <a:latin typeface="Tahoma"/>
                <a:cs typeface="Tahoma"/>
              </a:rPr>
              <a:t> </a:t>
            </a:r>
            <a:r>
              <a:rPr sz="5000" spc="-75" dirty="0">
                <a:latin typeface="Tahoma"/>
                <a:cs typeface="Tahoma"/>
              </a:rPr>
              <a:t>report</a:t>
            </a:r>
            <a:endParaRPr sz="50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469" y="1848768"/>
            <a:ext cx="4318648" cy="4318648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847493" y="3879412"/>
            <a:ext cx="424180" cy="578485"/>
          </a:xfrm>
          <a:custGeom>
            <a:avLst/>
            <a:gdLst/>
            <a:ahLst/>
            <a:cxnLst/>
            <a:rect l="l" t="t" r="r" b="b"/>
            <a:pathLst>
              <a:path w="424180" h="578485">
                <a:moveTo>
                  <a:pt x="0" y="0"/>
                </a:moveTo>
                <a:lnTo>
                  <a:pt x="0" y="469645"/>
                </a:lnTo>
                <a:lnTo>
                  <a:pt x="420094" y="469645"/>
                </a:lnTo>
              </a:path>
              <a:path w="424180" h="578485">
                <a:moveTo>
                  <a:pt x="318572" y="359947"/>
                </a:moveTo>
                <a:lnTo>
                  <a:pt x="424068" y="469133"/>
                </a:lnTo>
                <a:lnTo>
                  <a:pt x="318572" y="578318"/>
                </a:lnTo>
              </a:path>
            </a:pathLst>
          </a:custGeom>
          <a:ln w="126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511424" y="4194185"/>
            <a:ext cx="4806315" cy="52578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lang="en-US" sz="1600" spc="70" dirty="0">
                <a:latin typeface="Tahoma"/>
                <a:cs typeface="Tahoma"/>
              </a:rPr>
              <a:t>Support, Challenges, </a:t>
            </a:r>
            <a:r>
              <a:rPr lang="en-US" sz="1600" spc="70" dirty="0" err="1">
                <a:latin typeface="Tahoma"/>
                <a:cs typeface="Tahoma"/>
              </a:rPr>
              <a:t>Sollutions</a:t>
            </a:r>
            <a:endParaRPr sz="16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lang="en-US" sz="1300" spc="60" dirty="0">
                <a:latin typeface="Tahoma"/>
                <a:cs typeface="Tahoma"/>
              </a:rPr>
              <a:t>11.02.2024</a:t>
            </a:r>
            <a:endParaRPr sz="13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15" y="408633"/>
            <a:ext cx="4888865" cy="1782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500" spc="-10" dirty="0">
                <a:solidFill>
                  <a:srgbClr val="002060"/>
                </a:solidFill>
              </a:rPr>
              <a:t>Agenda</a:t>
            </a:r>
            <a:endParaRPr sz="11500" dirty="0">
              <a:solidFill>
                <a:srgbClr val="002060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4118" y="1348776"/>
            <a:ext cx="2651999" cy="2651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1305" y="4724400"/>
            <a:ext cx="231203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1. Zendesk ↔ AWS Integration Progress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55916" y="4696210"/>
            <a:ext cx="210375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3. Challenges &amp; Solutions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9843" y="5810380"/>
            <a:ext cx="262699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600" dirty="0"/>
              <a:t>2. Zendesk Ticket Management &amp; Weekly Rotation etc.  </a:t>
            </a:r>
            <a:endParaRPr lang="en-US" sz="1500" dirty="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54429" y="5799218"/>
            <a:ext cx="207454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2120" algn="l"/>
              </a:tabLst>
            </a:pPr>
            <a:r>
              <a:rPr lang="en-US" sz="1600" dirty="0"/>
              <a:t>4. Hackathon Onboarding &amp; Access Setup</a:t>
            </a:r>
            <a:endParaRPr sz="1500" dirty="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53400" y="4724400"/>
            <a:ext cx="295719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Next Steps</a:t>
            </a:r>
            <a:endParaRPr sz="1500" dirty="0">
              <a:latin typeface="Tahoma"/>
              <a:cs typeface="Tahoma"/>
            </a:endParaRPr>
          </a:p>
        </p:txBody>
      </p:sp>
      <p:pic>
        <p:nvPicPr>
          <p:cNvPr id="15" name="object 3">
            <a:extLst>
              <a:ext uri="{FF2B5EF4-FFF2-40B4-BE49-F238E27FC236}">
                <a16:creationId xmlns:a16="http://schemas.microsoft.com/office/drawing/2014/main" id="{D7D0A32C-7644-45CA-98CA-35D025CA7A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01744" y="265876"/>
            <a:ext cx="1287268" cy="285514"/>
          </a:xfrm>
          <a:prstGeom prst="rect">
            <a:avLst/>
          </a:prstGeom>
        </p:spPr>
      </p:pic>
      <p:sp>
        <p:nvSpPr>
          <p:cNvPr id="19" name="object 13">
            <a:extLst>
              <a:ext uri="{FF2B5EF4-FFF2-40B4-BE49-F238E27FC236}">
                <a16:creationId xmlns:a16="http://schemas.microsoft.com/office/drawing/2014/main" id="{FE453CAA-CEC2-4312-8F6D-BA1265865516}"/>
              </a:ext>
            </a:extLst>
          </p:cNvPr>
          <p:cNvSpPr txBox="1"/>
          <p:nvPr/>
        </p:nvSpPr>
        <p:spPr>
          <a:xfrm>
            <a:off x="8153399" y="5799218"/>
            <a:ext cx="167640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4659" algn="l"/>
              </a:tabLst>
            </a:pPr>
            <a:r>
              <a:rPr lang="en-US" sz="1600" dirty="0"/>
              <a:t>5. Questions &amp; Clarifications</a:t>
            </a:r>
            <a:endParaRPr sz="15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Zendesk ↔ AWS Integration Progress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381000" y="202765"/>
            <a:ext cx="30054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10" dirty="0">
                <a:latin typeface="Tahoma"/>
                <a:cs typeface="Tahoma"/>
              </a:rPr>
              <a:t>Customer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success: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Support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sz="800" spc="10" dirty="0">
                <a:latin typeface="Tahoma"/>
                <a:cs typeface="Tahoma"/>
              </a:rPr>
              <a:t>Report</a:t>
            </a:r>
            <a:r>
              <a:rPr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10.02.</a:t>
            </a:r>
            <a:r>
              <a:rPr lang="en-US" sz="800" spc="30" dirty="0">
                <a:latin typeface="Tahoma"/>
                <a:cs typeface="Tahoma"/>
              </a:rPr>
              <a:t>2025 – 18.02.2025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was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</a:t>
            </a:r>
            <a:r>
              <a:rPr lang="en-US" b="1" dirty="0"/>
              <a:t>AWS Support Cases</a:t>
            </a: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2400" y="2057400"/>
            <a:ext cx="5547194" cy="38908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✅ The integration between Zendesk and AWS Support is now fully operational in production!.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Over 1000+ lines of code written.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Conducted 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120+ test tickets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 Zendesk and 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400+ Zendesk updates.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Successfully tested 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120+ AWS console test cases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before moving from sandbox to production.</a:t>
            </a:r>
            <a:b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Key achievements: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Two-way sync between </a:t>
            </a: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Zendesk &amp; AWS.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AWS engineers </a:t>
            </a: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can now respond directly within Zendesk.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Improved tracking of AWS support cases within Zendesk.</a:t>
            </a:r>
          </a:p>
          <a:p>
            <a:endParaRPr lang="en-US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Full documentation is available: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 Guide - AWS Zendesk Support Integration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3" name="Picture 62">
            <a:extLst>
              <a:ext uri="{FF2B5EF4-FFF2-40B4-BE49-F238E27FC236}">
                <a16:creationId xmlns:a16="http://schemas.microsoft.com/office/drawing/2014/main" id="{61972577-0EB5-4323-B772-0D7C428443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38700"/>
            <a:ext cx="3200400" cy="5867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324" y="592622"/>
            <a:ext cx="715518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Zendesk Ticket Management &amp; Weekly Rotation etc. 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10.02.</a:t>
            </a:r>
            <a:r>
              <a:rPr lang="en-US" sz="800" spc="30" dirty="0">
                <a:latin typeface="Tahoma"/>
                <a:cs typeface="Tahoma"/>
              </a:rPr>
              <a:t>2025 – 18.02.2025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58000" y="1752600"/>
            <a:ext cx="4056450" cy="19902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/>
              <a:t>✅ Created a structured onboarding guide for hackathon winners.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ahoma"/>
                <a:cs typeface="Tahoma"/>
              </a:rPr>
              <a:t>✅ Processed and routed numerous tickets over the past two weeks.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ahoma"/>
                <a:cs typeface="Tahoma"/>
              </a:rPr>
              <a:t>✅ Developed a new Zendesk form with 28 fields and dynamic logic.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54820" y="1598032"/>
            <a:ext cx="6298380" cy="35214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br>
              <a:rPr lang="en-US" sz="1200" dirty="0">
                <a:effectLst/>
              </a:rPr>
            </a:br>
            <a:r>
              <a:rPr lang="en-US" sz="1200" b="1" dirty="0"/>
              <a:t>📌 Zendesk Ticket Management &amp; Weekly Rotation</a:t>
            </a:r>
          </a:p>
          <a:p>
            <a:endParaRPr lang="en-US" sz="1200" dirty="0"/>
          </a:p>
          <a:p>
            <a:r>
              <a:rPr lang="en-US" sz="1200" b="1" dirty="0"/>
              <a:t>✅ Efficient Ticket Processing &amp; Cleanup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Processed and routed numerous Zendesk tickets, ensuring timely responses.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Enhanced Zendesk visibility by updating views: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New "</a:t>
            </a:r>
            <a:r>
              <a:rPr lang="en-US" sz="1200" b="1" dirty="0" err="1"/>
              <a:t>SageMaker</a:t>
            </a:r>
            <a:r>
              <a:rPr lang="en-US" sz="1200" b="1" dirty="0"/>
              <a:t> Blocking Issues - AWS Tickets</a:t>
            </a:r>
            <a:r>
              <a:rPr lang="en-US" sz="1200" dirty="0"/>
              <a:t>"</a:t>
            </a:r>
            <a:r>
              <a:rPr lang="en-US" sz="1200" b="1" dirty="0"/>
              <a:t> View </a:t>
            </a:r>
            <a:r>
              <a:rPr lang="en-US" sz="1200" dirty="0"/>
              <a:t>for better tracking.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Completed weekly Zendesk rotation every </a:t>
            </a:r>
            <a:r>
              <a:rPr lang="en-US" sz="1200" dirty="0" err="1"/>
              <a:t>monday</a:t>
            </a:r>
            <a:r>
              <a:rPr lang="en-US" sz="1200" dirty="0"/>
              <a:t>, notifying agents and clearing backlog.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Queue fully cleaned, ensuring a smooth and efficient support workflow.</a:t>
            </a:r>
          </a:p>
          <a:p>
            <a:endParaRPr lang="en-US" sz="1200" dirty="0"/>
          </a:p>
          <a:p>
            <a:r>
              <a:rPr lang="en-US" sz="1200" b="1" dirty="0"/>
              <a:t>📌 New "Data Product Requests" Form</a:t>
            </a:r>
          </a:p>
          <a:p>
            <a:endParaRPr lang="en-US" sz="1200" dirty="0"/>
          </a:p>
          <a:p>
            <a:r>
              <a:rPr lang="en-US" sz="1200" b="1" dirty="0"/>
              <a:t>Enhanced Internal Request Management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Developed a powerful new Zendesk form with </a:t>
            </a:r>
            <a:r>
              <a:rPr lang="en-US" sz="1200" b="1" dirty="0"/>
              <a:t>28 fields and dynamic logic</a:t>
            </a:r>
            <a:r>
              <a:rPr lang="en-US" sz="1200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Designed to streamline internal processes and improve data requests.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Form structured based on official documentation: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linkClick r:id="rId2"/>
              </a:rPr>
              <a:t>📄 [Proposal-Process-Workflow-to-Contact-Data-Group]</a:t>
            </a:r>
            <a:endParaRPr lang="en-US" sz="1200" dirty="0"/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  <p:extLst>
      <p:ext uri="{BB962C8B-B14F-4D97-AF65-F5344CB8AC3E}">
        <p14:creationId xmlns:p14="http://schemas.microsoft.com/office/powerpoint/2010/main" val="2165109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Challenges &amp; Solutions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10.02.</a:t>
            </a:r>
            <a:r>
              <a:rPr lang="en-US" sz="800" spc="30" dirty="0">
                <a:latin typeface="Tahoma"/>
                <a:cs typeface="Tahoma"/>
              </a:rPr>
              <a:t>2025 – 18.02.2025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them: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516659" y="1295063"/>
            <a:ext cx="42672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b="1" dirty="0"/>
              <a:t>🔍 Issue: Assigning Tickets to the L2 Team</a:t>
            </a:r>
          </a:p>
          <a:p>
            <a:endParaRPr lang="en-US" sz="1400" dirty="0"/>
          </a:p>
          <a:p>
            <a:r>
              <a:rPr lang="en-US" sz="1400" b="1" dirty="0"/>
              <a:t>Assigning a ticket to L2 without setting the Squad field made it invisible to on-call agents.</a:t>
            </a:r>
          </a:p>
          <a:p>
            <a:endParaRPr lang="en-US" sz="1400" dirty="0"/>
          </a:p>
          <a:p>
            <a:r>
              <a:rPr lang="en-US" sz="1400" dirty="0"/>
              <a:t>✅ </a:t>
            </a:r>
            <a:r>
              <a:rPr lang="en-US" sz="1400" b="1" dirty="0"/>
              <a:t>Solution</a:t>
            </a:r>
            <a:r>
              <a:rPr lang="en-US" sz="1400" dirty="0"/>
              <a:t>: 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Now ensuring the Squad field is always set when assigning tickets to L2.</a:t>
            </a:r>
          </a:p>
          <a:p>
            <a:endParaRPr lang="en-US" sz="1400" dirty="0"/>
          </a:p>
          <a:p>
            <a:r>
              <a:rPr lang="en-US" sz="1400" b="1" dirty="0"/>
              <a:t>🔍 Issue: Incorrect </a:t>
            </a:r>
            <a:r>
              <a:rPr lang="en-US" sz="1400" b="1" dirty="0" err="1"/>
              <a:t>EventBridge</a:t>
            </a:r>
            <a:r>
              <a:rPr lang="en-US" sz="1400" b="1" dirty="0"/>
              <a:t> Rule Matching AWS Payloads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EventBridge</a:t>
            </a:r>
            <a:r>
              <a:rPr lang="en-US" sz="1400" dirty="0"/>
              <a:t> rules did not properly filter AWS notifications, causing unnecessary Lambda executions on irrelevant events.</a:t>
            </a:r>
          </a:p>
          <a:p>
            <a:endParaRPr lang="en-US" sz="1400" dirty="0"/>
          </a:p>
          <a:p>
            <a:r>
              <a:rPr lang="en-US" sz="1400" dirty="0"/>
              <a:t>✅ </a:t>
            </a:r>
            <a:r>
              <a:rPr lang="en-US" sz="1400" b="1" dirty="0"/>
              <a:t>Solution: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Adjusted event pattern filters to ensure only relevant AWS events (such as case status changes) are passed to Zendesk.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8BF43BB-3AD6-48CD-A995-D8FC8CB5D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592622"/>
            <a:ext cx="4648200" cy="557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22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Hackathon Onboarding &amp; Access Setup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10.02.</a:t>
            </a:r>
            <a:r>
              <a:rPr lang="en-US" sz="800" spc="30" dirty="0">
                <a:latin typeface="Tahoma"/>
                <a:cs typeface="Tahoma"/>
              </a:rPr>
              <a:t>2025 – 18.02.2025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Some of tasks completed: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727397-E955-493E-A388-042A53F6F824}"/>
              </a:ext>
            </a:extLst>
          </p:cNvPr>
          <p:cNvSpPr txBox="1"/>
          <p:nvPr/>
        </p:nvSpPr>
        <p:spPr>
          <a:xfrm>
            <a:off x="457201" y="1649603"/>
            <a:ext cx="678179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Tasks Completed:</a:t>
            </a:r>
          </a:p>
          <a:p>
            <a:endParaRPr lang="en-US" sz="1400" dirty="0"/>
          </a:p>
          <a:p>
            <a:r>
              <a:rPr lang="en-US" sz="1400" b="1" dirty="0"/>
              <a:t>Account &amp; Access Management:</a:t>
            </a:r>
          </a:p>
          <a:p>
            <a:endParaRPr lang="en-US" sz="1400" b="1" dirty="0"/>
          </a:p>
          <a:p>
            <a:r>
              <a:rPr lang="en-US" sz="1400" dirty="0"/>
              <a:t>✅ </a:t>
            </a:r>
            <a:r>
              <a:rPr lang="en-US" sz="1400" b="1" dirty="0"/>
              <a:t>Created 22 accounts</a:t>
            </a:r>
            <a:r>
              <a:rPr lang="en-US" sz="1400" dirty="0"/>
              <a:t> in </a:t>
            </a:r>
            <a:r>
              <a:rPr lang="en-US" sz="1400" b="1" dirty="0" err="1"/>
              <a:t>Keycloak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✅ Set up </a:t>
            </a:r>
            <a:r>
              <a:rPr lang="en-US" sz="1400" b="1" dirty="0"/>
              <a:t>22 customer accounts</a:t>
            </a:r>
            <a:r>
              <a:rPr lang="en-US" sz="1400" dirty="0"/>
              <a:t> in </a:t>
            </a:r>
            <a:r>
              <a:rPr lang="en-US" sz="1400" b="1" dirty="0"/>
              <a:t>Zendesk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Created projects in </a:t>
            </a:r>
            <a:r>
              <a:rPr lang="en-US" sz="1400" b="1" dirty="0" err="1"/>
              <a:t>Abstra</a:t>
            </a:r>
            <a:r>
              <a:rPr lang="en-US" sz="1400" dirty="0"/>
              <a:t> and assigned appropriate permissions to each user.</a:t>
            </a:r>
            <a:br>
              <a:rPr lang="en-US" sz="1400" dirty="0"/>
            </a:br>
            <a:r>
              <a:rPr lang="en-US" sz="1400" dirty="0"/>
              <a:t>✅ Sent </a:t>
            </a:r>
            <a:r>
              <a:rPr lang="en-US" sz="1400" b="1" dirty="0"/>
              <a:t>detailed onboarding instructions</a:t>
            </a:r>
            <a:r>
              <a:rPr lang="en-US" sz="1400" dirty="0"/>
              <a:t> to all users for first-time access to </a:t>
            </a:r>
            <a:r>
              <a:rPr lang="en-US" sz="1400" dirty="0" err="1"/>
              <a:t>Abstra</a:t>
            </a:r>
            <a:r>
              <a:rPr lang="en-US" sz="1400" dirty="0"/>
              <a:t>.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Communicated via email and Slack</a:t>
            </a:r>
            <a:r>
              <a:rPr lang="en-US" sz="1400" dirty="0"/>
              <a:t> to ensure all users successfully accessed the system.</a:t>
            </a:r>
            <a:br>
              <a:rPr lang="en-US" sz="1400" dirty="0"/>
            </a:br>
            <a:r>
              <a:rPr lang="en-US" sz="1400" dirty="0"/>
              <a:t>✅ </a:t>
            </a:r>
            <a:r>
              <a:rPr lang="en-US" sz="1400" b="1" dirty="0"/>
              <a:t>Hosted multiple meetings</a:t>
            </a:r>
            <a:r>
              <a:rPr lang="en-US" sz="1400" dirty="0"/>
              <a:t> to assist users with </a:t>
            </a:r>
            <a:r>
              <a:rPr lang="en-US" sz="1400" b="1" dirty="0" err="1"/>
              <a:t>WireGuard</a:t>
            </a:r>
            <a:r>
              <a:rPr lang="en-US" sz="1400" b="1" dirty="0"/>
              <a:t> setup</a:t>
            </a:r>
            <a:r>
              <a:rPr lang="en-US" sz="1400" dirty="0"/>
              <a:t> and ensure proper access to </a:t>
            </a:r>
            <a:r>
              <a:rPr lang="en-US" sz="1400" dirty="0" err="1"/>
              <a:t>Abstra</a:t>
            </a:r>
            <a:r>
              <a:rPr lang="en-US" sz="1400" dirty="0"/>
              <a:t>.</a:t>
            </a:r>
          </a:p>
          <a:p>
            <a:endParaRPr lang="en-US" sz="1400" dirty="0"/>
          </a:p>
          <a:p>
            <a:r>
              <a:rPr lang="en-US" sz="1400" b="1" dirty="0"/>
              <a:t>Survey Distribution:</a:t>
            </a:r>
          </a:p>
          <a:p>
            <a:endParaRPr lang="en-US" sz="1400" b="1" dirty="0"/>
          </a:p>
          <a:p>
            <a:r>
              <a:rPr lang="en-US" sz="1400" dirty="0"/>
              <a:t>✅ After ensuring all users had proper access, </a:t>
            </a:r>
            <a:r>
              <a:rPr lang="en-US" sz="1400" b="1" dirty="0"/>
              <a:t>sent out the onboarding survey</a:t>
            </a:r>
            <a:r>
              <a:rPr lang="en-US" sz="1400" dirty="0"/>
              <a:t> to collect feedback.</a:t>
            </a:r>
          </a:p>
          <a:p>
            <a:endParaRPr lang="en-US" sz="1400" dirty="0"/>
          </a:p>
          <a:p>
            <a:r>
              <a:rPr lang="en-US" sz="1400" b="1" dirty="0"/>
              <a:t>Next Steps:</a:t>
            </a:r>
          </a:p>
          <a:p>
            <a:r>
              <a:rPr lang="en-US" sz="1400" dirty="0"/>
              <a:t>🔹 Monitor survey responses and gather insights for improvement.</a:t>
            </a:r>
            <a:br>
              <a:rPr lang="en-US" sz="1400" dirty="0"/>
            </a:br>
            <a:r>
              <a:rPr lang="en-US" sz="1400" dirty="0"/>
              <a:t>🔹 Provide additional support if any users face access issues.</a:t>
            </a:r>
            <a:br>
              <a:rPr lang="en-US" sz="1400" dirty="0"/>
            </a:br>
            <a:r>
              <a:rPr lang="en-US" sz="1400" dirty="0"/>
              <a:t>🔹 Summarize findings from the survey for further enhancements.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31848C-2C47-4146-9B99-6F0733476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5880" y="1066801"/>
            <a:ext cx="4310750" cy="1905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B7DBA98-B484-489B-8665-1BF2024BA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7600" y="3056915"/>
            <a:ext cx="4434112" cy="246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28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Next Steps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10.02.</a:t>
            </a:r>
            <a:r>
              <a:rPr lang="en-US" sz="800" spc="30" dirty="0">
                <a:latin typeface="Tahoma"/>
                <a:cs typeface="Tahoma"/>
              </a:rPr>
              <a:t>2025 – 18.02.2025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What will be done: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578006"/>
            <a:ext cx="4740030" cy="439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400" dirty="0"/>
              <a:t>🔹 </a:t>
            </a:r>
            <a:r>
              <a:rPr lang="en-US" sz="1400" b="1" dirty="0"/>
              <a:t>Work on </a:t>
            </a:r>
            <a:r>
              <a:rPr lang="en-US" sz="1400" b="1" dirty="0" err="1"/>
              <a:t>SurveySparrow</a:t>
            </a:r>
            <a:r>
              <a:rPr lang="en-US" sz="1400" b="1" dirty="0"/>
              <a:t> testing and presentation</a:t>
            </a:r>
            <a:r>
              <a:rPr lang="en-US" sz="1400" dirty="0"/>
              <a:t> – </a:t>
            </a:r>
            <a:r>
              <a:rPr lang="en-US" sz="1400" i="1" dirty="0"/>
              <a:t>In progress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br>
              <a:rPr lang="en-US" sz="1400" dirty="0"/>
            </a:br>
            <a:r>
              <a:rPr lang="en-US" sz="1400" dirty="0"/>
              <a:t>🔹 </a:t>
            </a:r>
            <a:r>
              <a:rPr lang="en-US" sz="1400" b="1" dirty="0"/>
              <a:t>Ongoing monitoring of Zendesk AWS integration </a:t>
            </a:r>
            <a:r>
              <a:rPr lang="en-US" sz="1400" dirty="0"/>
              <a:t> – </a:t>
            </a:r>
            <a:r>
              <a:rPr lang="en-US" sz="1400" i="1" dirty="0"/>
              <a:t>In progress</a:t>
            </a:r>
          </a:p>
          <a:p>
            <a:pPr marL="12700" marR="5080">
              <a:spcBef>
                <a:spcPts val="100"/>
              </a:spcBef>
            </a:pPr>
            <a:br>
              <a:rPr lang="en-US" sz="1400" dirty="0"/>
            </a:br>
            <a:r>
              <a:rPr lang="en-US" sz="1400" dirty="0"/>
              <a:t>🔹 </a:t>
            </a:r>
            <a:r>
              <a:rPr lang="en-US" sz="1400" b="1" dirty="0"/>
              <a:t>Preparation of a presentation for the Canny tool </a:t>
            </a:r>
            <a:r>
              <a:rPr lang="en-US" sz="1400" dirty="0"/>
              <a:t>– </a:t>
            </a:r>
            <a:r>
              <a:rPr lang="en-US" sz="1400" i="1" dirty="0"/>
              <a:t>In progress</a:t>
            </a:r>
            <a:endParaRPr lang="en-US" sz="1400" b="1" dirty="0"/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br>
              <a:rPr lang="en-US" sz="1400" dirty="0"/>
            </a:br>
            <a:r>
              <a:rPr lang="en-US" sz="1400" dirty="0"/>
              <a:t>🔹 </a:t>
            </a:r>
            <a:r>
              <a:rPr lang="en-US" sz="1400" b="1" dirty="0"/>
              <a:t>Continuous improvement of ticket management in Zendesk </a:t>
            </a:r>
            <a:r>
              <a:rPr lang="en-US" sz="1400" dirty="0"/>
              <a:t> – </a:t>
            </a:r>
            <a:r>
              <a:rPr lang="en-US" sz="1400" i="1" dirty="0"/>
              <a:t>In progress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br>
              <a:rPr lang="en-US" sz="1400" dirty="0"/>
            </a:br>
            <a:r>
              <a:rPr lang="en-US" sz="1400" dirty="0"/>
              <a:t>🔹 </a:t>
            </a:r>
            <a:r>
              <a:rPr lang="en-US" sz="1400" b="1" dirty="0"/>
              <a:t>Responding to tickets within the first 10-15 minutes </a:t>
            </a:r>
            <a:r>
              <a:rPr lang="en-US" sz="1400" dirty="0"/>
              <a:t> – </a:t>
            </a:r>
            <a:r>
              <a:rPr lang="en-US" sz="1400" i="1" dirty="0"/>
              <a:t>In progress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br>
              <a:rPr lang="en-US" sz="1400" dirty="0"/>
            </a:br>
            <a:r>
              <a:rPr lang="en-US" sz="1400" dirty="0"/>
              <a:t>🔹 </a:t>
            </a:r>
            <a:r>
              <a:rPr lang="en-US" sz="1400" b="1" dirty="0"/>
              <a:t>Active involvement in handling L2 tickets </a:t>
            </a:r>
            <a:r>
              <a:rPr lang="en-US" sz="1400" dirty="0"/>
              <a:t> – </a:t>
            </a:r>
            <a:r>
              <a:rPr lang="en-US" sz="1400" i="1" dirty="0"/>
              <a:t>In progress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br>
              <a:rPr lang="en-US" sz="1400" dirty="0"/>
            </a:br>
            <a:r>
              <a:rPr lang="en-US" sz="1400" dirty="0"/>
              <a:t>🔹 </a:t>
            </a:r>
            <a:r>
              <a:rPr lang="en-US" sz="1400" b="1" dirty="0"/>
              <a:t>Owkin K – Contributing to the project launch with maximum effort</a:t>
            </a:r>
            <a:endParaRPr sz="1400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E9D9F1-BE68-4F35-92F1-5A4C0EA628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1600200"/>
            <a:ext cx="6022715" cy="3176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748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lang="en-US" b="1" dirty="0"/>
              <a:t>Questions &amp; Clarifications</a:t>
            </a:r>
            <a:endParaRPr spc="-45" dirty="0"/>
          </a:p>
        </p:txBody>
      </p:sp>
      <p:sp>
        <p:nvSpPr>
          <p:cNvPr id="3" name="object 3"/>
          <p:cNvSpPr txBox="1"/>
          <p:nvPr/>
        </p:nvSpPr>
        <p:spPr>
          <a:xfrm>
            <a:off x="286950" y="202765"/>
            <a:ext cx="300545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800" spc="10" dirty="0">
                <a:latin typeface="Tahoma"/>
                <a:cs typeface="Tahoma"/>
              </a:rPr>
              <a:t>Customer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success: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Weekly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Support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Report</a:t>
            </a:r>
            <a:r>
              <a:rPr lang="en-US" sz="800" spc="110" dirty="0">
                <a:latin typeface="Tahoma"/>
                <a:cs typeface="Tahoma"/>
              </a:rPr>
              <a:t> </a:t>
            </a:r>
            <a:r>
              <a:rPr lang="en-US" sz="800" spc="75" dirty="0">
                <a:latin typeface="Tahoma"/>
                <a:cs typeface="Tahoma"/>
              </a:rPr>
              <a:t>–</a:t>
            </a:r>
            <a:r>
              <a:rPr lang="en-US" sz="800" spc="105" dirty="0">
                <a:latin typeface="Tahoma"/>
                <a:cs typeface="Tahoma"/>
              </a:rPr>
              <a:t> </a:t>
            </a:r>
            <a:r>
              <a:rPr lang="en-US" sz="800" spc="10" dirty="0">
                <a:latin typeface="Tahoma"/>
                <a:cs typeface="Tahoma"/>
              </a:rPr>
              <a:t>10.02.</a:t>
            </a:r>
            <a:r>
              <a:rPr lang="en-US" sz="800" spc="30" dirty="0">
                <a:latin typeface="Tahoma"/>
                <a:cs typeface="Tahoma"/>
              </a:rPr>
              <a:t>2025 – 18.02.2025</a:t>
            </a:r>
            <a:endParaRPr lang="en-US" sz="8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65370" y="1020108"/>
            <a:ext cx="330835" cy="274955"/>
          </a:xfrm>
          <a:custGeom>
            <a:avLst/>
            <a:gdLst/>
            <a:ahLst/>
            <a:cxnLst/>
            <a:rect l="l" t="t" r="r" b="b"/>
            <a:pathLst>
              <a:path w="330834" h="274955">
                <a:moveTo>
                  <a:pt x="0" y="0"/>
                </a:moveTo>
                <a:lnTo>
                  <a:pt x="0" y="213037"/>
                </a:lnTo>
                <a:lnTo>
                  <a:pt x="329085" y="213037"/>
                </a:lnTo>
              </a:path>
              <a:path w="330834" h="274955">
                <a:moveTo>
                  <a:pt x="270153" y="150573"/>
                </a:moveTo>
                <a:lnTo>
                  <a:pt x="330227" y="212754"/>
                </a:lnTo>
                <a:lnTo>
                  <a:pt x="270153" y="274936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27174" y="1126751"/>
            <a:ext cx="1823085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200" spc="-30" dirty="0">
                <a:latin typeface="Tahoma"/>
                <a:cs typeface="Tahoma"/>
              </a:rPr>
              <a:t>?</a:t>
            </a:r>
            <a:endParaRPr sz="1200" dirty="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81900" y="1578006"/>
            <a:ext cx="339344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65370" y="1858172"/>
            <a:ext cx="35970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00000"/>
              </a:lnSpc>
              <a:spcBef>
                <a:spcPts val="100"/>
              </a:spcBef>
              <a:buFont typeface="+mj-lt"/>
              <a:buAutoNum type="arabicPeriod"/>
            </a:pPr>
            <a:r>
              <a:rPr lang="en-US" sz="1200" dirty="0"/>
              <a:t>What else needs to be done regarding the Zendesk AWS integration? Is the transition from using a single AWS account to multiple AWS accounts still relevant?</a:t>
            </a:r>
            <a:endParaRPr sz="1200" b="1" dirty="0">
              <a:latin typeface="Tahoma"/>
              <a:cs typeface="Tahoma"/>
            </a:endParaRPr>
          </a:p>
        </p:txBody>
      </p:sp>
      <p:sp>
        <p:nvSpPr>
          <p:cNvPr id="55" name="object 5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F541F-F946-46A9-AF71-65D564609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9" y="688657"/>
            <a:ext cx="4685827" cy="512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807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4888" y="2259134"/>
            <a:ext cx="35109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70" dirty="0"/>
              <a:t>Thank</a:t>
            </a:r>
            <a:r>
              <a:rPr sz="6000" spc="-509" dirty="0"/>
              <a:t> </a:t>
            </a:r>
            <a:r>
              <a:rPr sz="6000" spc="-310" dirty="0"/>
              <a:t>you!</a:t>
            </a:r>
            <a:endParaRPr sz="60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1914" y="1692574"/>
            <a:ext cx="3844118" cy="384412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pc="10" dirty="0"/>
              <a:t>Confidential</a:t>
            </a:r>
            <a:r>
              <a:rPr spc="35" dirty="0"/>
              <a:t> </a:t>
            </a:r>
            <a:r>
              <a:rPr spc="10" dirty="0"/>
              <a:t>information:</a:t>
            </a:r>
            <a:r>
              <a:rPr spc="35" dirty="0"/>
              <a:t> </a:t>
            </a:r>
            <a:r>
              <a:rPr spc="10" dirty="0"/>
              <a:t>do</a:t>
            </a:r>
            <a:r>
              <a:rPr spc="40" dirty="0"/>
              <a:t> </a:t>
            </a:r>
            <a:r>
              <a:rPr spc="10" dirty="0"/>
              <a:t>not</a:t>
            </a:r>
            <a:r>
              <a:rPr spc="35" dirty="0"/>
              <a:t> </a:t>
            </a:r>
            <a:r>
              <a:rPr spc="10" dirty="0"/>
              <a:t>share</a:t>
            </a:r>
            <a:r>
              <a:rPr spc="40" dirty="0"/>
              <a:t> </a:t>
            </a:r>
            <a:r>
              <a:rPr spc="10" dirty="0"/>
              <a:t>without</a:t>
            </a:r>
            <a:r>
              <a:rPr spc="35" dirty="0"/>
              <a:t> </a:t>
            </a:r>
            <a:r>
              <a:rPr spc="10" dirty="0"/>
              <a:t>written</a:t>
            </a:r>
            <a:r>
              <a:rPr spc="40" dirty="0"/>
              <a:t> </a:t>
            </a:r>
            <a:r>
              <a:rPr spc="10" dirty="0"/>
              <a:t>permission</a:t>
            </a:r>
            <a:r>
              <a:rPr spc="35" dirty="0"/>
              <a:t> </a:t>
            </a:r>
            <a:r>
              <a:rPr spc="10" dirty="0"/>
              <a:t>from</a:t>
            </a:r>
            <a:r>
              <a:rPr spc="35" dirty="0"/>
              <a:t> </a:t>
            </a:r>
            <a:r>
              <a:rPr spc="10" dirty="0"/>
              <a:t>Owkin,</a:t>
            </a:r>
            <a:r>
              <a:rPr spc="40" dirty="0"/>
              <a:t> </a:t>
            </a:r>
            <a:r>
              <a:rPr spc="-20" dirty="0"/>
              <a:t>Inc.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E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1801</TotalTime>
  <Words>884</Words>
  <Application>Microsoft Office PowerPoint</Application>
  <PresentationFormat>Widescreen</PresentationFormat>
  <Paragraphs>110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Tahoma</vt:lpstr>
      <vt:lpstr>Office Theme</vt:lpstr>
      <vt:lpstr>Abstra</vt:lpstr>
      <vt:lpstr>Agenda</vt:lpstr>
      <vt:lpstr>Zendesk ↔ AWS Integration Progress</vt:lpstr>
      <vt:lpstr>Zendesk Ticket Management &amp; Weekly Rotation etc. </vt:lpstr>
      <vt:lpstr>Challenges &amp; Solutions</vt:lpstr>
      <vt:lpstr>Hackathon Onboarding &amp; Access Setup</vt:lpstr>
      <vt:lpstr>Next Steps</vt:lpstr>
      <vt:lpstr>Questions &amp; Clarifications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success: Monthly Support Report - December 2024</dc:title>
  <dc:creator>LM_Win10</dc:creator>
  <cp:lastModifiedBy>Lazar Milicevic</cp:lastModifiedBy>
  <cp:revision>21</cp:revision>
  <dcterms:created xsi:type="dcterms:W3CDTF">2025-01-30T08:33:59Z</dcterms:created>
  <dcterms:modified xsi:type="dcterms:W3CDTF">2025-02-18T17:11:58Z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2025-01-30T00:00:00Z</vt:filetime>
  </property>
  <property fmtid="{D5CDD505-2E9C-101B-9397-08002B2CF9AE}" pid="3" name="Creator">
    <vt:lpwstr>Google</vt:lpwstr>
  </property>
  <property fmtid="{D5CDD505-2E9C-101B-9397-08002B2CF9AE}" pid="4" name="LastSaved">
    <vt:filetime>2025-01-30T00:00:00Z</vt:filetime>
  </property>
</Properties>
</file>