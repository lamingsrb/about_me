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91" r:id="rId4"/>
    <p:sldId id="287" r:id="rId5"/>
    <p:sldId id="288" r:id="rId6"/>
    <p:sldId id="290" r:id="rId7"/>
    <p:sldId id="286" r:id="rId8"/>
    <p:sldId id="281" r:id="rId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3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98" autoAdjust="0"/>
    <p:restoredTop sz="94660"/>
  </p:normalViewPr>
  <p:slideViewPr>
    <p:cSldViewPr>
      <p:cViewPr varScale="1">
        <p:scale>
          <a:sx n="114" d="100"/>
          <a:sy n="114" d="100"/>
        </p:scale>
        <p:origin x="300" y="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3270" cy="6858000"/>
          </a:xfrm>
          <a:custGeom>
            <a:avLst/>
            <a:gdLst/>
            <a:ahLst/>
            <a:cxnLst/>
            <a:rect l="l" t="t" r="r" b="b"/>
            <a:pathLst>
              <a:path w="12193270" h="6858000">
                <a:moveTo>
                  <a:pt x="121931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3199" y="0"/>
                </a:lnTo>
                <a:lnTo>
                  <a:pt x="12193199" y="6857999"/>
                </a:lnTo>
                <a:close/>
              </a:path>
            </a:pathLst>
          </a:custGeom>
          <a:solidFill>
            <a:srgbClr val="FAF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48098" y="272519"/>
            <a:ext cx="245452" cy="2421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3" y="0"/>
            <a:ext cx="4710430" cy="6858000"/>
          </a:xfrm>
          <a:custGeom>
            <a:avLst/>
            <a:gdLst/>
            <a:ahLst/>
            <a:cxnLst/>
            <a:rect l="l" t="t" r="r" b="b"/>
            <a:pathLst>
              <a:path w="4710430" h="6858000">
                <a:moveTo>
                  <a:pt x="4710000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4710000" y="0"/>
                </a:lnTo>
                <a:lnTo>
                  <a:pt x="4710000" y="6857999"/>
                </a:lnTo>
                <a:close/>
              </a:path>
            </a:pathLst>
          </a:custGeom>
          <a:solidFill>
            <a:srgbClr val="FAF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48098" y="272519"/>
            <a:ext cx="245452" cy="2421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3270" cy="6858000"/>
          </a:xfrm>
          <a:custGeom>
            <a:avLst/>
            <a:gdLst/>
            <a:ahLst/>
            <a:cxnLst/>
            <a:rect l="l" t="t" r="r" b="b"/>
            <a:pathLst>
              <a:path w="12193270" h="6858000">
                <a:moveTo>
                  <a:pt x="121931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3199" y="0"/>
                </a:lnTo>
                <a:lnTo>
                  <a:pt x="12193199" y="6857999"/>
                </a:lnTo>
                <a:close/>
              </a:path>
            </a:pathLst>
          </a:custGeom>
          <a:solidFill>
            <a:srgbClr val="FAF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48099" y="272519"/>
            <a:ext cx="245452" cy="2421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3" y="0"/>
            <a:ext cx="4710430" cy="6858000"/>
          </a:xfrm>
          <a:custGeom>
            <a:avLst/>
            <a:gdLst/>
            <a:ahLst/>
            <a:cxnLst/>
            <a:rect l="l" t="t" r="r" b="b"/>
            <a:pathLst>
              <a:path w="4710430" h="6858000">
                <a:moveTo>
                  <a:pt x="4710000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4710000" y="0"/>
                </a:lnTo>
                <a:lnTo>
                  <a:pt x="4710000" y="6857999"/>
                </a:lnTo>
                <a:close/>
              </a:path>
            </a:pathLst>
          </a:custGeom>
          <a:solidFill>
            <a:srgbClr val="FAF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48098" y="272519"/>
            <a:ext cx="245452" cy="2421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8324" y="592622"/>
            <a:ext cx="7155180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8442742" y="6417355"/>
            <a:ext cx="3458970" cy="1333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261548" y="6442016"/>
            <a:ext cx="193675" cy="1485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4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5.png"/><Relationship Id="rId7" Type="http://schemas.openxmlformats.org/officeDocument/2006/relationships/image" Target="../media/image19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svg"/><Relationship Id="rId4" Type="http://schemas.openxmlformats.org/officeDocument/2006/relationships/image" Target="../media/image18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76200" y="76200"/>
            <a:ext cx="12193270" cy="6858000"/>
          </a:xfrm>
          <a:custGeom>
            <a:avLst/>
            <a:gdLst/>
            <a:ahLst/>
            <a:cxnLst/>
            <a:rect l="l" t="t" r="r" b="b"/>
            <a:pathLst>
              <a:path w="12193270" h="6858000">
                <a:moveTo>
                  <a:pt x="121931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3199" y="0"/>
                </a:lnTo>
                <a:lnTo>
                  <a:pt x="12193199" y="6857999"/>
                </a:lnTo>
                <a:close/>
              </a:path>
            </a:pathLst>
          </a:custGeom>
          <a:solidFill>
            <a:srgbClr val="FAF3E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9657" y="303639"/>
            <a:ext cx="1287268" cy="285514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0178867" y="306099"/>
            <a:ext cx="1714500" cy="320675"/>
          </a:xfrm>
          <a:custGeom>
            <a:avLst/>
            <a:gdLst/>
            <a:ahLst/>
            <a:cxnLst/>
            <a:rect l="l" t="t" r="r" b="b"/>
            <a:pathLst>
              <a:path w="1714500" h="320675">
                <a:moveTo>
                  <a:pt x="0" y="160049"/>
                </a:moveTo>
                <a:lnTo>
                  <a:pt x="8159" y="109461"/>
                </a:lnTo>
                <a:lnTo>
                  <a:pt x="30880" y="65526"/>
                </a:lnTo>
                <a:lnTo>
                  <a:pt x="65526" y="30880"/>
                </a:lnTo>
                <a:lnTo>
                  <a:pt x="109461" y="8159"/>
                </a:lnTo>
                <a:lnTo>
                  <a:pt x="160049" y="0"/>
                </a:lnTo>
                <a:lnTo>
                  <a:pt x="1554449" y="0"/>
                </a:lnTo>
                <a:lnTo>
                  <a:pt x="1615698" y="12183"/>
                </a:lnTo>
                <a:lnTo>
                  <a:pt x="1667621" y="46877"/>
                </a:lnTo>
                <a:lnTo>
                  <a:pt x="1702316" y="98801"/>
                </a:lnTo>
                <a:lnTo>
                  <a:pt x="1714499" y="160049"/>
                </a:lnTo>
                <a:lnTo>
                  <a:pt x="1706340" y="210638"/>
                </a:lnTo>
                <a:lnTo>
                  <a:pt x="1683619" y="254573"/>
                </a:lnTo>
                <a:lnTo>
                  <a:pt x="1648973" y="289219"/>
                </a:lnTo>
                <a:lnTo>
                  <a:pt x="1605038" y="311940"/>
                </a:lnTo>
                <a:lnTo>
                  <a:pt x="1554449" y="320099"/>
                </a:lnTo>
                <a:lnTo>
                  <a:pt x="160049" y="320099"/>
                </a:lnTo>
                <a:lnTo>
                  <a:pt x="109461" y="311940"/>
                </a:lnTo>
                <a:lnTo>
                  <a:pt x="65526" y="289219"/>
                </a:lnTo>
                <a:lnTo>
                  <a:pt x="30880" y="254573"/>
                </a:lnTo>
                <a:lnTo>
                  <a:pt x="8159" y="210638"/>
                </a:lnTo>
                <a:lnTo>
                  <a:pt x="0" y="160049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513173" y="364042"/>
            <a:ext cx="1045844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100" dirty="0">
                <a:latin typeface="Tahoma"/>
                <a:cs typeface="Tahoma"/>
              </a:rPr>
              <a:t>Lazar Milicevic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834801" y="2370841"/>
            <a:ext cx="4998085" cy="802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5100" spc="-114" dirty="0" err="1"/>
              <a:t>Abstra</a:t>
            </a:r>
            <a:endParaRPr sz="5100" dirty="0"/>
          </a:p>
        </p:txBody>
      </p:sp>
      <p:sp>
        <p:nvSpPr>
          <p:cNvPr id="7" name="object 7"/>
          <p:cNvSpPr txBox="1"/>
          <p:nvPr/>
        </p:nvSpPr>
        <p:spPr>
          <a:xfrm>
            <a:off x="834801" y="2995580"/>
            <a:ext cx="613918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5000" spc="-105" dirty="0">
                <a:latin typeface="Tahoma"/>
                <a:cs typeface="Tahoma"/>
              </a:rPr>
              <a:t>Weekly</a:t>
            </a:r>
            <a:r>
              <a:rPr sz="5000" spc="-405" dirty="0">
                <a:latin typeface="Tahoma"/>
                <a:cs typeface="Tahoma"/>
              </a:rPr>
              <a:t> </a:t>
            </a:r>
            <a:r>
              <a:rPr sz="5000" spc="-80" dirty="0">
                <a:latin typeface="Tahoma"/>
                <a:cs typeface="Tahoma"/>
              </a:rPr>
              <a:t>support</a:t>
            </a:r>
            <a:r>
              <a:rPr sz="5000" spc="-400" dirty="0">
                <a:latin typeface="Tahoma"/>
                <a:cs typeface="Tahoma"/>
              </a:rPr>
              <a:t> </a:t>
            </a:r>
            <a:r>
              <a:rPr sz="5000" spc="-75" dirty="0">
                <a:latin typeface="Tahoma"/>
                <a:cs typeface="Tahoma"/>
              </a:rPr>
              <a:t>report</a:t>
            </a:r>
            <a:endParaRPr sz="5000" dirty="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21469" y="1848768"/>
            <a:ext cx="4318648" cy="431864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847493" y="3879412"/>
            <a:ext cx="424180" cy="578485"/>
          </a:xfrm>
          <a:custGeom>
            <a:avLst/>
            <a:gdLst/>
            <a:ahLst/>
            <a:cxnLst/>
            <a:rect l="l" t="t" r="r" b="b"/>
            <a:pathLst>
              <a:path w="424180" h="578485">
                <a:moveTo>
                  <a:pt x="0" y="0"/>
                </a:moveTo>
                <a:lnTo>
                  <a:pt x="0" y="469645"/>
                </a:lnTo>
                <a:lnTo>
                  <a:pt x="420094" y="469645"/>
                </a:lnTo>
              </a:path>
              <a:path w="424180" h="578485">
                <a:moveTo>
                  <a:pt x="318572" y="359947"/>
                </a:moveTo>
                <a:lnTo>
                  <a:pt x="424068" y="469133"/>
                </a:lnTo>
                <a:lnTo>
                  <a:pt x="318572" y="578318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511424" y="4194185"/>
            <a:ext cx="4806315" cy="532197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lang="en-US" sz="1600" spc="70" dirty="0">
                <a:latin typeface="Tahoma"/>
                <a:cs typeface="Tahoma"/>
              </a:rPr>
              <a:t>Support, Challenges, Solutions</a:t>
            </a:r>
            <a:endParaRPr sz="16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lang="en-US" sz="1400" spc="10" dirty="0">
                <a:latin typeface="Tahoma"/>
                <a:cs typeface="Tahoma"/>
              </a:rPr>
              <a:t>14.10.2025</a:t>
            </a:r>
            <a:endParaRPr lang="en-US" sz="1300" dirty="0">
              <a:latin typeface="Tahoma"/>
              <a:cs typeface="Tahom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62515" y="408633"/>
            <a:ext cx="4888865" cy="17825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0" spc="-10" dirty="0">
                <a:solidFill>
                  <a:srgbClr val="002060"/>
                </a:solidFill>
              </a:rPr>
              <a:t>Agenda</a:t>
            </a:r>
            <a:endParaRPr sz="11500" dirty="0">
              <a:solidFill>
                <a:srgbClr val="002060"/>
              </a:solidFill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34118" y="1348776"/>
            <a:ext cx="2651999" cy="26519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060344" y="4627825"/>
            <a:ext cx="231203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1600" dirty="0"/>
              <a:t>1. Ticket &amp; License Management</a:t>
            </a:r>
            <a:endParaRPr lang="en-US" sz="1500" dirty="0">
              <a:latin typeface="Tahoma"/>
              <a:cs typeface="Tahom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084812" y="5635966"/>
            <a:ext cx="210375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1600" dirty="0"/>
              <a:t>2. Infra &amp; Product Coordination</a:t>
            </a:r>
            <a:endParaRPr sz="1500" dirty="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495800" y="4627825"/>
            <a:ext cx="207454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2120" algn="l"/>
              </a:tabLst>
            </a:pPr>
            <a:r>
              <a:rPr lang="en-US" sz="1600" dirty="0"/>
              <a:t>3. Visual &amp; Helpdesk Improvements</a:t>
            </a:r>
            <a:endParaRPr sz="1500" dirty="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533475" y="5635965"/>
            <a:ext cx="2957195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4659" algn="l"/>
              </a:tabLst>
            </a:pPr>
            <a:r>
              <a:rPr lang="en-US" sz="1600" dirty="0"/>
              <a:t>4. Historical Data Backfill</a:t>
            </a:r>
            <a:endParaRPr sz="1500" dirty="0">
              <a:latin typeface="Tahoma"/>
              <a:cs typeface="Tahoma"/>
            </a:endParaRPr>
          </a:p>
        </p:txBody>
      </p:sp>
      <p:pic>
        <p:nvPicPr>
          <p:cNvPr id="15" name="object 3">
            <a:extLst>
              <a:ext uri="{FF2B5EF4-FFF2-40B4-BE49-F238E27FC236}">
                <a16:creationId xmlns:a16="http://schemas.microsoft.com/office/drawing/2014/main" id="{D7D0A32C-7644-45CA-98CA-35D025CA7A2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01744" y="265876"/>
            <a:ext cx="1287268" cy="285514"/>
          </a:xfrm>
          <a:prstGeom prst="rect">
            <a:avLst/>
          </a:prstGeom>
        </p:spPr>
      </p:pic>
      <p:sp>
        <p:nvSpPr>
          <p:cNvPr id="19" name="object 13">
            <a:extLst>
              <a:ext uri="{FF2B5EF4-FFF2-40B4-BE49-F238E27FC236}">
                <a16:creationId xmlns:a16="http://schemas.microsoft.com/office/drawing/2014/main" id="{FE453CAA-CEC2-4312-8F6D-BA1265865516}"/>
              </a:ext>
            </a:extLst>
          </p:cNvPr>
          <p:cNvSpPr txBox="1"/>
          <p:nvPr/>
        </p:nvSpPr>
        <p:spPr>
          <a:xfrm>
            <a:off x="7010400" y="4621413"/>
            <a:ext cx="1676402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4659" algn="l"/>
              </a:tabLst>
            </a:pPr>
            <a:r>
              <a:rPr lang="en-US" sz="1600" dirty="0"/>
              <a:t>5. Next Steps</a:t>
            </a:r>
            <a:endParaRPr sz="1600" dirty="0">
              <a:latin typeface="Tahoma"/>
              <a:cs typeface="Tahoma"/>
            </a:endParaRPr>
          </a:p>
        </p:txBody>
      </p:sp>
      <p:sp>
        <p:nvSpPr>
          <p:cNvPr id="17" name="object 13">
            <a:extLst>
              <a:ext uri="{FF2B5EF4-FFF2-40B4-BE49-F238E27FC236}">
                <a16:creationId xmlns:a16="http://schemas.microsoft.com/office/drawing/2014/main" id="{2A861DC8-E8DF-4533-9F46-FC34E0370B82}"/>
              </a:ext>
            </a:extLst>
          </p:cNvPr>
          <p:cNvSpPr txBox="1"/>
          <p:nvPr/>
        </p:nvSpPr>
        <p:spPr>
          <a:xfrm>
            <a:off x="7010400" y="5629553"/>
            <a:ext cx="1676402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4659" algn="l"/>
              </a:tabLst>
            </a:pPr>
            <a:r>
              <a:rPr lang="en-US" sz="1600" dirty="0"/>
              <a:t>6. Q&amp;A</a:t>
            </a:r>
            <a:endParaRPr sz="16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8324" y="592622"/>
            <a:ext cx="715518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b="1" dirty="0"/>
              <a:t>Ticket &amp; License 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spc="10" dirty="0">
                <a:latin typeface="Tahoma"/>
                <a:cs typeface="Tahoma"/>
              </a:rPr>
              <a:t>Customer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success: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Support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Report</a:t>
            </a:r>
            <a:r>
              <a:rPr lang="en-US"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14.10.2025</a:t>
            </a:r>
            <a:endParaRPr lang="en-US"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DCFCE6-1904-4BF1-A229-A5A5AD2D73B8}"/>
              </a:ext>
            </a:extLst>
          </p:cNvPr>
          <p:cNvSpPr txBox="1"/>
          <p:nvPr/>
        </p:nvSpPr>
        <p:spPr>
          <a:xfrm>
            <a:off x="762000" y="103921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Where we are now 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CE175B-DBFE-4996-B46E-10165EC9A8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36435" y="1647050"/>
            <a:ext cx="6012614" cy="3335299"/>
          </a:xfrm>
          <a:prstGeom prst="rect">
            <a:avLst/>
          </a:prstGeom>
        </p:spPr>
      </p:pic>
      <p:pic>
        <p:nvPicPr>
          <p:cNvPr id="10" name="Image 0">
            <a:extLst>
              <a:ext uri="{FF2B5EF4-FFF2-40B4-BE49-F238E27FC236}">
                <a16:creationId xmlns:a16="http://schemas.microsoft.com/office/drawing/2014/main" id="{B784A098-A4F6-417E-9475-C8C492A483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6950" y="2438400"/>
            <a:ext cx="274320" cy="274320"/>
          </a:xfrm>
          <a:prstGeom prst="rect">
            <a:avLst/>
          </a:prstGeom>
        </p:spPr>
      </p:pic>
      <p:pic>
        <p:nvPicPr>
          <p:cNvPr id="11" name="Image 1">
            <a:extLst>
              <a:ext uri="{FF2B5EF4-FFF2-40B4-BE49-F238E27FC236}">
                <a16:creationId xmlns:a16="http://schemas.microsoft.com/office/drawing/2014/main" id="{3BC7A76F-ABC6-4321-96BF-10CF15F245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6950" y="3361730"/>
            <a:ext cx="274320" cy="274320"/>
          </a:xfrm>
          <a:prstGeom prst="rect">
            <a:avLst/>
          </a:prstGeom>
        </p:spPr>
      </p:pic>
      <p:pic>
        <p:nvPicPr>
          <p:cNvPr id="12" name="Image 2">
            <a:extLst>
              <a:ext uri="{FF2B5EF4-FFF2-40B4-BE49-F238E27FC236}">
                <a16:creationId xmlns:a16="http://schemas.microsoft.com/office/drawing/2014/main" id="{5530A74A-BC0B-407C-860A-CE34AA8A74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2518" y="4298641"/>
            <a:ext cx="274320" cy="274320"/>
          </a:xfrm>
          <a:prstGeom prst="rect">
            <a:avLst/>
          </a:prstGeom>
        </p:spPr>
      </p:pic>
      <p:pic>
        <p:nvPicPr>
          <p:cNvPr id="14" name="Image 3">
            <a:extLst>
              <a:ext uri="{FF2B5EF4-FFF2-40B4-BE49-F238E27FC236}">
                <a16:creationId xmlns:a16="http://schemas.microsoft.com/office/drawing/2014/main" id="{6B57FFD2-4047-4E90-B613-1DF40C8BDF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86950" y="5139704"/>
            <a:ext cx="274320" cy="27432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F690AAF-40ED-4DC1-8A97-5A1C8A0DCB25}"/>
              </a:ext>
            </a:extLst>
          </p:cNvPr>
          <p:cNvSpPr txBox="1"/>
          <p:nvPr/>
        </p:nvSpPr>
        <p:spPr>
          <a:xfrm>
            <a:off x="561270" y="2389554"/>
            <a:ext cx="401073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Rotated Zendesk </a:t>
            </a:r>
            <a:r>
              <a:rPr lang="en-US" b="1" dirty="0"/>
              <a:t>on‑call schedule &amp; triaged incoming tickets</a:t>
            </a:r>
            <a:r>
              <a:rPr lang="en-US" dirty="0"/>
              <a:t>, ensuring SLA adherence.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E63F05-DE68-4FF7-A1A7-2010858D6C38}"/>
              </a:ext>
            </a:extLst>
          </p:cNvPr>
          <p:cNvSpPr txBox="1"/>
          <p:nvPr/>
        </p:nvSpPr>
        <p:spPr>
          <a:xfrm>
            <a:off x="530787" y="3372528"/>
            <a:ext cx="41174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Managed new Zendesk licenses for agents and external collaborators.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6FB72FC-18E2-4FEE-96DC-C09C32B77879}"/>
              </a:ext>
            </a:extLst>
          </p:cNvPr>
          <p:cNvSpPr txBox="1"/>
          <p:nvPr/>
        </p:nvSpPr>
        <p:spPr>
          <a:xfrm>
            <a:off x="536103" y="4155240"/>
            <a:ext cx="38834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Created &amp; refined ticket views and macros for efficient triage.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C918009-1D92-446C-A3D6-EB60A800568C}"/>
              </a:ext>
            </a:extLst>
          </p:cNvPr>
          <p:cNvSpPr txBox="1"/>
          <p:nvPr/>
        </p:nvSpPr>
        <p:spPr>
          <a:xfrm>
            <a:off x="677330" y="5053520"/>
            <a:ext cx="404707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Handled </a:t>
            </a:r>
            <a:r>
              <a:rPr lang="en-US" b="1" dirty="0"/>
              <a:t>Cursor &amp; </a:t>
            </a:r>
            <a:r>
              <a:rPr lang="en-US" b="1" dirty="0" err="1"/>
              <a:t>Abstra</a:t>
            </a:r>
            <a:r>
              <a:rPr lang="en-US" b="1" dirty="0"/>
              <a:t> Access </a:t>
            </a:r>
            <a:r>
              <a:rPr lang="en-US" dirty="0"/>
              <a:t>requests and delivered support documentation.</a:t>
            </a:r>
          </a:p>
        </p:txBody>
      </p:sp>
    </p:spTree>
    <p:extLst>
      <p:ext uri="{BB962C8B-B14F-4D97-AF65-F5344CB8AC3E}">
        <p14:creationId xmlns:p14="http://schemas.microsoft.com/office/powerpoint/2010/main" val="734024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Infra &amp; Product Coordination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spc="10" dirty="0">
                <a:latin typeface="Tahoma"/>
                <a:cs typeface="Tahoma"/>
              </a:rPr>
              <a:t>Customer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success: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Support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Report</a:t>
            </a:r>
            <a:r>
              <a:rPr lang="en-US"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14.10.2025</a:t>
            </a:r>
            <a:endParaRPr lang="en-US"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27174" y="1126751"/>
            <a:ext cx="182308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spc="-30" dirty="0">
                <a:latin typeface="Tahoma"/>
                <a:cs typeface="Tahoma"/>
              </a:rPr>
              <a:t>Some of them: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5B2633-5A00-405D-9049-BCE23F605E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5548" y="1438033"/>
            <a:ext cx="6958063" cy="3690244"/>
          </a:xfrm>
          <a:prstGeom prst="rect">
            <a:avLst/>
          </a:prstGeom>
        </p:spPr>
      </p:pic>
      <p:pic>
        <p:nvPicPr>
          <p:cNvPr id="9" name="Image 0">
            <a:extLst>
              <a:ext uri="{FF2B5EF4-FFF2-40B4-BE49-F238E27FC236}">
                <a16:creationId xmlns:a16="http://schemas.microsoft.com/office/drawing/2014/main" id="{1152816A-4C30-4DA8-92E4-92E5E9BE29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V="1">
            <a:off x="149790" y="2011680"/>
            <a:ext cx="274320" cy="198120"/>
          </a:xfrm>
          <a:prstGeom prst="rect">
            <a:avLst/>
          </a:prstGeom>
        </p:spPr>
      </p:pic>
      <p:pic>
        <p:nvPicPr>
          <p:cNvPr id="10" name="Image 1">
            <a:extLst>
              <a:ext uri="{FF2B5EF4-FFF2-40B4-BE49-F238E27FC236}">
                <a16:creationId xmlns:a16="http://schemas.microsoft.com/office/drawing/2014/main" id="{E0802A09-ED3A-43CC-9E3A-6BB8B7406D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49790" y="2948940"/>
            <a:ext cx="274320" cy="198120"/>
          </a:xfrm>
          <a:prstGeom prst="rect">
            <a:avLst/>
          </a:prstGeom>
        </p:spPr>
      </p:pic>
      <p:pic>
        <p:nvPicPr>
          <p:cNvPr id="11" name="Image 2">
            <a:extLst>
              <a:ext uri="{FF2B5EF4-FFF2-40B4-BE49-F238E27FC236}">
                <a16:creationId xmlns:a16="http://schemas.microsoft.com/office/drawing/2014/main" id="{1F7DFE3C-FC48-47B3-A908-C00152B0A5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V="1">
            <a:off x="131164" y="3934716"/>
            <a:ext cx="274320" cy="198120"/>
          </a:xfrm>
          <a:prstGeom prst="rect">
            <a:avLst/>
          </a:prstGeom>
        </p:spPr>
      </p:pic>
      <p:pic>
        <p:nvPicPr>
          <p:cNvPr id="12" name="Image 3">
            <a:extLst>
              <a:ext uri="{FF2B5EF4-FFF2-40B4-BE49-F238E27FC236}">
                <a16:creationId xmlns:a16="http://schemas.microsoft.com/office/drawing/2014/main" id="{E1A6551B-E146-4453-8E61-3816EE721B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V="1">
            <a:off x="149790" y="4958249"/>
            <a:ext cx="274320" cy="19812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B7A24A7-0241-4811-AE19-CF4A79ADA99A}"/>
              </a:ext>
            </a:extLst>
          </p:cNvPr>
          <p:cNvSpPr txBox="1"/>
          <p:nvPr/>
        </p:nvSpPr>
        <p:spPr>
          <a:xfrm>
            <a:off x="513310" y="1912772"/>
            <a:ext cx="42872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Conducted multiple </a:t>
            </a:r>
            <a:r>
              <a:rPr lang="en-US" b="1" dirty="0"/>
              <a:t>network troubleshooting sessions </a:t>
            </a:r>
            <a:r>
              <a:rPr lang="en-US" dirty="0"/>
              <a:t>with end users to resolve connectivity issues.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9833D4-146C-41A4-9948-8C1CB72EBD86}"/>
              </a:ext>
            </a:extLst>
          </p:cNvPr>
          <p:cNvSpPr txBox="1"/>
          <p:nvPr/>
        </p:nvSpPr>
        <p:spPr>
          <a:xfrm>
            <a:off x="456268" y="2948940"/>
            <a:ext cx="43443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Investigated &amp; </a:t>
            </a:r>
            <a:r>
              <a:rPr lang="en-US" b="1" dirty="0"/>
              <a:t>resolved access problems with </a:t>
            </a:r>
            <a:r>
              <a:rPr lang="en-US" b="1" dirty="0" err="1"/>
              <a:t>Abstra</a:t>
            </a:r>
            <a:r>
              <a:rPr lang="en-US" b="1" dirty="0"/>
              <a:t> </a:t>
            </a:r>
            <a:r>
              <a:rPr lang="en-US" dirty="0"/>
              <a:t>(user provisioning &amp; permissions).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67BB97B-4329-4077-AA13-3BB6DDCA7CB0}"/>
              </a:ext>
            </a:extLst>
          </p:cNvPr>
          <p:cNvSpPr txBox="1"/>
          <p:nvPr/>
        </p:nvSpPr>
        <p:spPr>
          <a:xfrm>
            <a:off x="424359" y="3914687"/>
            <a:ext cx="43443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Collaborated with Product &amp; Infra teams to align onboarding logic and coordinate escalations.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84F2BC1-4327-45B4-9A69-3DB59F1F21A1}"/>
              </a:ext>
            </a:extLst>
          </p:cNvPr>
          <p:cNvSpPr txBox="1"/>
          <p:nvPr/>
        </p:nvSpPr>
        <p:spPr>
          <a:xfrm>
            <a:off x="405484" y="4871976"/>
            <a:ext cx="45475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Supported new user onboarding for </a:t>
            </a:r>
            <a:r>
              <a:rPr lang="en-US" dirty="0" err="1"/>
              <a:t>Abstra</a:t>
            </a:r>
            <a:r>
              <a:rPr lang="en-US" dirty="0"/>
              <a:t> (VPN setup, sign‑up flows etc..).</a:t>
            </a:r>
          </a:p>
        </p:txBody>
      </p:sp>
    </p:spTree>
    <p:extLst>
      <p:ext uri="{BB962C8B-B14F-4D97-AF65-F5344CB8AC3E}">
        <p14:creationId xmlns:p14="http://schemas.microsoft.com/office/powerpoint/2010/main" val="3071828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5370" y="567856"/>
            <a:ext cx="7155180" cy="3911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Historical Data Backfill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spc="10" dirty="0">
                <a:latin typeface="Tahoma"/>
                <a:cs typeface="Tahoma"/>
              </a:rPr>
              <a:t>Customer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success: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Support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Report</a:t>
            </a:r>
            <a:r>
              <a:rPr lang="en-US"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14.10.2025</a:t>
            </a:r>
            <a:endParaRPr lang="en-US"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703895" y="335904"/>
            <a:ext cx="339344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endParaRPr dirty="0">
              <a:latin typeface="Tahoma"/>
              <a:cs typeface="Tahoma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258ED0-D02C-4306-8530-4D36144EE36B}"/>
              </a:ext>
            </a:extLst>
          </p:cNvPr>
          <p:cNvSpPr txBox="1"/>
          <p:nvPr/>
        </p:nvSpPr>
        <p:spPr>
          <a:xfrm>
            <a:off x="697603" y="1061769"/>
            <a:ext cx="6094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Cognito → </a:t>
            </a:r>
            <a:r>
              <a:rPr lang="en-US" dirty="0" err="1"/>
              <a:t>PostHog</a:t>
            </a:r>
            <a:endParaRPr lang="en-US" dirty="0"/>
          </a:p>
        </p:txBody>
      </p:sp>
      <p:pic>
        <p:nvPicPr>
          <p:cNvPr id="13" name="table">
            <a:extLst>
              <a:ext uri="{FF2B5EF4-FFF2-40B4-BE49-F238E27FC236}">
                <a16:creationId xmlns:a16="http://schemas.microsoft.com/office/drawing/2014/main" id="{B3F7F22E-A9EA-4117-9D3A-0E1B9779E2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1106" y="1533855"/>
            <a:ext cx="5486400" cy="2743200"/>
          </a:xfrm>
          <a:prstGeom prst="rect">
            <a:avLst/>
          </a:prstGeom>
        </p:spPr>
      </p:pic>
      <p:pic>
        <p:nvPicPr>
          <p:cNvPr id="14" name="Image 0">
            <a:extLst>
              <a:ext uri="{FF2B5EF4-FFF2-40B4-BE49-F238E27FC236}">
                <a16:creationId xmlns:a16="http://schemas.microsoft.com/office/drawing/2014/main" id="{5DF2748A-877E-45A4-95F1-9CF5ACA415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8866" y="1774395"/>
            <a:ext cx="274320" cy="274320"/>
          </a:xfrm>
          <a:prstGeom prst="rect">
            <a:avLst/>
          </a:prstGeom>
        </p:spPr>
      </p:pic>
      <p:pic>
        <p:nvPicPr>
          <p:cNvPr id="15" name="Image 1">
            <a:extLst>
              <a:ext uri="{FF2B5EF4-FFF2-40B4-BE49-F238E27FC236}">
                <a16:creationId xmlns:a16="http://schemas.microsoft.com/office/drawing/2014/main" id="{9409A5A1-1200-4562-8018-7142B2CA37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8866" y="2723449"/>
            <a:ext cx="274320" cy="274320"/>
          </a:xfrm>
          <a:prstGeom prst="rect">
            <a:avLst/>
          </a:prstGeom>
        </p:spPr>
      </p:pic>
      <p:pic>
        <p:nvPicPr>
          <p:cNvPr id="16" name="Image 2">
            <a:extLst>
              <a:ext uri="{FF2B5EF4-FFF2-40B4-BE49-F238E27FC236}">
                <a16:creationId xmlns:a16="http://schemas.microsoft.com/office/drawing/2014/main" id="{7E3D3FB7-02C9-4745-B09B-61CEC2772E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8866" y="3786732"/>
            <a:ext cx="274320" cy="274320"/>
          </a:xfrm>
          <a:prstGeom prst="rect">
            <a:avLst/>
          </a:prstGeom>
        </p:spPr>
      </p:pic>
      <p:pic>
        <p:nvPicPr>
          <p:cNvPr id="17" name="Image 3">
            <a:extLst>
              <a:ext uri="{FF2B5EF4-FFF2-40B4-BE49-F238E27FC236}">
                <a16:creationId xmlns:a16="http://schemas.microsoft.com/office/drawing/2014/main" id="{AF1519AA-A648-496D-8E2B-6B66BD3CC3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8866" y="4539789"/>
            <a:ext cx="274320" cy="274320"/>
          </a:xfrm>
          <a:prstGeom prst="rect">
            <a:avLst/>
          </a:prstGeom>
        </p:spPr>
      </p:pic>
      <p:pic>
        <p:nvPicPr>
          <p:cNvPr id="18" name="Image 4">
            <a:extLst>
              <a:ext uri="{FF2B5EF4-FFF2-40B4-BE49-F238E27FC236}">
                <a16:creationId xmlns:a16="http://schemas.microsoft.com/office/drawing/2014/main" id="{57F73B42-A451-4100-87EC-79C5C8DDBC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8866" y="5194116"/>
            <a:ext cx="274320" cy="27432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21F9F46-62BE-4300-8EFF-8E581B196342}"/>
              </a:ext>
            </a:extLst>
          </p:cNvPr>
          <p:cNvSpPr txBox="1"/>
          <p:nvPr/>
        </p:nvSpPr>
        <p:spPr>
          <a:xfrm>
            <a:off x="669751" y="1721849"/>
            <a:ext cx="520114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Objective: backfill historical sign‑up data from AWS Cognito into </a:t>
            </a:r>
            <a:r>
              <a:rPr lang="en-US" dirty="0" err="1"/>
              <a:t>PostHog</a:t>
            </a:r>
            <a:r>
              <a:rPr lang="en-US" dirty="0"/>
              <a:t> to consolidate analytics.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CBE883-039D-4826-BA2B-C57F9CECC998}"/>
              </a:ext>
            </a:extLst>
          </p:cNvPr>
          <p:cNvSpPr txBox="1"/>
          <p:nvPr/>
        </p:nvSpPr>
        <p:spPr>
          <a:xfrm>
            <a:off x="699701" y="2657336"/>
            <a:ext cx="501879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Built Python pipeline for export parsing, </a:t>
            </a:r>
            <a:r>
              <a:rPr lang="en-US" b="1" dirty="0" err="1"/>
              <a:t>email→distinct_id</a:t>
            </a:r>
            <a:r>
              <a:rPr lang="en-US" b="1" dirty="0"/>
              <a:t> </a:t>
            </a:r>
            <a:r>
              <a:rPr lang="en-US" dirty="0"/>
              <a:t>mapping, JSONL generation &amp; batch uploads with deduplication.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7C87249-8D44-4328-BE4A-5E858E3ADB11}"/>
              </a:ext>
            </a:extLst>
          </p:cNvPr>
          <p:cNvSpPr txBox="1"/>
          <p:nvPr/>
        </p:nvSpPr>
        <p:spPr>
          <a:xfrm>
            <a:off x="685830" y="3690887"/>
            <a:ext cx="50487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Full backfill completed: </a:t>
            </a:r>
            <a:r>
              <a:rPr lang="en-US" b="1" dirty="0"/>
              <a:t>1,146 users </a:t>
            </a:r>
            <a:r>
              <a:rPr lang="en-US" dirty="0"/>
              <a:t>imported across 11 batches </a:t>
            </a:r>
            <a:r>
              <a:rPr lang="en-US" b="1" dirty="0"/>
              <a:t>with zero duplicates</a:t>
            </a:r>
            <a:r>
              <a:rPr lang="en-US" dirty="0"/>
              <a:t>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5C2D9AB-55F4-43E5-B40B-B17AB63130E4}"/>
              </a:ext>
            </a:extLst>
          </p:cNvPr>
          <p:cNvSpPr txBox="1"/>
          <p:nvPr/>
        </p:nvSpPr>
        <p:spPr>
          <a:xfrm>
            <a:off x="643186" y="4451356"/>
            <a:ext cx="47705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Tested with custom events to ensure data integrity before production import.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A60AB3D-A23E-46F2-8A49-D6E098A36FB2}"/>
              </a:ext>
            </a:extLst>
          </p:cNvPr>
          <p:cNvSpPr txBox="1"/>
          <p:nvPr/>
        </p:nvSpPr>
        <p:spPr>
          <a:xfrm>
            <a:off x="643186" y="5175583"/>
            <a:ext cx="51955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Phase 3: using CloudTrail to extract confirmation timestamps for `</a:t>
            </a:r>
            <a:r>
              <a:rPr lang="en-US" dirty="0" err="1"/>
              <a:t>signup_confirm_successful</a:t>
            </a:r>
            <a:r>
              <a:rPr lang="en-US" dirty="0"/>
              <a:t>` event. – In progress</a:t>
            </a:r>
          </a:p>
        </p:txBody>
      </p:sp>
    </p:spTree>
    <p:extLst>
      <p:ext uri="{BB962C8B-B14F-4D97-AF65-F5344CB8AC3E}">
        <p14:creationId xmlns:p14="http://schemas.microsoft.com/office/powerpoint/2010/main" val="2457212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Next Steps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spc="10" dirty="0">
                <a:latin typeface="Tahoma"/>
                <a:cs typeface="Tahoma"/>
              </a:rPr>
              <a:t>Customer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success: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Support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Report</a:t>
            </a:r>
            <a:r>
              <a:rPr lang="en-US"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14.10.2025</a:t>
            </a:r>
            <a:endParaRPr lang="en-US"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27174" y="1126751"/>
            <a:ext cx="182308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spc="-30" dirty="0">
                <a:latin typeface="Tahoma"/>
                <a:cs typeface="Tahoma"/>
              </a:rPr>
              <a:t>?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pic>
        <p:nvPicPr>
          <p:cNvPr id="8" name="Image 0">
            <a:extLst>
              <a:ext uri="{FF2B5EF4-FFF2-40B4-BE49-F238E27FC236}">
                <a16:creationId xmlns:a16="http://schemas.microsoft.com/office/drawing/2014/main" id="{F7D07070-7935-4C1A-9737-D949B86FD6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52600" y="2133600"/>
            <a:ext cx="274320" cy="274320"/>
          </a:xfrm>
          <a:prstGeom prst="rect">
            <a:avLst/>
          </a:prstGeom>
        </p:spPr>
      </p:pic>
      <p:pic>
        <p:nvPicPr>
          <p:cNvPr id="9" name="Image 1">
            <a:extLst>
              <a:ext uri="{FF2B5EF4-FFF2-40B4-BE49-F238E27FC236}">
                <a16:creationId xmlns:a16="http://schemas.microsoft.com/office/drawing/2014/main" id="{99A93B1A-B714-4365-A664-5A83B92119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52600" y="2819400"/>
            <a:ext cx="274320" cy="274320"/>
          </a:xfrm>
          <a:prstGeom prst="rect">
            <a:avLst/>
          </a:prstGeom>
        </p:spPr>
      </p:pic>
      <p:pic>
        <p:nvPicPr>
          <p:cNvPr id="12" name="Image 3">
            <a:extLst>
              <a:ext uri="{FF2B5EF4-FFF2-40B4-BE49-F238E27FC236}">
                <a16:creationId xmlns:a16="http://schemas.microsoft.com/office/drawing/2014/main" id="{556A9C46-C80C-44CC-90DF-43440EAA39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92089" y="3429000"/>
            <a:ext cx="274320" cy="27432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6BEC032-F572-4249-A7C1-F1F5DA8C8DCD}"/>
              </a:ext>
            </a:extLst>
          </p:cNvPr>
          <p:cNvSpPr txBox="1"/>
          <p:nvPr/>
        </p:nvSpPr>
        <p:spPr>
          <a:xfrm>
            <a:off x="2133600" y="2048764"/>
            <a:ext cx="60946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Extract and backfill `</a:t>
            </a:r>
            <a:r>
              <a:rPr lang="en-US" b="1" dirty="0" err="1"/>
              <a:t>signup_confirm_successful</a:t>
            </a:r>
            <a:r>
              <a:rPr lang="en-US" dirty="0"/>
              <a:t>` using CloudTrail logs.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DD76DF-C760-445F-A470-71272635494C}"/>
              </a:ext>
            </a:extLst>
          </p:cNvPr>
          <p:cNvSpPr txBox="1"/>
          <p:nvPr/>
        </p:nvSpPr>
        <p:spPr>
          <a:xfrm>
            <a:off x="2112189" y="2664335"/>
            <a:ext cx="60946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30A18"/>
                </a:solidFill>
              </a:rPr>
              <a:t>Merge confirmation </a:t>
            </a:r>
            <a:r>
              <a:rPr lang="en-US" sz="1800" b="1" dirty="0">
                <a:solidFill>
                  <a:srgbClr val="030A18"/>
                </a:solidFill>
              </a:rPr>
              <a:t>timestamps with existing dataset </a:t>
            </a:r>
            <a:r>
              <a:rPr lang="en-US" sz="1800" dirty="0">
                <a:solidFill>
                  <a:srgbClr val="030A18"/>
                </a:solidFill>
              </a:rPr>
              <a:t>&amp; update dashboards.</a:t>
            </a:r>
            <a:endParaRPr lang="en-US" sz="18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2A1060B-D36E-4E70-9600-E9166566AB2E}"/>
              </a:ext>
            </a:extLst>
          </p:cNvPr>
          <p:cNvSpPr txBox="1"/>
          <p:nvPr/>
        </p:nvSpPr>
        <p:spPr>
          <a:xfrm>
            <a:off x="2133600" y="3310666"/>
            <a:ext cx="6094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Finalize any remaining customer success remaining tasks</a:t>
            </a:r>
          </a:p>
        </p:txBody>
      </p:sp>
    </p:spTree>
    <p:extLst>
      <p:ext uri="{BB962C8B-B14F-4D97-AF65-F5344CB8AC3E}">
        <p14:creationId xmlns:p14="http://schemas.microsoft.com/office/powerpoint/2010/main" val="6332442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b="1" dirty="0"/>
              <a:t>Q&amp;A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spc="10" dirty="0">
                <a:latin typeface="Tahoma"/>
                <a:cs typeface="Tahoma"/>
              </a:rPr>
              <a:t>Customer success: Weekly Support Report – 14.10.2025</a:t>
            </a: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27174" y="1126751"/>
            <a:ext cx="182308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spc="-30" dirty="0">
                <a:latin typeface="Tahoma"/>
                <a:cs typeface="Tahoma"/>
              </a:rPr>
              <a:t>?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1F541F-F946-46A9-AF71-65D564609B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9" y="688657"/>
            <a:ext cx="4685827" cy="512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8071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4888" y="2259134"/>
            <a:ext cx="351091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170" dirty="0"/>
              <a:t>Thank</a:t>
            </a:r>
            <a:r>
              <a:rPr sz="6000" spc="-509" dirty="0"/>
              <a:t> </a:t>
            </a:r>
            <a:r>
              <a:rPr sz="6000" spc="-310" dirty="0"/>
              <a:t>you!</a:t>
            </a:r>
            <a:endParaRPr sz="6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1914" y="1692574"/>
            <a:ext cx="3844118" cy="384412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9E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3300</TotalTime>
  <Words>451</Words>
  <Application>Microsoft Office PowerPoint</Application>
  <PresentationFormat>Widescreen</PresentationFormat>
  <Paragraphs>52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Calibri</vt:lpstr>
      <vt:lpstr>Tahoma</vt:lpstr>
      <vt:lpstr>Office Theme</vt:lpstr>
      <vt:lpstr>Abstra</vt:lpstr>
      <vt:lpstr>Agenda</vt:lpstr>
      <vt:lpstr>Ticket &amp; License Management</vt:lpstr>
      <vt:lpstr>Infra &amp; Product Coordination</vt:lpstr>
      <vt:lpstr>Historical Data Backfill</vt:lpstr>
      <vt:lpstr>Next Steps</vt:lpstr>
      <vt:lpstr>Q&amp;A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success: Monthly Support Report - December 2024</dc:title>
  <dc:creator>LM_Win10</dc:creator>
  <cp:lastModifiedBy>Lazar Milicevic</cp:lastModifiedBy>
  <cp:revision>72</cp:revision>
  <dcterms:created xsi:type="dcterms:W3CDTF">2025-01-30T08:33:59Z</dcterms:created>
  <dcterms:modified xsi:type="dcterms:W3CDTF">2025-10-14T00:28:35Z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2025-01-30T00:00:00Z</vt:filetime>
  </property>
  <property fmtid="{D5CDD505-2E9C-101B-9397-08002B2CF9AE}" pid="3" name="Creator">
    <vt:lpwstr>Google</vt:lpwstr>
  </property>
  <property fmtid="{D5CDD505-2E9C-101B-9397-08002B2CF9AE}" pid="4" name="LastSaved">
    <vt:filetime>2025-01-30T00:00:00Z</vt:filetime>
  </property>
</Properties>
</file>