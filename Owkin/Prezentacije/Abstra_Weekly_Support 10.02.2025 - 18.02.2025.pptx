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3" r:id="rId5"/>
    <p:sldId id="284" r:id="rId6"/>
    <p:sldId id="285" r:id="rId7"/>
    <p:sldId id="286" r:id="rId8"/>
    <p:sldId id="281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663" y="5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otion.so/owkin-1/Weekly-Report-February-3-10-2025-1969d6c3b1238094ae2df4ea73a6b627?pvs=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owkin-1/Proposal-Process-workflow-to-Contact-data-group-18a9d6c3b123807e8903e35d2faefb56" TargetMode="External"/><Relationship Id="rId2" Type="http://schemas.openxmlformats.org/officeDocument/2006/relationships/hyperlink" Target="https://www.notion.so/owkin-1/Abstra-Onboarding-Guide-for-Hackathon-Winners-1939d6c3b123803dac67f37d80cd8b3b?pvs=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257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300" spc="60" dirty="0">
                <a:latin typeface="Tahoma"/>
                <a:cs typeface="Tahoma"/>
              </a:rPr>
              <a:t>11.02.2024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1305" y="4724400"/>
            <a:ext cx="2312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↔ AWS Integration Progress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55916" y="4696210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3. Challenges &amp; Solutions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9843" y="5810380"/>
            <a:ext cx="262699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Zendesk Ticket Management &amp; Weekly Rotation etc.  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41204" y="5810380"/>
            <a:ext cx="207454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Next Steps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3400" y="4724400"/>
            <a:ext cx="29571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Questions &amp; Clarifications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9F0A44-68D6-4E5C-B104-C8923ACCCEF3}"/>
              </a:ext>
            </a:extLst>
          </p:cNvPr>
          <p:cNvSpPr txBox="1"/>
          <p:nvPr/>
        </p:nvSpPr>
        <p:spPr>
          <a:xfrm>
            <a:off x="8153399" y="1117937"/>
            <a:ext cx="2957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Please find the full detailed report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3C32FB-664A-4061-9195-4A8262F6D424}"/>
              </a:ext>
            </a:extLst>
          </p:cNvPr>
          <p:cNvSpPr txBox="1"/>
          <p:nvPr/>
        </p:nvSpPr>
        <p:spPr>
          <a:xfrm>
            <a:off x="8839200" y="1365341"/>
            <a:ext cx="129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HERE :)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Zendesk ↔ AWS Integration Progress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✅ </a:t>
            </a:r>
            <a:r>
              <a:rPr lang="en-US" b="1" dirty="0"/>
              <a:t>AWS Support Cases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2400" y="2057400"/>
            <a:ext cx="5547194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✅ The integration between Zendesk and AWS Support is now fully operational in production!.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 1000+ lines of code written.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Conducted 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120+ test tickets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Zendesk and 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400+ Zendesk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Successfully tested 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120+ AWS console test cases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moving from sandbox to production.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achievements: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Two-way sync between 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Zendesk &amp; AWS.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AWS engineers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now respond directly within Zendesk.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Improved tracking of AWS support cases within Zendesk.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Full documentation is available: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Technical Guide - AWS Zendesk Support Integration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1972577-0EB5-4323-B772-0D7C42844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338700"/>
            <a:ext cx="32004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Zendesk Ticket Management &amp; Weekly Rotation etc. 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730703" y="1295063"/>
            <a:ext cx="4056450" cy="19902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✅ Created a structured onboarding guide for hackathon winners.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ahoma"/>
                <a:cs typeface="Tahoma"/>
              </a:rPr>
              <a:t>✅ Processed and routed numerous tickets over the past week.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ahoma"/>
                <a:cs typeface="Tahoma"/>
              </a:rPr>
              <a:t>✅ Developed a new Zendesk form with 28 fields and dynamic logic.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820" y="1598032"/>
            <a:ext cx="6298380" cy="4998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200" b="1" dirty="0"/>
              <a:t>📌 </a:t>
            </a:r>
            <a:r>
              <a:rPr lang="en-US" sz="1200" b="1" dirty="0" err="1"/>
              <a:t>Abstra</a:t>
            </a:r>
            <a:r>
              <a:rPr lang="en-US" sz="1200" b="1" dirty="0"/>
              <a:t> Onboarding Guide for Hackathon Winners</a:t>
            </a:r>
          </a:p>
          <a:p>
            <a:endParaRPr lang="en-US" sz="1200" dirty="0"/>
          </a:p>
          <a:p>
            <a:r>
              <a:rPr lang="en-US" sz="1200" dirty="0"/>
              <a:t>✅ </a:t>
            </a:r>
            <a:r>
              <a:rPr lang="en-US" sz="1200" b="1" dirty="0"/>
              <a:t>Structured and Ready for Use!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Includes all essential links and documentation to ensure a smooth onboarding process.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Not yet distributed, pending final internal review.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Available on Notion: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  <a:hlinkClick r:id="rId2"/>
              </a:rPr>
              <a:t>Abstra</a:t>
            </a:r>
            <a:r>
              <a:rPr lang="en-US" sz="1200" dirty="0">
                <a:effectLst/>
                <a:hlinkClick r:id="rId2"/>
              </a:rPr>
              <a:t> Onboarding Guide for Hackathon Winners</a:t>
            </a:r>
            <a:br>
              <a:rPr lang="en-US" sz="1200" dirty="0">
                <a:effectLst/>
              </a:rPr>
            </a:br>
            <a:endParaRPr lang="en-US" sz="1200" dirty="0"/>
          </a:p>
          <a:p>
            <a:r>
              <a:rPr lang="en-US" sz="1200" b="1" dirty="0"/>
              <a:t>📌 Zendesk Ticket Management &amp; Weekly Rotation</a:t>
            </a:r>
          </a:p>
          <a:p>
            <a:endParaRPr lang="en-US" sz="1200" dirty="0"/>
          </a:p>
          <a:p>
            <a:r>
              <a:rPr lang="en-US" sz="1200" b="1" dirty="0"/>
              <a:t>✅ Efficient Ticket Processing &amp; Cleanup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Processed and routed numerous Zendesk tickets, ensuring timely responses.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Enhanced Zendesk visibility by updating views: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New "</a:t>
            </a:r>
            <a:r>
              <a:rPr lang="en-US" sz="1200" b="1" dirty="0" err="1"/>
              <a:t>SageMaker</a:t>
            </a:r>
            <a:r>
              <a:rPr lang="en-US" sz="1200" b="1" dirty="0"/>
              <a:t> Blocking Issues - AWS Tickets</a:t>
            </a:r>
            <a:r>
              <a:rPr lang="en-US" sz="1200" dirty="0"/>
              <a:t>"</a:t>
            </a:r>
            <a:r>
              <a:rPr lang="en-US" sz="1200" b="1" dirty="0"/>
              <a:t> View </a:t>
            </a:r>
            <a:r>
              <a:rPr lang="en-US" sz="1200" dirty="0"/>
              <a:t>for better tracking.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Completed weekly Zendesk rotation, notifying agents and clearing backlog.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Queue fully cleaned, ensuring a smooth and efficient support workflow.</a:t>
            </a:r>
          </a:p>
          <a:p>
            <a:endParaRPr lang="en-US" sz="1200" dirty="0"/>
          </a:p>
          <a:p>
            <a:r>
              <a:rPr lang="en-US" sz="1200" b="1" dirty="0"/>
              <a:t>📌 New "Data Product Requests" Form</a:t>
            </a:r>
          </a:p>
          <a:p>
            <a:endParaRPr lang="en-US" sz="1200" dirty="0"/>
          </a:p>
          <a:p>
            <a:r>
              <a:rPr lang="en-US" sz="1200" b="1" dirty="0"/>
              <a:t>Enhanced Internal Request Management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Developed a powerful new Zendesk form with </a:t>
            </a:r>
            <a:r>
              <a:rPr lang="en-US" sz="1200" b="1" dirty="0"/>
              <a:t>28 fields and dynamic logic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Designed to streamline internal processes and improve data requests.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Form structured based on official documentation: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linkClick r:id="rId3"/>
              </a:rPr>
              <a:t>📄 [Proposal-Process-Workflow-to-Contact-Data-Group]</a:t>
            </a:r>
            <a:endParaRPr lang="en-US" sz="1200" dirty="0"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  <p:extLst>
      <p:ext uri="{BB962C8B-B14F-4D97-AF65-F5344CB8AC3E}">
        <p14:creationId xmlns:p14="http://schemas.microsoft.com/office/powerpoint/2010/main" val="216510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Challenges &amp; Solutions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7397-E955-493E-A388-042A53F6F824}"/>
              </a:ext>
            </a:extLst>
          </p:cNvPr>
          <p:cNvSpPr txBox="1"/>
          <p:nvPr/>
        </p:nvSpPr>
        <p:spPr>
          <a:xfrm>
            <a:off x="516659" y="1295063"/>
            <a:ext cx="42672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b="1" dirty="0"/>
              <a:t>🔍 Issue: Assigning Tickets to the L2 Team</a:t>
            </a:r>
          </a:p>
          <a:p>
            <a:endParaRPr lang="en-US" sz="1400" dirty="0"/>
          </a:p>
          <a:p>
            <a:r>
              <a:rPr lang="en-US" sz="1400" b="1" dirty="0"/>
              <a:t>Assigning a ticket to L2 without setting the Squad field made it invisible to on-call agents.</a:t>
            </a:r>
          </a:p>
          <a:p>
            <a:endParaRPr lang="en-US" sz="1400" dirty="0"/>
          </a:p>
          <a:p>
            <a:r>
              <a:rPr lang="en-US" sz="1400" dirty="0"/>
              <a:t>✅ </a:t>
            </a:r>
            <a:r>
              <a:rPr lang="en-US" sz="1400" b="1" dirty="0"/>
              <a:t>Solution</a:t>
            </a:r>
            <a:r>
              <a:rPr lang="en-US" sz="1400" dirty="0"/>
              <a:t>: 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Now ensuring the Squad field is always set when assigning tickets to L2.</a:t>
            </a:r>
          </a:p>
          <a:p>
            <a:endParaRPr lang="en-US" sz="1400" dirty="0"/>
          </a:p>
          <a:p>
            <a:r>
              <a:rPr lang="en-US" sz="1400" b="1" dirty="0"/>
              <a:t>🔍 Issue: Incorrect </a:t>
            </a:r>
            <a:r>
              <a:rPr lang="en-US" sz="1400" b="1" dirty="0" err="1"/>
              <a:t>EventBridge</a:t>
            </a:r>
            <a:r>
              <a:rPr lang="en-US" sz="1400" b="1" dirty="0"/>
              <a:t> Rule Matching AWS Payloads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EventBridge</a:t>
            </a:r>
            <a:r>
              <a:rPr lang="en-US" sz="1400" dirty="0"/>
              <a:t> rules did not properly filter AWS notifications, causing unnecessary Lambda executions on irrelevant events.</a:t>
            </a:r>
          </a:p>
          <a:p>
            <a:endParaRPr lang="en-US" sz="1400" dirty="0"/>
          </a:p>
          <a:p>
            <a:r>
              <a:rPr lang="en-US" sz="1400" dirty="0"/>
              <a:t>✅ </a:t>
            </a:r>
            <a:r>
              <a:rPr lang="en-US" sz="1400" b="1" dirty="0"/>
              <a:t>Solution: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Adjusted event pattern filters to ensure only relevant AWS events (such as case status changes) are passed to Zendesk.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BF43BB-3AD6-48CD-A995-D8FC8CB5D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592622"/>
            <a:ext cx="4648200" cy="557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2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858172"/>
            <a:ext cx="3597030" cy="2862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latin typeface="Tahoma"/>
                <a:cs typeface="Tahoma"/>
              </a:rPr>
              <a:t>Finalize AWS-Zendesk integration documentation </a:t>
            </a:r>
            <a:r>
              <a:rPr lang="en-US" sz="1100" dirty="0">
                <a:latin typeface="Tahoma"/>
                <a:cs typeface="Tahoma"/>
              </a:rPr>
              <a:t>and continue monitoring live usage.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latin typeface="Tahoma"/>
                <a:cs typeface="Tahoma"/>
              </a:rPr>
              <a:t>Communicate AWS-Zendesk changes </a:t>
            </a:r>
            <a:r>
              <a:rPr lang="en-US" sz="1100" dirty="0">
                <a:latin typeface="Tahoma"/>
                <a:cs typeface="Tahoma"/>
              </a:rPr>
              <a:t>with users &amp; provide guidance.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latin typeface="Tahoma"/>
                <a:cs typeface="Tahoma"/>
              </a:rPr>
              <a:t>Review and distribute the </a:t>
            </a:r>
            <a:r>
              <a:rPr lang="en-US" sz="1100" b="1" dirty="0" err="1">
                <a:latin typeface="Tahoma"/>
                <a:cs typeface="Tahoma"/>
              </a:rPr>
              <a:t>Abstra</a:t>
            </a:r>
            <a:r>
              <a:rPr lang="en-US" sz="1100" b="1" dirty="0">
                <a:latin typeface="Tahoma"/>
                <a:cs typeface="Tahoma"/>
              </a:rPr>
              <a:t> Onboarding Guide</a:t>
            </a:r>
            <a:r>
              <a:rPr lang="en-US" sz="1100" dirty="0">
                <a:latin typeface="Tahoma"/>
                <a:cs typeface="Tahoma"/>
              </a:rPr>
              <a:t> to hackathon winners.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latin typeface="Tahoma"/>
                <a:cs typeface="Tahoma"/>
              </a:rPr>
              <a:t>Continue improving Zendesk workflow</a:t>
            </a:r>
            <a:r>
              <a:rPr lang="en-US" sz="1100" dirty="0">
                <a:latin typeface="Tahoma"/>
                <a:cs typeface="Tahoma"/>
              </a:rPr>
              <a:t> and Data Product Requests Form.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latin typeface="Tahoma"/>
                <a:cs typeface="Tahoma"/>
              </a:rPr>
              <a:t>Address pending Linear tasks: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100" dirty="0">
              <a:latin typeface="Tahoma"/>
              <a:cs typeface="Tahoma"/>
            </a:endParaRPr>
          </a:p>
          <a:p>
            <a:pPr marL="241300" marR="5080" lvl="2" indent="-2286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Tahoma"/>
                <a:cs typeface="Tahoma"/>
              </a:rPr>
              <a:t>TRA-70: 30-min walkthrough/Q&amp;A.</a:t>
            </a:r>
          </a:p>
          <a:p>
            <a:pPr marL="241300" marR="5080" lvl="2" indent="-2286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Tahoma"/>
                <a:cs typeface="Tahoma"/>
              </a:rPr>
              <a:t>TRA-52: Restricting </a:t>
            </a:r>
            <a:r>
              <a:rPr lang="en-US" sz="1100" dirty="0" err="1">
                <a:latin typeface="Tahoma"/>
                <a:cs typeface="Tahoma"/>
              </a:rPr>
              <a:t>SageMaker</a:t>
            </a:r>
            <a:r>
              <a:rPr lang="en-US" sz="1100" dirty="0">
                <a:latin typeface="Tahoma"/>
                <a:cs typeface="Tahoma"/>
              </a:rPr>
              <a:t>/Data Catalog access.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F619B-9F50-44E0-BF44-5DB95AC3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080" y="838200"/>
            <a:ext cx="6991900" cy="530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48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Questions &amp; Clarifications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858172"/>
            <a:ext cx="3597030" cy="21210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1200" dirty="0">
                <a:latin typeface="Tahoma"/>
                <a:cs typeface="Tahoma"/>
              </a:rPr>
              <a:t>What is the </a:t>
            </a:r>
            <a:r>
              <a:rPr lang="en-US" sz="1200" b="1" dirty="0">
                <a:latin typeface="Tahoma"/>
                <a:cs typeface="Tahoma"/>
              </a:rPr>
              <a:t>correct </a:t>
            </a:r>
            <a:r>
              <a:rPr lang="en-US" sz="1200" b="1" dirty="0" err="1">
                <a:latin typeface="Tahoma"/>
                <a:cs typeface="Tahoma"/>
              </a:rPr>
              <a:t>Napta</a:t>
            </a:r>
            <a:r>
              <a:rPr lang="en-US" sz="1200" b="1" dirty="0">
                <a:latin typeface="Tahoma"/>
                <a:cs typeface="Tahoma"/>
              </a:rPr>
              <a:t> code for hackathon</a:t>
            </a:r>
            <a:r>
              <a:rPr lang="en-US" sz="1200" dirty="0">
                <a:latin typeface="Tahoma"/>
                <a:cs typeface="Tahoma"/>
              </a:rPr>
              <a:t> projects?</a:t>
            </a:r>
          </a:p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endParaRPr lang="en-US" sz="1200" dirty="0">
              <a:latin typeface="Tahoma"/>
              <a:cs typeface="Tahoma"/>
            </a:endParaRPr>
          </a:p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1200" dirty="0">
                <a:latin typeface="Tahoma"/>
                <a:cs typeface="Tahoma"/>
              </a:rPr>
              <a:t>Should we </a:t>
            </a:r>
            <a:r>
              <a:rPr lang="en-US" sz="1200" b="1" dirty="0">
                <a:latin typeface="Tahoma"/>
                <a:cs typeface="Tahoma"/>
              </a:rPr>
              <a:t>update hackathon team names in </a:t>
            </a:r>
            <a:r>
              <a:rPr lang="en-US" sz="1200" b="1" dirty="0" err="1">
                <a:latin typeface="Tahoma"/>
                <a:cs typeface="Tahoma"/>
              </a:rPr>
              <a:t>Abstra</a:t>
            </a:r>
            <a:r>
              <a:rPr lang="en-US" sz="1200" b="1" dirty="0">
                <a:latin typeface="Tahoma"/>
                <a:cs typeface="Tahoma"/>
              </a:rPr>
              <a:t>?</a:t>
            </a:r>
          </a:p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endParaRPr lang="en-US" sz="1200" dirty="0">
              <a:latin typeface="Tahoma"/>
              <a:cs typeface="Tahoma"/>
            </a:endParaRPr>
          </a:p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1200" dirty="0">
                <a:latin typeface="Tahoma"/>
                <a:cs typeface="Tahoma"/>
              </a:rPr>
              <a:t>How should we handle users </a:t>
            </a:r>
            <a:r>
              <a:rPr lang="en-US" sz="1200" b="1" dirty="0">
                <a:latin typeface="Tahoma"/>
                <a:cs typeface="Tahoma"/>
              </a:rPr>
              <a:t>without VPN access to </a:t>
            </a:r>
            <a:r>
              <a:rPr lang="en-US" sz="1200" b="1" dirty="0" err="1">
                <a:latin typeface="Tahoma"/>
                <a:cs typeface="Tahoma"/>
              </a:rPr>
              <a:t>Abstra</a:t>
            </a:r>
            <a:r>
              <a:rPr lang="en-US" sz="1200" b="1" dirty="0">
                <a:latin typeface="Tahoma"/>
                <a:cs typeface="Tahoma"/>
              </a:rPr>
              <a:t>?</a:t>
            </a:r>
          </a:p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endParaRPr lang="en-US" sz="1200" dirty="0">
              <a:latin typeface="Tahoma"/>
              <a:cs typeface="Tahoma"/>
            </a:endParaRPr>
          </a:p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1200" dirty="0">
                <a:latin typeface="Tahoma"/>
                <a:cs typeface="Tahoma"/>
              </a:rPr>
              <a:t>Where can we track</a:t>
            </a:r>
            <a:r>
              <a:rPr lang="en-US" sz="1200" b="1" dirty="0">
                <a:latin typeface="Tahoma"/>
                <a:cs typeface="Tahoma"/>
              </a:rPr>
              <a:t> responses for forms sent to users?</a:t>
            </a:r>
            <a:endParaRPr sz="1200" b="1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1306</TotalTime>
  <Words>732</Words>
  <Application>Microsoft Office PowerPoint</Application>
  <PresentationFormat>Widescreen</PresentationFormat>
  <Paragraphs>114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Tahoma</vt:lpstr>
      <vt:lpstr>Office Theme</vt:lpstr>
      <vt:lpstr>Abstra</vt:lpstr>
      <vt:lpstr>Agenda</vt:lpstr>
      <vt:lpstr>Zendesk ↔ AWS Integration Progress</vt:lpstr>
      <vt:lpstr>Zendesk Ticket Management &amp; Weekly Rotation etc. </vt:lpstr>
      <vt:lpstr>Challenges &amp; Solutions</vt:lpstr>
      <vt:lpstr>Next Steps</vt:lpstr>
      <vt:lpstr>Questions &amp; Clarifications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17</cp:revision>
  <dcterms:created xsi:type="dcterms:W3CDTF">2025-01-30T08:33:59Z</dcterms:created>
  <dcterms:modified xsi:type="dcterms:W3CDTF">2025-02-10T17:47:32Z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