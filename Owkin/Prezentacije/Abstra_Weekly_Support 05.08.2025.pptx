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91" r:id="rId4"/>
    <p:sldId id="287" r:id="rId5"/>
    <p:sldId id="288" r:id="rId6"/>
    <p:sldId id="292" r:id="rId7"/>
    <p:sldId id="290" r:id="rId8"/>
    <p:sldId id="286" r:id="rId9"/>
    <p:sldId id="281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8" autoAdjust="0"/>
    <p:restoredTop sz="94660"/>
  </p:normalViewPr>
  <p:slideViewPr>
    <p:cSldViewPr>
      <p:cViewPr varScale="1">
        <p:scale>
          <a:sx n="114" d="100"/>
          <a:sy n="114" d="100"/>
        </p:scale>
        <p:origin x="300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" y="0"/>
            <a:ext cx="4710430" cy="6858000"/>
          </a:xfrm>
          <a:custGeom>
            <a:avLst/>
            <a:gdLst/>
            <a:ahLst/>
            <a:cxnLst/>
            <a:rect l="l" t="t" r="r" b="b"/>
            <a:pathLst>
              <a:path w="4710430" h="6858000">
                <a:moveTo>
                  <a:pt x="4710000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4710000" y="0"/>
                </a:lnTo>
                <a:lnTo>
                  <a:pt x="4710000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9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" y="0"/>
            <a:ext cx="4710430" cy="6858000"/>
          </a:xfrm>
          <a:custGeom>
            <a:avLst/>
            <a:gdLst/>
            <a:ahLst/>
            <a:cxnLst/>
            <a:rect l="l" t="t" r="r" b="b"/>
            <a:pathLst>
              <a:path w="4710430" h="6858000">
                <a:moveTo>
                  <a:pt x="4710000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4710000" y="0"/>
                </a:lnTo>
                <a:lnTo>
                  <a:pt x="4710000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8324" y="592622"/>
            <a:ext cx="715518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442742" y="6417355"/>
            <a:ext cx="3458970" cy="1333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61548" y="6442016"/>
            <a:ext cx="193675" cy="148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u/0/folders/1HB4OG_FOkLs1__MWlZbi7ZuWJ1mHhzwr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u.posthog.com/project/75119/dashboard/219611" TargetMode="External"/><Relationship Id="rId7" Type="http://schemas.openxmlformats.org/officeDocument/2006/relationships/image" Target="../media/image7.png"/><Relationship Id="rId2" Type="http://schemas.openxmlformats.org/officeDocument/2006/relationships/hyperlink" Target="https://eu.posthog.com/project/75119/dashboard/21961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otion.so/owkin-1/PostHog-Analytics-User-Guide-2429d6c3b123800aaf81f8e52f9a1c78?source=copy_link" TargetMode="External"/><Relationship Id="rId5" Type="http://schemas.openxmlformats.org/officeDocument/2006/relationships/hyperlink" Target="https://www.notion.so/owkin-1/PostHog-Pilot-Plan-Next-2-Weeks-July-22-August-2-2025-2389d6c3b12380adb48bf70d40e2204a" TargetMode="External"/><Relationship Id="rId4" Type="http://schemas.openxmlformats.org/officeDocument/2006/relationships/hyperlink" Target="https://linear.app/owkin/project/analytics-metrics-and-dashboards-c0a50481de69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76200" y="7620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657" y="303639"/>
            <a:ext cx="1287268" cy="28551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178867" y="306099"/>
            <a:ext cx="1714500" cy="320675"/>
          </a:xfrm>
          <a:custGeom>
            <a:avLst/>
            <a:gdLst/>
            <a:ahLst/>
            <a:cxnLst/>
            <a:rect l="l" t="t" r="r" b="b"/>
            <a:pathLst>
              <a:path w="1714500" h="320675">
                <a:moveTo>
                  <a:pt x="0" y="160049"/>
                </a:moveTo>
                <a:lnTo>
                  <a:pt x="8159" y="109461"/>
                </a:lnTo>
                <a:lnTo>
                  <a:pt x="30880" y="65526"/>
                </a:lnTo>
                <a:lnTo>
                  <a:pt x="65526" y="30880"/>
                </a:lnTo>
                <a:lnTo>
                  <a:pt x="109461" y="8159"/>
                </a:lnTo>
                <a:lnTo>
                  <a:pt x="160049" y="0"/>
                </a:lnTo>
                <a:lnTo>
                  <a:pt x="1554449" y="0"/>
                </a:lnTo>
                <a:lnTo>
                  <a:pt x="1615698" y="12183"/>
                </a:lnTo>
                <a:lnTo>
                  <a:pt x="1667621" y="46877"/>
                </a:lnTo>
                <a:lnTo>
                  <a:pt x="1702316" y="98801"/>
                </a:lnTo>
                <a:lnTo>
                  <a:pt x="1714499" y="160049"/>
                </a:lnTo>
                <a:lnTo>
                  <a:pt x="1706340" y="210638"/>
                </a:lnTo>
                <a:lnTo>
                  <a:pt x="1683619" y="254573"/>
                </a:lnTo>
                <a:lnTo>
                  <a:pt x="1648973" y="289219"/>
                </a:lnTo>
                <a:lnTo>
                  <a:pt x="1605038" y="311940"/>
                </a:lnTo>
                <a:lnTo>
                  <a:pt x="1554449" y="320099"/>
                </a:lnTo>
                <a:lnTo>
                  <a:pt x="160049" y="320099"/>
                </a:lnTo>
                <a:lnTo>
                  <a:pt x="109461" y="311940"/>
                </a:lnTo>
                <a:lnTo>
                  <a:pt x="65526" y="289219"/>
                </a:lnTo>
                <a:lnTo>
                  <a:pt x="30880" y="254573"/>
                </a:lnTo>
                <a:lnTo>
                  <a:pt x="8159" y="210638"/>
                </a:lnTo>
                <a:lnTo>
                  <a:pt x="0" y="16004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513173" y="364042"/>
            <a:ext cx="1045844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ahoma"/>
                <a:cs typeface="Tahoma"/>
              </a:rPr>
              <a:t>Lazar Milicevic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34801" y="2370841"/>
            <a:ext cx="4998085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100" spc="-114" dirty="0" err="1"/>
              <a:t>Abstra</a:t>
            </a:r>
            <a:endParaRPr sz="5100" dirty="0"/>
          </a:p>
        </p:txBody>
      </p:sp>
      <p:sp>
        <p:nvSpPr>
          <p:cNvPr id="7" name="object 7"/>
          <p:cNvSpPr txBox="1"/>
          <p:nvPr/>
        </p:nvSpPr>
        <p:spPr>
          <a:xfrm>
            <a:off x="834801" y="2995580"/>
            <a:ext cx="613918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000" spc="-105" dirty="0">
                <a:latin typeface="Tahoma"/>
                <a:cs typeface="Tahoma"/>
              </a:rPr>
              <a:t>Weekly</a:t>
            </a:r>
            <a:r>
              <a:rPr sz="5000" spc="-405" dirty="0">
                <a:latin typeface="Tahoma"/>
                <a:cs typeface="Tahoma"/>
              </a:rPr>
              <a:t> </a:t>
            </a:r>
            <a:r>
              <a:rPr sz="5000" spc="-80" dirty="0">
                <a:latin typeface="Tahoma"/>
                <a:cs typeface="Tahoma"/>
              </a:rPr>
              <a:t>support</a:t>
            </a:r>
            <a:r>
              <a:rPr sz="5000" spc="-400" dirty="0">
                <a:latin typeface="Tahoma"/>
                <a:cs typeface="Tahoma"/>
              </a:rPr>
              <a:t> </a:t>
            </a:r>
            <a:r>
              <a:rPr sz="5000" spc="-75" dirty="0">
                <a:latin typeface="Tahoma"/>
                <a:cs typeface="Tahoma"/>
              </a:rPr>
              <a:t>report</a:t>
            </a:r>
            <a:endParaRPr sz="5000" dirty="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21469" y="1848768"/>
            <a:ext cx="4318648" cy="431864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847493" y="3879412"/>
            <a:ext cx="424180" cy="578485"/>
          </a:xfrm>
          <a:custGeom>
            <a:avLst/>
            <a:gdLst/>
            <a:ahLst/>
            <a:cxnLst/>
            <a:rect l="l" t="t" r="r" b="b"/>
            <a:pathLst>
              <a:path w="424180" h="578485">
                <a:moveTo>
                  <a:pt x="0" y="0"/>
                </a:moveTo>
                <a:lnTo>
                  <a:pt x="0" y="469645"/>
                </a:lnTo>
                <a:lnTo>
                  <a:pt x="420094" y="469645"/>
                </a:lnTo>
              </a:path>
              <a:path w="424180" h="578485">
                <a:moveTo>
                  <a:pt x="318572" y="359947"/>
                </a:moveTo>
                <a:lnTo>
                  <a:pt x="424068" y="469133"/>
                </a:lnTo>
                <a:lnTo>
                  <a:pt x="318572" y="578318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11424" y="4194185"/>
            <a:ext cx="4806315" cy="532197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lang="en-US" sz="1600" spc="70" dirty="0">
                <a:latin typeface="Tahoma"/>
                <a:cs typeface="Tahoma"/>
              </a:rPr>
              <a:t>Support, Challenges, </a:t>
            </a:r>
            <a:r>
              <a:rPr lang="en-US" sz="1600" spc="70" dirty="0" err="1">
                <a:latin typeface="Tahoma"/>
                <a:cs typeface="Tahoma"/>
              </a:rPr>
              <a:t>Sollutions</a:t>
            </a:r>
            <a:endParaRPr sz="16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n-US" sz="1400" spc="10" dirty="0">
                <a:latin typeface="Tahoma"/>
                <a:cs typeface="Tahoma"/>
              </a:rPr>
              <a:t>26.08.2025</a:t>
            </a:r>
            <a:endParaRPr lang="en-US" sz="13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2515" y="408633"/>
            <a:ext cx="4888865" cy="17825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0" spc="-10" dirty="0">
                <a:solidFill>
                  <a:srgbClr val="002060"/>
                </a:solidFill>
              </a:rPr>
              <a:t>Agenda</a:t>
            </a:r>
            <a:endParaRPr sz="11500" dirty="0">
              <a:solidFill>
                <a:srgbClr val="002060"/>
              </a:solidFill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4118" y="1348776"/>
            <a:ext cx="2651999" cy="2651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60344" y="4627825"/>
            <a:ext cx="231203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1. Operational &amp; Reporting Highlights</a:t>
            </a:r>
            <a:endParaRPr lang="en-US" sz="1500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84812" y="5635966"/>
            <a:ext cx="210375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2. Technical Support &amp; Escalations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95800" y="4627825"/>
            <a:ext cx="207454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2120" algn="l"/>
              </a:tabLst>
            </a:pPr>
            <a:r>
              <a:rPr lang="en-US" sz="1600" dirty="0"/>
              <a:t>3. Report Delivery &amp; Ticket Metrics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33476" y="5635965"/>
            <a:ext cx="225264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4. </a:t>
            </a:r>
            <a:r>
              <a:rPr lang="en-US" sz="1600" dirty="0" err="1"/>
              <a:t>PostHog</a:t>
            </a:r>
            <a:r>
              <a:rPr lang="en-US" sz="1600" dirty="0"/>
              <a:t> Integration (Phase 1)</a:t>
            </a:r>
            <a:endParaRPr sz="1500" dirty="0">
              <a:latin typeface="Tahoma"/>
              <a:cs typeface="Tahoma"/>
            </a:endParaRPr>
          </a:p>
        </p:txBody>
      </p:sp>
      <p:pic>
        <p:nvPicPr>
          <p:cNvPr id="15" name="object 3">
            <a:extLst>
              <a:ext uri="{FF2B5EF4-FFF2-40B4-BE49-F238E27FC236}">
                <a16:creationId xmlns:a16="http://schemas.microsoft.com/office/drawing/2014/main" id="{D7D0A32C-7644-45CA-98CA-35D025CA7A2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01744" y="265876"/>
            <a:ext cx="1287268" cy="285514"/>
          </a:xfrm>
          <a:prstGeom prst="rect">
            <a:avLst/>
          </a:prstGeom>
        </p:spPr>
      </p:pic>
      <p:sp>
        <p:nvSpPr>
          <p:cNvPr id="19" name="object 13">
            <a:extLst>
              <a:ext uri="{FF2B5EF4-FFF2-40B4-BE49-F238E27FC236}">
                <a16:creationId xmlns:a16="http://schemas.microsoft.com/office/drawing/2014/main" id="{FE453CAA-CEC2-4312-8F6D-BA1265865516}"/>
              </a:ext>
            </a:extLst>
          </p:cNvPr>
          <p:cNvSpPr txBox="1"/>
          <p:nvPr/>
        </p:nvSpPr>
        <p:spPr>
          <a:xfrm>
            <a:off x="7010400" y="4621413"/>
            <a:ext cx="167640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5. KPIs &amp; Next Steps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2A861DC8-E8DF-4533-9F46-FC34E0370B82}"/>
              </a:ext>
            </a:extLst>
          </p:cNvPr>
          <p:cNvSpPr txBox="1"/>
          <p:nvPr/>
        </p:nvSpPr>
        <p:spPr>
          <a:xfrm>
            <a:off x="7010400" y="5629553"/>
            <a:ext cx="167640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6. Q&amp;A</a:t>
            </a:r>
            <a:endParaRPr sz="16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24" y="592622"/>
            <a:ext cx="71551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Operational &amp; Reporting Highlights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26.08.2025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DCFCE6-1904-4BF1-A229-A5A5AD2D73B8}"/>
              </a:ext>
            </a:extLst>
          </p:cNvPr>
          <p:cNvSpPr txBox="1"/>
          <p:nvPr/>
        </p:nvSpPr>
        <p:spPr>
          <a:xfrm>
            <a:off x="762000" y="10392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Where we are now 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EC8666-CE15-4F1B-B55C-E81056A7A35F}"/>
              </a:ext>
            </a:extLst>
          </p:cNvPr>
          <p:cNvSpPr txBox="1"/>
          <p:nvPr/>
        </p:nvSpPr>
        <p:spPr>
          <a:xfrm>
            <a:off x="365370" y="1905000"/>
            <a:ext cx="4953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Zendesk Operations</a:t>
            </a:r>
            <a:br>
              <a:rPr lang="en-US" sz="1200" b="1" dirty="0"/>
            </a:b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Rotated agents weekly to maintain consistent coverage across K and </a:t>
            </a:r>
            <a:r>
              <a:rPr lang="en-US" sz="1200" dirty="0" err="1"/>
              <a:t>Abstra</a:t>
            </a:r>
            <a:r>
              <a:rPr lang="en-US" sz="1200" dirty="0"/>
              <a:t> tickets.</a:t>
            </a:r>
            <a:br>
              <a:rPr lang="en-US" sz="1200" dirty="0"/>
            </a:b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SLA target of 2h for First Response Time successfully maintained (avg. under 30 min).</a:t>
            </a:r>
            <a:br>
              <a:rPr lang="en-US" sz="1200" dirty="0"/>
            </a:br>
            <a:endParaRPr lang="en-US" sz="1200" dirty="0"/>
          </a:p>
          <a:p>
            <a:r>
              <a:rPr lang="en-US" sz="1200" b="1" dirty="0"/>
              <a:t>Signup Metrics Automation</a:t>
            </a:r>
            <a:br>
              <a:rPr lang="en-US" sz="1200" b="1" dirty="0"/>
            </a:b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K-Nav vs. K-Pro segmentation: Linear issue created for adding a tag to differentiate the two. Jeremy completed the implementation, and the tag will now be used in </a:t>
            </a:r>
            <a:r>
              <a:rPr lang="en-US" sz="1200" dirty="0" err="1"/>
              <a:t>PostHog</a:t>
            </a:r>
            <a:r>
              <a:rPr lang="en-US" sz="1200" dirty="0"/>
              <a:t> to build metrics based on it.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Signup automation: Approval process deprecated → signup is now fully automated.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As a result, the Python script for generating K-Signup reports in Zendesk has been retired.</a:t>
            </a:r>
          </a:p>
          <a:p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CE175B-DBFE-4996-B46E-10165EC9A8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88326" y="1647050"/>
            <a:ext cx="6310731" cy="368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024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Technical Support &amp; Escalations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26.08.2025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Some of them: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5B2633-5A00-405D-9049-BCE23F605E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10200" y="1583878"/>
            <a:ext cx="6711055" cy="3690244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8DD9E7C3-F532-46D8-9DA9-875DE5C97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45" y="1642141"/>
            <a:ext cx="496138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200" b="1" dirty="0"/>
              <a:t>L2 Issue Resolution</a:t>
            </a:r>
            <a:br>
              <a:rPr lang="en-US" sz="1200" b="1" dirty="0"/>
            </a:b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Personally resolved VPN setup issues (</a:t>
            </a:r>
            <a:r>
              <a:rPr lang="en-US" sz="1200" dirty="0" err="1"/>
              <a:t>WireGuard</a:t>
            </a:r>
            <a:r>
              <a:rPr lang="en-US" sz="1200" dirty="0"/>
              <a:t>), login problems, and domain whitelisting errors.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Handled edge cases around network connectivity</a:t>
            </a:r>
          </a:p>
          <a:p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Optimized triggers &amp; rules in </a:t>
            </a:r>
            <a:r>
              <a:rPr lang="en-US" sz="1200" dirty="0" err="1"/>
              <a:t>PostHog</a:t>
            </a:r>
            <a:r>
              <a:rPr lang="en-US" sz="1200" dirty="0"/>
              <a:t> → duplicate events and inaccurate metrics removed.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Improved onboarding flow → clear tracking of signup vs. confirm events.</a:t>
            </a:r>
            <a:br>
              <a:rPr lang="en-US" sz="1200" dirty="0"/>
            </a:br>
            <a:endParaRPr lang="en-US" sz="1200" dirty="0"/>
          </a:p>
          <a:p>
            <a:r>
              <a:rPr lang="en-US" sz="1200" b="1" dirty="0"/>
              <a:t>Live Support &amp; Onboarding</a:t>
            </a:r>
            <a:br>
              <a:rPr lang="en-US" sz="1200" b="1" dirty="0"/>
            </a:b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Conducted live onboarding sessions with external users (Hackathon teams, MOSAIC partners).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Provided real-time support through Slack and Google Meet to ensure smooth environment setup and access flow.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1828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Report Delivery &amp; Ticket Metrics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26.08.2025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33934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FFC90F-EE16-400F-BE6F-DA261D21340C}"/>
              </a:ext>
            </a:extLst>
          </p:cNvPr>
          <p:cNvSpPr txBox="1"/>
          <p:nvPr/>
        </p:nvSpPr>
        <p:spPr>
          <a:xfrm>
            <a:off x="231972" y="1341080"/>
            <a:ext cx="502920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Report Sharing &amp; Custom Views</a:t>
            </a:r>
            <a:br>
              <a:rPr lang="en-US" sz="1200" b="1" dirty="0"/>
            </a:b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The signup process is now fully automated, and manual approval is no longer required.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The Python script used for generating reports is now deprecated, but before being phased </a:t>
            </a:r>
            <a:r>
              <a:rPr lang="en-US" sz="1200" b="1" dirty="0"/>
              <a:t>out it produced over 100 custom reports </a:t>
            </a:r>
            <a:r>
              <a:rPr lang="en-US" sz="1200" dirty="0"/>
              <a:t>that were used for analysis and supported the Strategy, Product, and Support teams.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b="1" dirty="0"/>
          </a:p>
          <a:p>
            <a:br>
              <a:rPr lang="en-US" sz="1200" b="1" dirty="0"/>
            </a:br>
            <a:r>
              <a:rPr lang="en-US" sz="1200" b="1" dirty="0"/>
              <a:t>Ticket breakdown (Apr–Aug):</a:t>
            </a:r>
          </a:p>
          <a:p>
            <a:endParaRPr lang="en-US" sz="1200" dirty="0"/>
          </a:p>
          <a:p>
            <a:r>
              <a:rPr lang="en-US" sz="1200" dirty="0"/>
              <a:t>K tickets → signup, access, onboarding.</a:t>
            </a:r>
          </a:p>
          <a:p>
            <a:r>
              <a:rPr lang="en-US" sz="1200" dirty="0" err="1"/>
              <a:t>Abstra</a:t>
            </a:r>
            <a:r>
              <a:rPr lang="en-US" sz="1200" dirty="0"/>
              <a:t> tickets → infra support, onboarding, troubleshooting.</a:t>
            </a:r>
          </a:p>
          <a:p>
            <a:endParaRPr lang="en-US" sz="1200" dirty="0"/>
          </a:p>
          <a:p>
            <a:r>
              <a:rPr lang="en-US" sz="1200" dirty="0"/>
              <a:t>✅ Automated Slack notifications for new K requests → reduced manual follow-up.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A2BCDD-4DA7-4980-AC1E-7145E1EB3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0" y="585473"/>
            <a:ext cx="6213196" cy="44958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DE25A33-4319-4952-ADEA-3B0A3F10871F}"/>
              </a:ext>
            </a:extLst>
          </p:cNvPr>
          <p:cNvSpPr txBox="1"/>
          <p:nvPr/>
        </p:nvSpPr>
        <p:spPr>
          <a:xfrm>
            <a:off x="231972" y="4504611"/>
            <a:ext cx="60946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/>
              <a:t>Abstra</a:t>
            </a:r>
            <a:r>
              <a:rPr lang="en-US" sz="1600" dirty="0"/>
              <a:t>: Infra support</a:t>
            </a:r>
          </a:p>
          <a:p>
            <a:endParaRPr lang="en-US" sz="1600" dirty="0"/>
          </a:p>
          <a:p>
            <a:r>
              <a:rPr lang="en-US" sz="1600" dirty="0">
                <a:hlinkClick r:id="rId3"/>
              </a:rPr>
              <a:t>👉 Monthly Reports Drive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57212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 err="1"/>
              <a:t>PostHog</a:t>
            </a:r>
            <a:r>
              <a:rPr lang="en-US" dirty="0"/>
              <a:t> Integration (Phase 2)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26.08.2025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33934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FFC90F-EE16-400F-BE6F-DA261D21340C}"/>
              </a:ext>
            </a:extLst>
          </p:cNvPr>
          <p:cNvSpPr txBox="1"/>
          <p:nvPr/>
        </p:nvSpPr>
        <p:spPr>
          <a:xfrm>
            <a:off x="0" y="1321865"/>
            <a:ext cx="6096000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KPI &amp; Dashboard Progress</a:t>
            </a:r>
          </a:p>
          <a:p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20 out of 20 defined KPIs completed and implemented in </a:t>
            </a:r>
            <a:r>
              <a:rPr lang="en-US" sz="1200" dirty="0" err="1"/>
              <a:t>PostHog</a:t>
            </a:r>
            <a:r>
              <a:rPr lang="en-US" sz="1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All tracked events reviewed, mapped, and actively collecting data.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Baseline established</a:t>
            </a:r>
            <a:r>
              <a:rPr lang="en-US" sz="1200" dirty="0"/>
              <a:t>: signup funnel, DAU (20–30), retention (5–6%).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Delivery Dashboard</a:t>
            </a:r>
            <a:r>
              <a:rPr lang="en-US" sz="1200" dirty="0"/>
              <a:t>: health-check &amp; daily ops.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Strategy Dashboard</a:t>
            </a:r>
            <a:r>
              <a:rPr lang="en-US" sz="1200" dirty="0"/>
              <a:t>: long-term trends, retention, funnel </a:t>
            </a:r>
            <a:r>
              <a:rPr lang="en-US" sz="1200" dirty="0" err="1"/>
              <a:t>analysis.Web</a:t>
            </a:r>
            <a:r>
              <a:rPr lang="en-US" sz="1200" dirty="0"/>
              <a:t> vitals (LCP, CLS) baseline defined &amp; anomalies tracked.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📦 </a:t>
            </a:r>
            <a:r>
              <a:rPr lang="en-US" sz="1200" b="1" dirty="0" err="1"/>
              <a:t>FullStory</a:t>
            </a:r>
            <a:r>
              <a:rPr lang="en-US" sz="1200" b="1" dirty="0"/>
              <a:t> export activated </a:t>
            </a:r>
            <a:r>
              <a:rPr lang="en-US" sz="1200" dirty="0"/>
              <a:t>→ historical data migration in progress.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Plan to downgrade </a:t>
            </a:r>
            <a:r>
              <a:rPr lang="en-US" sz="1200" dirty="0"/>
              <a:t>to Free </a:t>
            </a:r>
            <a:r>
              <a:rPr lang="en-US" sz="1200" dirty="0" err="1"/>
              <a:t>FullStory</a:t>
            </a:r>
            <a:r>
              <a:rPr lang="en-US" sz="1200" dirty="0"/>
              <a:t> account after exports are complete.</a:t>
            </a:r>
          </a:p>
          <a:p>
            <a:endParaRPr lang="en-US" sz="1200" dirty="0"/>
          </a:p>
          <a:p>
            <a:r>
              <a:rPr lang="en-US" sz="1200" b="1" dirty="0"/>
              <a:t>Dashboards</a:t>
            </a: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Both dashboards live and operational: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hlinkClick r:id="rId2"/>
              </a:rPr>
              <a:t>K Delivery Dashboard</a:t>
            </a:r>
            <a:endParaRPr lang="en-US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hlinkClick r:id="rId3"/>
              </a:rPr>
              <a:t>K Strategy Dashboard</a:t>
            </a:r>
            <a:endParaRPr lang="en-US" sz="1200" dirty="0"/>
          </a:p>
          <a:p>
            <a:pPr marL="457200" lvl="1"/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Metrics grouped by theme (Acquisition, Engagement, Usage &amp; Technical); charts optimized for clarity and quick insights.</a:t>
            </a:r>
          </a:p>
          <a:p>
            <a:endParaRPr lang="en-US" sz="1200" dirty="0"/>
          </a:p>
          <a:p>
            <a:r>
              <a:rPr lang="en-US" sz="1200" b="1" dirty="0"/>
              <a:t>Documentation</a:t>
            </a:r>
          </a:p>
          <a:p>
            <a:endParaRPr lang="en-US" sz="1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Linear project</a:t>
            </a:r>
            <a:r>
              <a:rPr lang="en-US" sz="1200" dirty="0"/>
              <a:t>: </a:t>
            </a:r>
            <a:r>
              <a:rPr lang="en-US" sz="1200" dirty="0">
                <a:hlinkClick r:id="rId4"/>
              </a:rPr>
              <a:t>Analytics, metrics &amp; dashboards</a:t>
            </a: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Planning doc</a:t>
            </a:r>
            <a:r>
              <a:rPr lang="en-US" sz="1200" dirty="0"/>
              <a:t>: </a:t>
            </a:r>
            <a:r>
              <a:rPr lang="en-US" sz="1200" dirty="0">
                <a:hlinkClick r:id="rId5"/>
              </a:rPr>
              <a:t>https://www.notion.so/owkin-1/PostHog-Pilot-Plan-Next-2-Weeks-July-22-August-2-2025-2389d6c3b12380adb48bf70d40e2204a</a:t>
            </a:r>
            <a:endParaRPr lang="en-US" sz="1200" dirty="0"/>
          </a:p>
          <a:p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User guide:</a:t>
            </a:r>
            <a:r>
              <a:rPr lang="en-US" sz="1200" dirty="0"/>
              <a:t> </a:t>
            </a:r>
            <a:r>
              <a:rPr lang="en-US" sz="1200" dirty="0">
                <a:hlinkClick r:id="rId6"/>
              </a:rPr>
              <a:t>https://www.notion.so/owkin-1/PostHog-Analytics-User-Guide-2429d6c3b123800aaf81f8e52f9a1c78?source=copy_link</a:t>
            </a:r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F0B307-B0B5-4837-A3FE-A9635F03052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2978" y="506667"/>
            <a:ext cx="4367854" cy="5765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663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KPIs &amp; Next Steps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26.08.2025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?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437BFB-26AB-41A4-A002-590A4E2B223C}"/>
              </a:ext>
            </a:extLst>
          </p:cNvPr>
          <p:cNvSpPr txBox="1"/>
          <p:nvPr/>
        </p:nvSpPr>
        <p:spPr>
          <a:xfrm>
            <a:off x="11884" y="1331390"/>
            <a:ext cx="6094602" cy="4570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Key Outcomes</a:t>
            </a:r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Stabilized </a:t>
            </a:r>
            <a:r>
              <a:rPr lang="en-US" sz="1400" dirty="0" err="1"/>
              <a:t>PostHog</a:t>
            </a:r>
            <a:r>
              <a:rPr lang="en-US" sz="1400" dirty="0"/>
              <a:t> dashboards (short-term + long-term views).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Refined signup events → clear separation of signup vs. confirm.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Enhanced tracking: clear segmentation between K-Nav and K-Pro users.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Optimized feedback system → faster &amp; more relevant insights.</a:t>
            </a:r>
          </a:p>
          <a:p>
            <a:endParaRPr lang="en-US" sz="1400" dirty="0"/>
          </a:p>
          <a:p>
            <a:r>
              <a:rPr lang="en-US" sz="1400" b="1" dirty="0"/>
              <a:t>Impact</a:t>
            </a:r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More reliable metrics &amp; clearer funnel stages.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Deeper behavioral insights (e.g., first chat).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Reduced manual reporting effort → more automation.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Strong foundation for full transition to </a:t>
            </a:r>
            <a:r>
              <a:rPr lang="en-US" sz="1400" dirty="0" err="1"/>
              <a:t>PostHog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r>
              <a:rPr lang="en-US" sz="1400" b="1" dirty="0"/>
              <a:t>Next Steps</a:t>
            </a:r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Finalize </a:t>
            </a:r>
            <a:r>
              <a:rPr lang="en-US" sz="1400" dirty="0" err="1"/>
              <a:t>FullStory</a:t>
            </a:r>
            <a:r>
              <a:rPr lang="en-US" sz="1400" dirty="0"/>
              <a:t> → </a:t>
            </a:r>
            <a:r>
              <a:rPr lang="en-US" sz="1400" dirty="0" err="1"/>
              <a:t>PostHog</a:t>
            </a:r>
            <a:r>
              <a:rPr lang="en-US" sz="1400" dirty="0"/>
              <a:t> data mapping.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Implement frontend tag for precise segmentation.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Add additional activation &amp; early usage metrics (e.g., first chat event).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Continue optimizing dashboards for PM &amp; CS teams.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8EA042-BF6C-4BC0-9127-40A6C4A51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348" y="598066"/>
            <a:ext cx="5234282" cy="56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244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Q&amp;A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24.07.2025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?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1F541F-F946-46A9-AF71-65D564609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9" y="688657"/>
            <a:ext cx="4685827" cy="512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807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4888" y="2259134"/>
            <a:ext cx="35109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70" dirty="0"/>
              <a:t>Thank</a:t>
            </a:r>
            <a:r>
              <a:rPr sz="6000" spc="-509" dirty="0"/>
              <a:t> </a:t>
            </a:r>
            <a:r>
              <a:rPr sz="6000" spc="-310" dirty="0"/>
              <a:t>you!</a:t>
            </a:r>
            <a:endParaRPr sz="6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1914" y="1692574"/>
            <a:ext cx="3844118" cy="384412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E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18169</TotalTime>
  <Words>866</Words>
  <Application>Microsoft Office PowerPoint</Application>
  <PresentationFormat>Widescreen</PresentationFormat>
  <Paragraphs>115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Tahoma</vt:lpstr>
      <vt:lpstr>Office Theme</vt:lpstr>
      <vt:lpstr>Abstra</vt:lpstr>
      <vt:lpstr>Agenda</vt:lpstr>
      <vt:lpstr>Operational &amp; Reporting Highlights</vt:lpstr>
      <vt:lpstr>Technical Support &amp; Escalations</vt:lpstr>
      <vt:lpstr>Report Delivery &amp; Ticket Metrics</vt:lpstr>
      <vt:lpstr>PostHog Integration (Phase 2)</vt:lpstr>
      <vt:lpstr>KPIs &amp; Next Steps</vt:lpstr>
      <vt:lpstr>Q&amp;A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success: Monthly Support Report - December 2024</dc:title>
  <dc:creator>LM_Win10</dc:creator>
  <cp:lastModifiedBy>Lazar Milicevic</cp:lastModifiedBy>
  <cp:revision>74</cp:revision>
  <dcterms:created xsi:type="dcterms:W3CDTF">2025-01-30T08:33:59Z</dcterms:created>
  <dcterms:modified xsi:type="dcterms:W3CDTF">2025-08-26T08:34:37Z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2025-01-30T00:00:00Z</vt:filetime>
  </property>
  <property fmtid="{D5CDD505-2E9C-101B-9397-08002B2CF9AE}" pid="3" name="Creator">
    <vt:lpwstr>Google</vt:lpwstr>
  </property>
  <property fmtid="{D5CDD505-2E9C-101B-9397-08002B2CF9AE}" pid="4" name="LastSaved">
    <vt:filetime>2025-01-30T00:00:00Z</vt:filetime>
  </property>
</Properties>
</file>