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90" r:id="rId5"/>
    <p:sldId id="283" r:id="rId6"/>
    <p:sldId id="289" r:id="rId7"/>
    <p:sldId id="287" r:id="rId8"/>
    <p:sldId id="288" r:id="rId9"/>
    <p:sldId id="291" r:id="rId10"/>
    <p:sldId id="286" r:id="rId11"/>
    <p:sldId id="281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8" autoAdjust="0"/>
    <p:restoredTop sz="94660"/>
  </p:normalViewPr>
  <p:slideViewPr>
    <p:cSldViewPr>
      <p:cViewPr varScale="1">
        <p:scale>
          <a:sx n="114" d="100"/>
          <a:sy n="114" d="100"/>
        </p:scale>
        <p:origin x="300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7620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114" dirty="0" err="1"/>
              <a:t>Abstra</a:t>
            </a:r>
            <a:endParaRPr sz="5100" dirty="0"/>
          </a:p>
        </p:txBody>
      </p:sp>
      <p:sp>
        <p:nvSpPr>
          <p:cNvPr id="7" name="object 7"/>
          <p:cNvSpPr txBox="1"/>
          <p:nvPr/>
        </p:nvSpPr>
        <p:spPr>
          <a:xfrm>
            <a:off x="834801" y="2995580"/>
            <a:ext cx="61391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spc="-105" dirty="0">
                <a:latin typeface="Tahoma"/>
                <a:cs typeface="Tahoma"/>
              </a:rPr>
              <a:t>Weekly</a:t>
            </a:r>
            <a:r>
              <a:rPr sz="5000" spc="-405" dirty="0">
                <a:latin typeface="Tahoma"/>
                <a:cs typeface="Tahoma"/>
              </a:rPr>
              <a:t> </a:t>
            </a:r>
            <a:r>
              <a:rPr sz="5000" spc="-80" dirty="0">
                <a:latin typeface="Tahoma"/>
                <a:cs typeface="Tahoma"/>
              </a:rPr>
              <a:t>support</a:t>
            </a:r>
            <a:r>
              <a:rPr sz="5000" spc="-400" dirty="0">
                <a:latin typeface="Tahoma"/>
                <a:cs typeface="Tahoma"/>
              </a:rPr>
              <a:t> </a:t>
            </a:r>
            <a:r>
              <a:rPr sz="5000" spc="-75" dirty="0">
                <a:latin typeface="Tahoma"/>
                <a:cs typeface="Tahoma"/>
              </a:rPr>
              <a:t>report</a:t>
            </a:r>
            <a:endParaRPr sz="50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7493" y="3879412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1424" y="4194185"/>
            <a:ext cx="4806315" cy="532197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Support, Challenges, Solutions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400" spc="10" dirty="0">
                <a:latin typeface="Tahoma"/>
                <a:cs typeface="Tahoma"/>
              </a:rPr>
              <a:t>08.04.2025</a:t>
            </a:r>
            <a:endParaRPr lang="en-US"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4118" y="1348776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19200" y="4579067"/>
            <a:ext cx="23120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1. Operational Performance and Metrics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963095" y="4579067"/>
            <a:ext cx="210375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3. Documentation and Knowledge Management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7738" y="5665047"/>
            <a:ext cx="186715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2. Platform and Tooling Enhancements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92305" y="5587209"/>
            <a:ext cx="20745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4. User Behavior &amp; Analytics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26457" y="4579067"/>
            <a:ext cx="167640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Challenges &amp; Solutions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  <p:sp>
        <p:nvSpPr>
          <p:cNvPr id="19" name="object 13">
            <a:extLst>
              <a:ext uri="{FF2B5EF4-FFF2-40B4-BE49-F238E27FC236}">
                <a16:creationId xmlns:a16="http://schemas.microsoft.com/office/drawing/2014/main" id="{FE453CAA-CEC2-4312-8F6D-BA1265865516}"/>
              </a:ext>
            </a:extLst>
          </p:cNvPr>
          <p:cNvSpPr txBox="1"/>
          <p:nvPr/>
        </p:nvSpPr>
        <p:spPr>
          <a:xfrm>
            <a:off x="6626456" y="5623344"/>
            <a:ext cx="167640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6. Next Steps &amp; Focus Areas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935A8F51-523F-45F0-8E9E-4926C087DB69}"/>
              </a:ext>
            </a:extLst>
          </p:cNvPr>
          <p:cNvSpPr txBox="1"/>
          <p:nvPr/>
        </p:nvSpPr>
        <p:spPr>
          <a:xfrm>
            <a:off x="8686800" y="4579067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7. Q&amp;A</a:t>
            </a:r>
            <a:endParaRPr sz="15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879947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Operational Performance and Metrics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08.04.2025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560020-C041-44C5-B3D3-BED7CC30C980}"/>
              </a:ext>
            </a:extLst>
          </p:cNvPr>
          <p:cNvSpPr txBox="1"/>
          <p:nvPr/>
        </p:nvSpPr>
        <p:spPr>
          <a:xfrm>
            <a:off x="76200" y="1717674"/>
            <a:ext cx="5638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✅ The support team maintained strong performance this week, with excellent responsiveness and high customer satisfaction across all channels.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First Response Time</a:t>
            </a:r>
            <a:r>
              <a:rPr lang="en-US" sz="1400" dirty="0"/>
              <a:t>: We kept the average FRT under </a:t>
            </a:r>
            <a:r>
              <a:rPr lang="en-US" sz="1400" b="1" dirty="0"/>
              <a:t>5 minutes </a:t>
            </a:r>
            <a:r>
              <a:rPr lang="en-US" sz="1400" dirty="0"/>
              <a:t>for all incoming tickets, with Owkin K-related requests receiving immediate attention.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Ticket Volume</a:t>
            </a:r>
            <a:r>
              <a:rPr lang="en-US" sz="1400" dirty="0"/>
              <a:t>: A total of </a:t>
            </a:r>
            <a:r>
              <a:rPr lang="en-US" sz="1400" b="1" dirty="0"/>
              <a:t>254</a:t>
            </a:r>
            <a:r>
              <a:rPr lang="en-US" sz="1400" dirty="0"/>
              <a:t> tickets were handled during March, marking a 23% increase compared to February.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Resolution Time</a:t>
            </a:r>
            <a:r>
              <a:rPr lang="en-US" sz="1400" dirty="0"/>
              <a:t>: The average resolution time dropped to </a:t>
            </a:r>
            <a:r>
              <a:rPr lang="en-US" sz="1400" b="1" dirty="0"/>
              <a:t>3.9</a:t>
            </a:r>
            <a:r>
              <a:rPr lang="en-US" sz="1400" dirty="0"/>
              <a:t> hours – a 42% improvement – demonstrating improved triaging and issue handling across the board.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Customer Satisfaction (CSAT)</a:t>
            </a:r>
            <a:r>
              <a:rPr lang="en-US" sz="1400" dirty="0"/>
              <a:t>: We maintained a </a:t>
            </a:r>
            <a:r>
              <a:rPr lang="en-US" sz="1400" b="1" dirty="0"/>
              <a:t>100% </a:t>
            </a:r>
            <a:r>
              <a:rPr lang="en-US" sz="1400" dirty="0"/>
              <a:t>satisfaction rating for the second consecutive month, based on feedback collected via Zendesk and the new </a:t>
            </a:r>
            <a:r>
              <a:rPr lang="en-US" sz="1400" dirty="0" err="1"/>
              <a:t>SurveySparrow</a:t>
            </a:r>
            <a:r>
              <a:rPr lang="en-US" sz="1400" dirty="0"/>
              <a:t> widget.</a:t>
            </a:r>
          </a:p>
          <a:p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F1CD3E-2CEB-4EA4-9326-86491F3BD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668" y="1524000"/>
            <a:ext cx="6216263" cy="45858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879947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Platform and Tooling Enhancements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08.04.2025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7EA80C-AC2A-46F3-80D0-BC5F04571C5E}"/>
              </a:ext>
            </a:extLst>
          </p:cNvPr>
          <p:cNvSpPr txBox="1"/>
          <p:nvPr/>
        </p:nvSpPr>
        <p:spPr>
          <a:xfrm>
            <a:off x="152400" y="1600200"/>
            <a:ext cx="579120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✅ </a:t>
            </a:r>
            <a:r>
              <a:rPr lang="en-US" sz="1400" dirty="0"/>
              <a:t>A number of improvements were made to our tooling and support infrastructure to streamline workflows and elevate the user experience: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/>
              <a:t>SurveySparrow</a:t>
            </a:r>
            <a:r>
              <a:rPr lang="en-US" sz="1400" b="1" dirty="0"/>
              <a:t> Implementation</a:t>
            </a:r>
            <a:r>
              <a:rPr lang="en-US" sz="1400" dirty="0"/>
              <a:t>: Completed coordination, testing, and production deployment of the </a:t>
            </a:r>
            <a:r>
              <a:rPr lang="en-US" sz="1400" dirty="0" err="1"/>
              <a:t>SurveySparrow</a:t>
            </a:r>
            <a:r>
              <a:rPr lang="en-US" sz="1400" dirty="0"/>
              <a:t> NPS tool. The widget is now live on the Owkin K website, capturing real-time user sentiment and feeding directly into our analytics pipeline.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Zendesk Enhancements</a:t>
            </a:r>
            <a:r>
              <a:rPr lang="en-US" sz="1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Created a dedicated support group for the </a:t>
            </a:r>
            <a:r>
              <a:rPr lang="en-US" sz="1400" b="1" dirty="0"/>
              <a:t>Owkin K team </a:t>
            </a:r>
            <a:r>
              <a:rPr lang="en-US" sz="1400" dirty="0"/>
              <a:t>in Zendesk.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Configured accounts and access for new QA tester, </a:t>
            </a:r>
            <a:r>
              <a:rPr lang="en-US" sz="1400" b="1" dirty="0" err="1"/>
              <a:t>Ahcene</a:t>
            </a:r>
            <a:r>
              <a:rPr lang="en-US" sz="1400" b="1" dirty="0"/>
              <a:t> </a:t>
            </a:r>
            <a:r>
              <a:rPr lang="en-US" sz="1400" b="1" dirty="0" err="1"/>
              <a:t>Maouche</a:t>
            </a:r>
            <a:r>
              <a:rPr lang="en-US" sz="1400" b="1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Maintained low Resolution time by manually triaging and reproducing issues before escalation to L2.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Initiated development of the “</a:t>
            </a:r>
            <a:r>
              <a:rPr lang="en-US" sz="1400" b="1" dirty="0"/>
              <a:t>3-strike rule</a:t>
            </a:r>
            <a:r>
              <a:rPr lang="en-US" sz="1400" dirty="0"/>
              <a:t>” logic to auto-close stale tickets and reduce agent load — expected to go live this week.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Branded Help Center Communication</a:t>
            </a:r>
            <a:r>
              <a:rPr lang="en-US" sz="1400" dirty="0"/>
              <a:t>: Setup initiated for branded email responses in the Help Center. We are currently waiting on account credentials from IT to proceed.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CEA679-E092-4CEB-BB69-73AEA4DFD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721" y="1449178"/>
            <a:ext cx="5990879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459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Documentation and Knowledge Management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08.04.2025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39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C8666-CE15-4F1B-B55C-E81056A7A35F}"/>
              </a:ext>
            </a:extLst>
          </p:cNvPr>
          <p:cNvSpPr txBox="1"/>
          <p:nvPr/>
        </p:nvSpPr>
        <p:spPr>
          <a:xfrm>
            <a:off x="152400" y="1556397"/>
            <a:ext cx="51054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✅ Migrated the complete </a:t>
            </a:r>
            <a:r>
              <a:rPr lang="en-US" sz="1600" b="1" dirty="0" err="1"/>
              <a:t>Abstra</a:t>
            </a:r>
            <a:r>
              <a:rPr lang="en-US" sz="1600" b="1" dirty="0"/>
              <a:t> documentation</a:t>
            </a:r>
            <a:r>
              <a:rPr lang="en-US" sz="1600" dirty="0"/>
              <a:t> to Notion. </a:t>
            </a:r>
          </a:p>
          <a:p>
            <a:endParaRPr lang="en-US" sz="1600" dirty="0"/>
          </a:p>
          <a:p>
            <a:r>
              <a:rPr lang="en-US" sz="1600" dirty="0"/>
              <a:t>This included: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Creating a structured Table of Contents.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Using collapsible toggle blocks for ease of navigation.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draft version is already available and partially in use.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Work is still ongoing to finalize image transfers and visual refinements.</a:t>
            </a:r>
          </a:p>
          <a:p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DF63D7-487F-499F-BBA8-C19174E8F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59042"/>
            <a:ext cx="5515346" cy="513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09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User Behavior &amp; Analytics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08.04.2025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39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C8666-CE15-4F1B-B55C-E81056A7A35F}"/>
              </a:ext>
            </a:extLst>
          </p:cNvPr>
          <p:cNvSpPr txBox="1"/>
          <p:nvPr/>
        </p:nvSpPr>
        <p:spPr>
          <a:xfrm>
            <a:off x="268324" y="1890428"/>
            <a:ext cx="44958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✅ Launched the new </a:t>
            </a:r>
            <a:r>
              <a:rPr lang="en-US" sz="1400" dirty="0" err="1"/>
              <a:t>FullStory</a:t>
            </a:r>
            <a:r>
              <a:rPr lang="en-US" sz="1400" dirty="0"/>
              <a:t> dashboard for Owkin K, designed to give cleaner insight into </a:t>
            </a:r>
            <a:r>
              <a:rPr lang="en-US" sz="1400" b="1" dirty="0"/>
              <a:t>user sessions, behavior trends, and pain points.</a:t>
            </a:r>
          </a:p>
          <a:p>
            <a:endParaRPr lang="en-US" sz="1400" dirty="0"/>
          </a:p>
          <a:p>
            <a:r>
              <a:rPr lang="en-US" sz="1400" dirty="0"/>
              <a:t>Identified an inconsistency </a:t>
            </a:r>
            <a:r>
              <a:rPr lang="en-US" sz="1400" b="1" dirty="0"/>
              <a:t>in unique user tracking</a:t>
            </a:r>
            <a:r>
              <a:rPr lang="en-US" sz="1400" dirty="0"/>
              <a:t>, caused by unstable User ID assignments across sessions.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results in inflated user counts and incorrect behavioral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After reviewing </a:t>
            </a:r>
            <a:r>
              <a:rPr lang="en-US" sz="1400" dirty="0" err="1"/>
              <a:t>FullStory’s</a:t>
            </a:r>
            <a:r>
              <a:rPr lang="en-US" sz="1400" dirty="0"/>
              <a:t> documentation and confirming with frontend (Jeremy), a session has been scheduled with the </a:t>
            </a:r>
            <a:r>
              <a:rPr lang="en-US" sz="1400" dirty="0" err="1"/>
              <a:t>FullStory</a:t>
            </a:r>
            <a:r>
              <a:rPr lang="en-US" sz="1400" dirty="0"/>
              <a:t> Account Manager for April 15 to resolve the issue.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Additional testing is ongoing to assess whether supplementary metadata could help mitigate the issue in the short term.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772B7-D839-43B7-8FE9-2E259B379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866775"/>
            <a:ext cx="5345748" cy="512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733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Collaboration and Onboarding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08.04.2025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Some of them: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27397-E955-493E-A388-042A53F6F824}"/>
              </a:ext>
            </a:extLst>
          </p:cNvPr>
          <p:cNvSpPr txBox="1"/>
          <p:nvPr/>
        </p:nvSpPr>
        <p:spPr>
          <a:xfrm>
            <a:off x="228600" y="1752600"/>
            <a:ext cx="42333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✅Held a </a:t>
            </a:r>
            <a:r>
              <a:rPr lang="en-US" sz="1400" b="1" dirty="0"/>
              <a:t>coordination sync with Samuel </a:t>
            </a:r>
            <a:r>
              <a:rPr lang="en-US" sz="1400" b="1" dirty="0" err="1"/>
              <a:t>Lesuffleur</a:t>
            </a:r>
            <a:r>
              <a:rPr lang="en-US" sz="1400" b="1" dirty="0"/>
              <a:t> and </a:t>
            </a:r>
            <a:r>
              <a:rPr lang="en-US" sz="1400" b="1" dirty="0" err="1"/>
              <a:t>Ahcene</a:t>
            </a:r>
            <a:r>
              <a:rPr lang="en-US" sz="1400" b="1" dirty="0"/>
              <a:t> </a:t>
            </a:r>
            <a:r>
              <a:rPr lang="en-US" sz="1400" b="1" dirty="0" err="1"/>
              <a:t>Maouche</a:t>
            </a:r>
            <a:r>
              <a:rPr lang="en-US" sz="1400" dirty="0"/>
              <a:t> to align on </a:t>
            </a:r>
            <a:r>
              <a:rPr lang="en-US" sz="1400" b="1" dirty="0"/>
              <a:t>Owkin K support.</a:t>
            </a:r>
          </a:p>
          <a:p>
            <a:endParaRPr lang="en-US" sz="1400" dirty="0"/>
          </a:p>
          <a:p>
            <a:r>
              <a:rPr lang="en-US" sz="1400" dirty="0"/>
              <a:t>Had an Zendesk onboarding session for </a:t>
            </a:r>
            <a:r>
              <a:rPr lang="en-US" sz="1400" dirty="0" err="1"/>
              <a:t>Ahcene</a:t>
            </a:r>
            <a:r>
              <a:rPr lang="en-US" sz="1400" dirty="0"/>
              <a:t>..</a:t>
            </a:r>
          </a:p>
          <a:p>
            <a:endParaRPr lang="en-US" sz="1400" dirty="0"/>
          </a:p>
          <a:p>
            <a:r>
              <a:rPr lang="en-US" sz="1400" dirty="0"/>
              <a:t>Continued to support QA workflows by enabling </a:t>
            </a:r>
            <a:r>
              <a:rPr lang="en-US" sz="1400" b="1" dirty="0"/>
              <a:t>triage-first troubleshooting </a:t>
            </a:r>
            <a:r>
              <a:rPr lang="en-US" sz="1400" dirty="0"/>
              <a:t>on tickets prior to escalation to L2 teams.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36D029-6724-4F1E-9C53-B5E4EA249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447800"/>
            <a:ext cx="54864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28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Challenges &amp; Solutions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08.04.2025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will be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2400" y="1467211"/>
            <a:ext cx="4206630" cy="48141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200" b="1" dirty="0"/>
              <a:t>Inconsistent User ID Assignment in </a:t>
            </a:r>
            <a:r>
              <a:rPr lang="en-US" sz="1200" b="1" dirty="0" err="1"/>
              <a:t>FullStory</a:t>
            </a:r>
            <a:endParaRPr lang="en-US" sz="1200" b="1" dirty="0"/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Challenge</a:t>
            </a:r>
            <a:r>
              <a:rPr lang="en-US" sz="1200" dirty="0"/>
              <a:t>: </a:t>
            </a:r>
            <a:r>
              <a:rPr lang="en-US" sz="1200" dirty="0" err="1"/>
              <a:t>FullStory's</a:t>
            </a:r>
            <a:r>
              <a:rPr lang="en-US" sz="1200" dirty="0"/>
              <a:t> unique user count is inaccurate due to inconsistent User ID values being assigned across sessions.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Solution</a:t>
            </a:r>
            <a:r>
              <a:rPr lang="en-US" sz="1200" dirty="0"/>
              <a:t>: Root cause identified after internal review and confirmation with frontend. Meeting scheduled with </a:t>
            </a:r>
            <a:r>
              <a:rPr lang="en-US" sz="1200" dirty="0" err="1"/>
              <a:t>FullStory</a:t>
            </a:r>
            <a:r>
              <a:rPr lang="en-US" sz="1200" dirty="0"/>
              <a:t> Account Manager on April 15 to implement a long-term fix. In the interim, we're testing the addition of custom parameters to improve accuracy.</a:t>
            </a:r>
          </a:p>
          <a:p>
            <a:endParaRPr lang="en-US" sz="1200" dirty="0"/>
          </a:p>
          <a:p>
            <a:r>
              <a:rPr lang="en-US" sz="1200" b="1" dirty="0"/>
              <a:t>2. Limited Zendesk Agent Licenses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Challenge</a:t>
            </a:r>
            <a:r>
              <a:rPr lang="en-US" sz="1200" dirty="0"/>
              <a:t>: Need for additional agent accounts to onboard </a:t>
            </a:r>
            <a:r>
              <a:rPr lang="en-US" sz="1200" b="1" dirty="0"/>
              <a:t>QA team </a:t>
            </a:r>
            <a:r>
              <a:rPr lang="en-US" sz="1200" dirty="0"/>
              <a:t>member, while keeping license count within current quota.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Solution</a:t>
            </a:r>
            <a:r>
              <a:rPr lang="en-US" sz="1200" dirty="0"/>
              <a:t>: Reached out to team to check for unused licenses that can be reassigned. One license has already been requested for immediate reassignment.</a:t>
            </a:r>
          </a:p>
          <a:p>
            <a:endParaRPr lang="en-US" sz="1200" dirty="0"/>
          </a:p>
          <a:p>
            <a:r>
              <a:rPr lang="en-US" sz="1200" b="1" dirty="0"/>
              <a:t>3. Ticket Resolution Overload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Challenge</a:t>
            </a:r>
            <a:r>
              <a:rPr lang="en-US" sz="1200" dirty="0"/>
              <a:t>: Growing number of low-priority tickets remaining open, increasing workload and affecting closure rates.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Solution</a:t>
            </a:r>
            <a:r>
              <a:rPr lang="en-US" sz="1200" dirty="0"/>
              <a:t>: Implementation of a “</a:t>
            </a:r>
            <a:r>
              <a:rPr lang="en-US" sz="1200" b="1" dirty="0"/>
              <a:t>3-strike rule</a:t>
            </a:r>
            <a:r>
              <a:rPr lang="en-US" sz="1200" dirty="0"/>
              <a:t>” logic to automate resolution of inactive tickets is underway. Expected to go live early this week.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BFC79BE5-DA23-4A41-8321-6C4F86424E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40D7F2-E229-43CD-84C7-7594657CA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168" y="1463343"/>
            <a:ext cx="7699147" cy="480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12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Next Steps &amp; Focus Areas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08.04.2025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will be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5370" y="1578006"/>
            <a:ext cx="8245230" cy="46910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600" b="1" dirty="0"/>
              <a:t>1. Finalize Zendesk Ticket Closure Logic</a:t>
            </a:r>
            <a:br>
              <a:rPr lang="en-US" sz="1600" dirty="0"/>
            </a:br>
            <a:r>
              <a:rPr lang="en-US" sz="1600" dirty="0"/>
              <a:t>Continue work on the automated 3-strike policy to streamline closure of dormant tickets and reduce agent fatigue.</a:t>
            </a:r>
          </a:p>
          <a:p>
            <a:endParaRPr lang="en-US" sz="1600" dirty="0"/>
          </a:p>
          <a:p>
            <a:r>
              <a:rPr lang="en-US" sz="1600" b="1" dirty="0"/>
              <a:t>2. Launch Branded Email Support in Help Center</a:t>
            </a:r>
            <a:br>
              <a:rPr lang="en-US" sz="1600" dirty="0"/>
            </a:br>
            <a:r>
              <a:rPr lang="en-US" sz="1600" dirty="0"/>
              <a:t>Pending IT credential delivery. Once active, users will receive consistent, on-brand communications from our Zendesk system.</a:t>
            </a:r>
          </a:p>
          <a:p>
            <a:endParaRPr lang="en-US" sz="1600" dirty="0"/>
          </a:p>
          <a:p>
            <a:r>
              <a:rPr lang="en-US" sz="1600" b="1" dirty="0"/>
              <a:t>3. Complete Documentation Migration to Notion</a:t>
            </a:r>
            <a:br>
              <a:rPr lang="en-US" sz="1600" dirty="0"/>
            </a:br>
            <a:r>
              <a:rPr lang="en-US" sz="1600" dirty="0"/>
              <a:t>Finalize image upload and formatting of the new </a:t>
            </a:r>
            <a:r>
              <a:rPr lang="en-US" sz="1600" dirty="0" err="1"/>
              <a:t>Abstra</a:t>
            </a:r>
            <a:r>
              <a:rPr lang="en-US" sz="1600" dirty="0"/>
              <a:t> documentation in Notion. Ensure easy navigation and regular version control.</a:t>
            </a:r>
          </a:p>
          <a:p>
            <a:endParaRPr lang="en-US" sz="1600" dirty="0"/>
          </a:p>
          <a:p>
            <a:r>
              <a:rPr lang="en-US" sz="1600" b="1" dirty="0"/>
              <a:t>4. Improve </a:t>
            </a:r>
            <a:r>
              <a:rPr lang="en-US" sz="1600" b="1" dirty="0" err="1"/>
              <a:t>FullStory</a:t>
            </a:r>
            <a:r>
              <a:rPr lang="en-US" sz="1600" b="1" dirty="0"/>
              <a:t> Data Accuracy</a:t>
            </a:r>
            <a:br>
              <a:rPr lang="en-US" sz="1600" dirty="0"/>
            </a:br>
            <a:r>
              <a:rPr lang="en-US" sz="1600" dirty="0"/>
              <a:t>Post-meeting with </a:t>
            </a:r>
            <a:r>
              <a:rPr lang="en-US" sz="1600" dirty="0" err="1"/>
              <a:t>FullStory</a:t>
            </a:r>
            <a:r>
              <a:rPr lang="en-US" sz="1600" dirty="0"/>
              <a:t>, implement recommended fixes to unify User ID tracking and reduce skew in behavioral metrics.</a:t>
            </a:r>
          </a:p>
          <a:p>
            <a:endParaRPr lang="en-US" sz="1600" dirty="0"/>
          </a:p>
          <a:p>
            <a:r>
              <a:rPr lang="en-US" sz="1600" b="1" dirty="0"/>
              <a:t>5. Zendesk Centralization Initiative (April)</a:t>
            </a:r>
            <a:br>
              <a:rPr lang="en-US" sz="1600" dirty="0"/>
            </a:br>
            <a:r>
              <a:rPr lang="en-US" sz="1600" dirty="0"/>
              <a:t>Prepare Zendesk to become the central intake point for all ticket types across Owkin platforms. This includes updated routing rules, team assignments, and escalation flows.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  <p:extLst>
      <p:ext uri="{BB962C8B-B14F-4D97-AF65-F5344CB8AC3E}">
        <p14:creationId xmlns:p14="http://schemas.microsoft.com/office/powerpoint/2010/main" val="2694588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Q&amp;A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25.03.2025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F541F-F946-46A9-AF71-65D56460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688657"/>
            <a:ext cx="4685827" cy="51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07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2939</TotalTime>
  <Words>1137</Words>
  <Application>Microsoft Office PowerPoint</Application>
  <PresentationFormat>Widescreen</PresentationFormat>
  <Paragraphs>115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Tahoma</vt:lpstr>
      <vt:lpstr>Office Theme</vt:lpstr>
      <vt:lpstr>Abstra</vt:lpstr>
      <vt:lpstr>Agenda</vt:lpstr>
      <vt:lpstr>Operational Performance and Metrics</vt:lpstr>
      <vt:lpstr>Platform and Tooling Enhancements</vt:lpstr>
      <vt:lpstr>Documentation and Knowledge Management</vt:lpstr>
      <vt:lpstr>User Behavior &amp; Analytics</vt:lpstr>
      <vt:lpstr>Collaboration and Onboarding</vt:lpstr>
      <vt:lpstr>Challenges &amp; Solutions</vt:lpstr>
      <vt:lpstr>Next Steps &amp; Focus Areas</vt:lpstr>
      <vt:lpstr>Q&amp;A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50</cp:revision>
  <dcterms:created xsi:type="dcterms:W3CDTF">2025-01-30T08:33:59Z</dcterms:created>
  <dcterms:modified xsi:type="dcterms:W3CDTF">2025-04-08T09:37:32Z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